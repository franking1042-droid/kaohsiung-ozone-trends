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8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2218FA70-D272-4DF7-A325-2A8317B02028}">
          <p14:sldIdLst>
            <p14:sldId id="256"/>
            <p14:sldId id="28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discussion還有其他" id="{368E62C0-C804-4D38-B1BD-31FBAF8610B2}">
          <p14:sldIdLst>
            <p14:sldId id="28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1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奕綸 洪" userId="a0d49cfeacbe7469" providerId="LiveId" clId="{BF1660DD-40BB-4F1C-B954-3993FF3F3F25}"/>
    <pc:docChg chg="undo custSel modSld">
      <pc:chgData name="奕綸 洪" userId="a0d49cfeacbe7469" providerId="LiveId" clId="{BF1660DD-40BB-4F1C-B954-3993FF3F3F25}" dt="2026-09-18T16:15:40.856" v="25" actId="478"/>
      <pc:docMkLst>
        <pc:docMk/>
      </pc:docMkLst>
      <pc:sldChg chg="addSp delSp modSp mod modClrScheme chgLayout">
        <pc:chgData name="奕綸 洪" userId="a0d49cfeacbe7469" providerId="LiveId" clId="{BF1660DD-40BB-4F1C-B954-3993FF3F3F25}" dt="2026-09-18T16:13:01.031" v="8" actId="700"/>
        <pc:sldMkLst>
          <pc:docMk/>
          <pc:sldMk cId="1815264884" sldId="256"/>
        </pc:sldMkLst>
        <pc:picChg chg="add del mod">
          <ac:chgData name="奕綸 洪" userId="a0d49cfeacbe7469" providerId="LiveId" clId="{BF1660DD-40BB-4F1C-B954-3993FF3F3F25}" dt="2026-09-18T16:12:54.294" v="7" actId="478"/>
          <ac:picMkLst>
            <pc:docMk/>
            <pc:sldMk cId="1815264884" sldId="256"/>
            <ac:picMk id="29" creationId="{00000000-0000-0000-0000-000000000000}"/>
          </ac:picMkLst>
        </pc:picChg>
      </pc:sldChg>
      <pc:sldChg chg="delSp modSp mod modClrScheme chgLayout">
        <pc:chgData name="奕綸 洪" userId="a0d49cfeacbe7469" providerId="LiveId" clId="{BF1660DD-40BB-4F1C-B954-3993FF3F3F25}" dt="2026-09-18T16:15:37.051" v="24" actId="700"/>
        <pc:sldMkLst>
          <pc:docMk/>
          <pc:sldMk cId="2571209331" sldId="257"/>
        </pc:sldMkLst>
        <pc:picChg chg="del mod">
          <ac:chgData name="奕綸 洪" userId="a0d49cfeacbe7469" providerId="LiveId" clId="{BF1660DD-40BB-4F1C-B954-3993FF3F3F25}" dt="2026-09-18T16:13:10.425" v="12" actId="478"/>
          <ac:picMkLst>
            <pc:docMk/>
            <pc:sldMk cId="2571209331" sldId="257"/>
            <ac:picMk id="28" creationId="{00000000-0000-0000-0000-000000000000}"/>
          </ac:picMkLst>
        </pc:picChg>
      </pc:sldChg>
      <pc:sldChg chg="delSp mod">
        <pc:chgData name="奕綸 洪" userId="a0d49cfeacbe7469" providerId="LiveId" clId="{BF1660DD-40BB-4F1C-B954-3993FF3F3F25}" dt="2026-09-18T16:15:33.890" v="23" actId="478"/>
        <pc:sldMkLst>
          <pc:docMk/>
          <pc:sldMk cId="1780073044" sldId="258"/>
        </pc:sldMkLst>
        <pc:picChg chg="del">
          <ac:chgData name="奕綸 洪" userId="a0d49cfeacbe7469" providerId="LiveId" clId="{BF1660DD-40BB-4F1C-B954-3993FF3F3F25}" dt="2026-09-18T16:15:33.890" v="23" actId="478"/>
          <ac:picMkLst>
            <pc:docMk/>
            <pc:sldMk cId="1780073044" sldId="258"/>
            <ac:picMk id="30" creationId="{00000000-0000-0000-0000-000000000000}"/>
          </ac:picMkLst>
        </pc:picChg>
      </pc:sldChg>
      <pc:sldChg chg="delSp mod">
        <pc:chgData name="奕綸 洪" userId="a0d49cfeacbe7469" providerId="LiveId" clId="{BF1660DD-40BB-4F1C-B954-3993FF3F3F25}" dt="2026-09-18T16:15:32.195" v="22" actId="478"/>
        <pc:sldMkLst>
          <pc:docMk/>
          <pc:sldMk cId="128988223" sldId="259"/>
        </pc:sldMkLst>
        <pc:picChg chg="del">
          <ac:chgData name="奕綸 洪" userId="a0d49cfeacbe7469" providerId="LiveId" clId="{BF1660DD-40BB-4F1C-B954-3993FF3F3F25}" dt="2026-09-18T16:15:32.195" v="22" actId="478"/>
          <ac:picMkLst>
            <pc:docMk/>
            <pc:sldMk cId="128988223" sldId="259"/>
            <ac:picMk id="33" creationId="{00000000-0000-0000-0000-000000000000}"/>
          </ac:picMkLst>
        </pc:picChg>
      </pc:sldChg>
      <pc:sldChg chg="delSp mod">
        <pc:chgData name="奕綸 洪" userId="a0d49cfeacbe7469" providerId="LiveId" clId="{BF1660DD-40BB-4F1C-B954-3993FF3F3F25}" dt="2026-09-18T16:15:30.383" v="21" actId="478"/>
        <pc:sldMkLst>
          <pc:docMk/>
          <pc:sldMk cId="654795358" sldId="260"/>
        </pc:sldMkLst>
        <pc:picChg chg="del">
          <ac:chgData name="奕綸 洪" userId="a0d49cfeacbe7469" providerId="LiveId" clId="{BF1660DD-40BB-4F1C-B954-3993FF3F3F25}" dt="2026-09-18T16:15:30.383" v="21" actId="478"/>
          <ac:picMkLst>
            <pc:docMk/>
            <pc:sldMk cId="654795358" sldId="260"/>
            <ac:picMk id="31" creationId="{00000000-0000-0000-0000-000000000000}"/>
          </ac:picMkLst>
        </pc:picChg>
      </pc:sldChg>
      <pc:sldChg chg="delSp mod">
        <pc:chgData name="奕綸 洪" userId="a0d49cfeacbe7469" providerId="LiveId" clId="{BF1660DD-40BB-4F1C-B954-3993FF3F3F25}" dt="2026-09-18T16:15:40.856" v="25" actId="478"/>
        <pc:sldMkLst>
          <pc:docMk/>
          <pc:sldMk cId="3597248936" sldId="261"/>
        </pc:sldMkLst>
        <pc:picChg chg="del">
          <ac:chgData name="奕綸 洪" userId="a0d49cfeacbe7469" providerId="LiveId" clId="{BF1660DD-40BB-4F1C-B954-3993FF3F3F25}" dt="2026-09-18T16:15:40.856" v="25" actId="478"/>
          <ac:picMkLst>
            <pc:docMk/>
            <pc:sldMk cId="3597248936" sldId="261"/>
            <ac:picMk id="38" creationId="{00000000-0000-0000-0000-000000000000}"/>
          </ac:picMkLst>
        </pc:picChg>
      </pc:sldChg>
      <pc:sldChg chg="delSp modSp mod modClrScheme chgLayout">
        <pc:chgData name="奕綸 洪" userId="a0d49cfeacbe7469" providerId="LiveId" clId="{BF1660DD-40BB-4F1C-B954-3993FF3F3F25}" dt="2026-09-18T16:15:25.699" v="20" actId="700"/>
        <pc:sldMkLst>
          <pc:docMk/>
          <pc:sldMk cId="2499079841" sldId="262"/>
        </pc:sldMkLst>
        <pc:picChg chg="del mod">
          <ac:chgData name="奕綸 洪" userId="a0d49cfeacbe7469" providerId="LiveId" clId="{BF1660DD-40BB-4F1C-B954-3993FF3F3F25}" dt="2026-09-18T16:15:23.150" v="19" actId="478"/>
          <ac:picMkLst>
            <pc:docMk/>
            <pc:sldMk cId="2499079841" sldId="262"/>
            <ac:picMk id="28" creationId="{00000000-0000-0000-0000-000000000000}"/>
          </ac:picMkLst>
        </pc:picChg>
      </pc:sldChg>
      <pc:sldChg chg="delSp mod">
        <pc:chgData name="奕綸 洪" userId="a0d49cfeacbe7469" providerId="LiveId" clId="{BF1660DD-40BB-4F1C-B954-3993FF3F3F25}" dt="2026-09-18T16:15:19.582" v="17" actId="478"/>
        <pc:sldMkLst>
          <pc:docMk/>
          <pc:sldMk cId="3987695014" sldId="264"/>
        </pc:sldMkLst>
        <pc:picChg chg="del">
          <ac:chgData name="奕綸 洪" userId="a0d49cfeacbe7469" providerId="LiveId" clId="{BF1660DD-40BB-4F1C-B954-3993FF3F3F25}" dt="2026-09-18T16:15:19.582" v="17" actId="478"/>
          <ac:picMkLst>
            <pc:docMk/>
            <pc:sldMk cId="3987695014" sldId="264"/>
            <ac:picMk id="48" creationId="{00000000-0000-0000-0000-000000000000}"/>
          </ac:picMkLst>
        </pc:picChg>
      </pc:sldChg>
      <pc:sldChg chg="delSp modSp mod modClrScheme chgLayout">
        <pc:chgData name="奕綸 洪" userId="a0d49cfeacbe7469" providerId="LiveId" clId="{BF1660DD-40BB-4F1C-B954-3993FF3F3F25}" dt="2026-09-18T16:15:12.285" v="16" actId="700"/>
        <pc:sldMkLst>
          <pc:docMk/>
          <pc:sldMk cId="534456372" sldId="276"/>
        </pc:sldMkLst>
        <pc:picChg chg="del mod">
          <ac:chgData name="奕綸 洪" userId="a0d49cfeacbe7469" providerId="LiveId" clId="{BF1660DD-40BB-4F1C-B954-3993FF3F3F25}" dt="2026-09-18T16:15:09.687" v="15" actId="478"/>
          <ac:picMkLst>
            <pc:docMk/>
            <pc:sldMk cId="534456372" sldId="276"/>
            <ac:picMk id="28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老師好,我這次報告的題目是「高雄地面臭氧的氣象驅動因子分析」,資料期間 2018 到 2025 年。簡單說,我用高雄的空氣品質與氣象觀測資料,搭配機器學習,想回答三個問題:高雄的臭氧什麼時候最高、由什麼樣的天氣條件主導、以及這八年到底有沒有改善。接下來我會依序從背景、方法、再到結果來說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先從問題開始：高雄從 </a:t>
            </a:r>
            <a:r>
              <a:rPr lang="en-US" altLang="zh-TW"/>
              <a:t>2018 </a:t>
            </a:r>
            <a:r>
              <a:rPr lang="zh-TW" altLang="en-US"/>
              <a:t>年起推動空污防制方案，管的是 </a:t>
            </a:r>
            <a:r>
              <a:rPr lang="en-US" altLang="zh-TW"/>
              <a:t>NOx </a:t>
            </a:r>
            <a:r>
              <a:rPr lang="zh-TW" altLang="en-US"/>
              <a:t>和 </a:t>
            </a:r>
            <a:r>
              <a:rPr lang="en-US" altLang="zh-TW"/>
              <a:t>PM2.5——</a:t>
            </a:r>
            <a:r>
              <a:rPr lang="zh-TW" altLang="en-US"/>
              <a:t>那臭氧有沒有跟著改善？最直覺的做法，就是把八年的監測資料拉出來看趨勢。結果是每年下降 </a:t>
            </a:r>
            <a:r>
              <a:rPr lang="en-US" altLang="zh-TW"/>
              <a:t>0.56 ppb</a:t>
            </a:r>
            <a:r>
              <a:rPr lang="zh-TW" altLang="en-US"/>
              <a:t>，但 </a:t>
            </a:r>
            <a:r>
              <a:rPr lang="en-US" altLang="zh-TW"/>
              <a:t>p </a:t>
            </a:r>
            <a:r>
              <a:rPr lang="zh-TW" altLang="en-US"/>
              <a:t>值 </a:t>
            </a:r>
            <a:r>
              <a:rPr lang="en-US" altLang="zh-TW"/>
              <a:t>0.14</a:t>
            </a:r>
            <a:r>
              <a:rPr lang="zh-TW" altLang="en-US"/>
              <a:t>，統計上不顯著。照這個數字，結論會是「查無成效」。</a:t>
            </a:r>
            <a:endParaRPr lang="en-US" altLang="zh-TW"/>
          </a:p>
          <a:p>
            <a:endParaRPr lang="en-US" altLang="zh-TW"/>
          </a:p>
          <a:p>
            <a:r>
              <a:rPr lang="zh-TW" altLang="en-US"/>
              <a:t>但這個結論有問題，因為臭氧對天氣非常敏感</a:t>
            </a:r>
            <a:r>
              <a:rPr lang="en-US" altLang="zh-TW"/>
              <a:t>——</a:t>
            </a:r>
            <a:r>
              <a:rPr lang="zh-TW" altLang="en-US"/>
              <a:t>晴不晴、乾不乾、風怎麼吹，每年都不一樣，這些波動會把真正的變化蓋住。所以我們用環境部 </a:t>
            </a:r>
            <a:r>
              <a:rPr lang="en-US" altLang="zh-TW"/>
              <a:t>12 </a:t>
            </a:r>
            <a:r>
              <a:rPr lang="zh-TW" altLang="en-US"/>
              <a:t>個測站、八年共三萬五千多個站日的資料，先做一個關鍵動作：隨機森林氣象常態化。概念很簡單</a:t>
            </a:r>
            <a:r>
              <a:rPr lang="en-US" altLang="zh-TW"/>
              <a:t>——</a:t>
            </a:r>
            <a:r>
              <a:rPr lang="zh-TW" altLang="en-US"/>
              <a:t>讓每一天都回到「相同的天氣條件」下再比較，把天氣的影響扣掉，然後才用 </a:t>
            </a:r>
            <a:r>
              <a:rPr lang="en-US" altLang="zh-TW"/>
              <a:t>Seasonal Mann-Kendall </a:t>
            </a:r>
            <a:r>
              <a:rPr lang="zh-TW" altLang="en-US"/>
              <a:t>去檢定趨勢。</a:t>
            </a:r>
            <a:endParaRPr lang="en-US" altLang="zh-TW"/>
          </a:p>
          <a:p>
            <a:endParaRPr lang="en-US" altLang="zh-TW"/>
          </a:p>
          <a:p>
            <a:r>
              <a:rPr lang="zh-TW" altLang="en-US"/>
              <a:t>扣掉之後，就是投影片中間這組對比：調整前 </a:t>
            </a:r>
            <a:r>
              <a:rPr lang="en-US" altLang="zh-TW"/>
              <a:t>p = 0.14</a:t>
            </a:r>
            <a:r>
              <a:rPr lang="zh-TW" altLang="en-US"/>
              <a:t>；調整後，每年下降 </a:t>
            </a:r>
            <a:r>
              <a:rPr lang="en-US" altLang="zh-TW"/>
              <a:t>0.28 ppb</a:t>
            </a:r>
            <a:r>
              <a:rPr lang="zh-TW" altLang="en-US"/>
              <a:t>，</a:t>
            </a:r>
            <a:r>
              <a:rPr lang="en-US" altLang="zh-TW"/>
              <a:t>p </a:t>
            </a:r>
            <a:r>
              <a:rPr lang="zh-TW" altLang="en-US"/>
              <a:t>小於 </a:t>
            </a:r>
            <a:r>
              <a:rPr lang="en-US" altLang="zh-TW"/>
              <a:t>0.001</a:t>
            </a:r>
            <a:r>
              <a:rPr lang="zh-TW" altLang="en-US"/>
              <a:t>，高度顯著。　</a:t>
            </a:r>
            <a:endParaRPr lang="en-US" altLang="zh-TW"/>
          </a:p>
          <a:p>
            <a:endParaRPr lang="en-US" altLang="zh-TW"/>
          </a:p>
          <a:p>
            <a:r>
              <a:rPr lang="zh-TW" altLang="en-US"/>
              <a:t>這裡大家可能會發現一件奇怪的事：為什麼扣掉天氣之後，下降幅度變小了，反而變顯著？因為原始那個 </a:t>
            </a:r>
            <a:r>
              <a:rPr lang="en-US" altLang="zh-TW"/>
              <a:t>0.56 </a:t>
            </a:r>
            <a:r>
              <a:rPr lang="zh-TW" altLang="en-US"/>
              <a:t>裡面，有一部分是天氣幫的忙</a:t>
            </a:r>
            <a:r>
              <a:rPr lang="en-US" altLang="zh-TW"/>
              <a:t>——</a:t>
            </a:r>
            <a:r>
              <a:rPr lang="zh-TW" altLang="en-US"/>
              <a:t>剛好後面幾年的天氣比較不利臭氧生成。把天氣的貢獻還回去之後，剩下的 </a:t>
            </a:r>
            <a:r>
              <a:rPr lang="en-US" altLang="zh-TW"/>
              <a:t>0.28 </a:t>
            </a:r>
            <a:r>
              <a:rPr lang="zh-TW" altLang="en-US"/>
              <a:t>才是排放面、也就是政策面帶來的改善：幅度比較小，但非常穩定</a:t>
            </a:r>
            <a:r>
              <a:rPr lang="en-US" altLang="zh-TW"/>
              <a:t>——12 </a:t>
            </a:r>
            <a:r>
              <a:rPr lang="zh-TW" altLang="en-US"/>
              <a:t>個測站全部負向，換不同年份範圍、不同模型設定做敏感度分析，全部成立。所以結論是：改善是真的，只是被天氣遮住了。　</a:t>
            </a:r>
            <a:endParaRPr lang="en-US" altLang="zh-TW"/>
          </a:p>
          <a:p>
            <a:endParaRPr lang="en-US" altLang="zh-TW"/>
          </a:p>
          <a:p>
            <a:r>
              <a:rPr lang="zh-TW" altLang="en-US"/>
              <a:t>另外兩個附帶發現快速帶過：高臭氧日集中在秋、春兩季，乾燥、晴朗、向岸風的日子；空間上，林園是熱區</a:t>
            </a:r>
            <a:r>
              <a:rPr lang="en-US" altLang="zh-TW"/>
              <a:t>——</a:t>
            </a:r>
            <a:r>
              <a:rPr lang="zh-TW" altLang="en-US"/>
              <a:t>這兩點對在地預警和管制布局有直接的參考價值。</a:t>
            </a:r>
            <a:endParaRPr lang="en-US" altLang="zh-TW"/>
          </a:p>
          <a:p>
            <a:endParaRPr lang="en-US" altLang="zh-TW"/>
          </a:p>
          <a:p>
            <a:r>
              <a:rPr lang="zh-TW" altLang="en-US"/>
              <a:t>最後評估空污政策的成效，必須先扣除氣象變異</a:t>
            </a:r>
            <a:r>
              <a:rPr lang="en-US" altLang="zh-TW"/>
              <a:t>——</a:t>
            </a:r>
            <a:r>
              <a:rPr lang="zh-TW" altLang="en-US"/>
              <a:t>否則就會像高雄這個案例一樣，把真實存在的改善，誤判成「沒有效」。以上，謝謝。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64725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先講背景。臭氧比較特別,它不是工廠或汽車直接排放的,而是排放出來的氮氧化物、也就是 NOx,加上揮發性有機物 VOC,在陽光下經過光化學反應「生成」的,所以叫二次污染物。法規上是用 MDA8、也就是每日最大 8 小時平均來管制,台灣標準是 60 ppb。這點很重要,因為它代表——要降臭氧,不能只看排放,還得了解它「生成」的條件。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那我這篇為什麼特別強調氣象?因為排放量其實變化很慢,要靠產業和政策,是好幾年的尺度;可是天氣天天在變。所以臭氧「今天特別高、明天又低」這種逐日起伏,主要是氣象在主導。這就是我把焦點放在氣象驅動因子的原因——先把天氣對臭氧的影響搞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選高雄的理由很直接:高雄有非常密集的重工業和石化,是台灣長期的臭氧熱點、也常常超標。所以用高雄當研究對象,最能反映臭氧的問題,也最能看出減量到底有沒有效。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綜合起來,我這篇有四個目標:第一,描述臭氧的時空分布,也就是哪裡高、什麼季節高、一天當中什麼時候高;第二,量化氣象驅動因子,找出哪些天氣條件最能決定臭氧;第三,辨識高臭氧事件日的天氣特徵,也就是什麼天氣容易出事;第四,檢定這八年的長期趨勢有沒有改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資料方面,我用環境部設在高雄的 12 個測站,取逐時臭氧、期間 2018 到 2025 年,再換算成每日 MDA8。除了臭氧,也納入同期的氣象——溫度、風速、風向、相對濕度、雨量,另外還向中央氣象署補了「日照時數」這個變數。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整個分析分五步:第一步是資料前處理與品管,把逐時資料清乾淨、算出每日 MDA8 和各種氣象特徵;第二步是描述性分析,看年、季、日內和各站的型態;第三步用機器學習,也就是隨機森林和 GAM,找驅動因子;第四步分析高臭氧事件的天氣;第五步做長期趨勢檢定,並用門檻敏感度分析確認結果穩健。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頁說明我怎麼找驅動因子,用了兩種互補的模型。第一種是隨機森林,概念是「找很多棵決策樹,每一棵各自根據天氣去猜當天臭氧,再把答案平均」;它的好處是不用預設關係是直線,還能抓到「又熱、又乾、又沒風」這種組合效應,並告訴我們哪些變數最重要。第二種是 GAM,可以想成「一種會彎的迴歸」,它能把每個因子和臭氧的關係畫成一條看得懂的曲線。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講稿：</a:t>
            </a:r>
          </a:p>
          <a:p>
            <a:r>
              <a:t>這一頁先介紹模型概念。本研究使用兩種互補模型來分析臭氧的氣象驅動因子。Random Forest 可以想成很多棵決策樹一起判斷，每棵樹會根據溫度、濕度、風速等條件把資料分組，最後再平均結果。GAM 則是用平滑曲線來看每個氣象因子和臭氧之間的關係形狀。因此 RF 告訴我們哪些因子重要，GAM 幫助我們看這些因子如何影響臭氧。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講稿：</a:t>
            </a:r>
          </a:p>
          <a:p>
            <a:r>
              <a:t>這一頁用簡單例子說明決策樹怎麼運作。模型會依照條件一步一步判斷，例如先看溫度是否超過某個門檻，再看濕度是否低於某個門檻。每一筆資料最後會被分到某個葉節點，該節點裡的平均臭氧值就會成為預測結果。Random Forest 不是只用一棵樹，而是用很多棵樹重複這個過程，再把結果平均，所以會比單一決策樹穩定。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err="1"/>
              <a:t>講稿</a:t>
            </a:r>
            <a:r>
              <a:t>：</a:t>
            </a:r>
          </a:p>
          <a:p>
            <a:r>
              <a:rPr err="1"/>
              <a:t>這一頁是</a:t>
            </a:r>
            <a:r>
              <a:t> Random Forest </a:t>
            </a:r>
            <a:r>
              <a:rPr err="1"/>
              <a:t>的主要參數設定。本研究建立</a:t>
            </a:r>
            <a:r>
              <a:t> 500 </a:t>
            </a:r>
            <a:r>
              <a:rPr err="1"/>
              <a:t>棵樹，以提高模型穩定性。min_samples_leaf</a:t>
            </a:r>
            <a:r>
              <a:t> = 5 </a:t>
            </a:r>
            <a:r>
              <a:rPr err="1"/>
              <a:t>表示每個最終葉節點至少要有</a:t>
            </a:r>
            <a:r>
              <a:t> 5 </a:t>
            </a:r>
            <a:r>
              <a:rPr err="1"/>
              <a:t>筆觀測資料，避免模型切得太細而過度配適。random_state</a:t>
            </a:r>
            <a:r>
              <a:t> = 42 </a:t>
            </a:r>
            <a:r>
              <a:rPr err="1"/>
              <a:t>是固定隨機種子，讓每次重跑結果一致。資料切分上，我們使用</a:t>
            </a:r>
            <a:r>
              <a:t> 2018 到 2023 年作為訓練資料，2024 到 2025 </a:t>
            </a:r>
            <a:r>
              <a:rPr err="1"/>
              <a:t>年作為測試資料，用來檢查模型對未參與訓練年份的解釋能力</a:t>
            </a:r>
            <a: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講稿：</a:t>
            </a:r>
          </a:p>
          <a:p>
            <a:r>
              <a:t>Random Forest 主要產出三類結果。第一是模型表現，回歸模型用 R2、RMSE、MAE 評估 MDA8 O3 濃度的解釋能力；分類模型則用 AUC 和 F1 評估是否能辨識 MDA8 O3 大於等於 60 ppb 的事件日。第二是變數重要性，也就是打亂單一變數後，如果模型表現下降很多，代表模型很依賴該變數。第三是 partial dependence，用來看某個氣象變數改變時，模型預測的 O3 如何變化，因此可以呈現非線性反應。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講稿：</a:t>
            </a:r>
          </a:p>
          <a:p>
            <a:r>
              <a:t>這一頁說明 GAM 如何建立變數和臭氧的關係。GAM 的形式是把不同因子的影響加總，例如溫度、濕度、風速和降雨各有一條平滑曲線。以溫度為例，s(temp_max) 不是固定直線，而是由多個 spline 基底組合而成。模型會估計每個基底前面的 beta 係數，讓預測 O3 和實際 O3 的誤差最小，同時加入平滑懲罰，避免曲線過度彎曲。因此 GAM 可以捕捉非線性，但仍保有良好的解釋性。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講稿：</a:t>
            </a:r>
          </a:p>
          <a:p>
            <a:r>
              <a:t>GAM 的產出主要有兩個重點。第一是模型表現，也就是用 R2、RMSE 和 MAE 評估 GAM 對 2024 到 2025 年 MDA8 O3 的解釋能力。第二是各氣象變數的平滑效果曲線，例如最高溫、相對濕度、風速、降雨和日照對 MDA8 O3 的非線性影響。這些曲線可以幫助我們判斷 O3 在什麼氣象條件下會上升或下降。相較於 Random Forest，GAM 的優點是更容易解釋每個因子的影響方向與形狀。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可能會問,為什麼要用兩個?因為它們各有優缺點。隨機森林很準,但像黑盒子,說不清每個因子的關係長怎樣;GAM 剛好相反,比較透明、看得到形狀,但彈性沒那麼高。所以我兩個都做,當它們結論一致時,可信度就更高——這是一種交叉印證。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趨勢的部分我用 Mann-Kendall 檢定。它其實只問一件事:「這段期間的數值,是不是一路傾向往上、或一路往下?」做法是比較數值之間的升降方向,完全不管數據分布,所以對極端值特別穩,很適合臭氧這種環境資料。最後會給一個 p 值,判斷這個趨勢有沒有達到統計顯著。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Mann-Kendall 只告訴我們「有沒有趨勢」,沒告訴我們幅度,所以要搭配 Sen's slope,它是用來估「平均一年變幾 ppb」的。做法是把資料裡所有兩點之間的斜率都算出來、取中位數。因為取中位數,少數極端值不會把結果帶歪,所以它比一般迴歸斜率更可靠。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所以這兩個是一組的:Mann-Kendall 負責判斷「有沒有趨勢、顯不顯著」,Sen's slope 負責給出「趨勢有多大、每年變幾 ppb」。兩個搭配,才能完整描述臭氧的長期變化。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接下來的結果分成五個部分。第一，先看高雄臭氧在年、季節與日內尺度上的變化。第二，用 Random Forest 找出主要氣象驅動因子。第三，用 GAM 檢查這些因子與臭氧之間的非線性關係。第四，分析高臭氧事件日的氣象條件。第五，透過氣象標準化檢查長期趨勢是否被天氣波動掩蓋。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接下來進入結果。第一個是臭氧的時空分布,可以用三句話概括:秋季高、午後高、下風處高。空間上蠻有意思——濃度最高的其實是林園和美濃,它們位在下風或鄉間;反而是工業區和交通繁忙的測站,像前鎮、鳳山、復興、小港,濃度比較低。原因是排放源附近有大量新鮮的 NO,會把臭氧「滴定」消耗掉,所以臭氧要飄到下風處才累積。這點蠻關鍵:臭氧最高的地方,不是排放源本身,而是下風處。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二個結果是氣象驅動因子。隨機森林顯示,最能決定臭氧的是最高溫和季節,其次是日照,再來才是風向、濕度、雨量。這個排序很合理,因為溫度、季節、日照正好都是光化學生成臭氧的要素——簡單講,又熱又晴的日子臭氧就高。這個模型我是用保留的 2024、2025 兩年當測試,表現明顯比線性模型好,代表這些關係是真的、不是硬湊的。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第三個結果是用 GAM 看每個因子和臭氧「關係的形狀」。這裡有個反直覺、但很重要的發現:溫度和臭氧是「駝峰形」——大約 26 到 27 度效應最強,再更熱反而下降。也就是說「並不是越熱臭氧就越高」。另外,日照越多臭氧越高,濕度和風速則是負向。這些曲線的走向,剛好印證了前一頁隨機森林的結果。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第四個結果是高臭氧事件。我把「當天最嚴重的測站達到研究期間第 90 百分位、也就是 80.34 ppb 以上」的日子定義為事件日,總共 293 天,而且非常集中在秋季——秋天 148 天,夏天只有 6 天。這些事件日的天氣很一致:日照多、濕度低、幾乎不下雨、風也弱,就是「晴、乾、停滯」。有趣的是它們的氣溫其實跟平常差不多,並不是最熱的日子——這也呼應了剛剛的溫度駝峰。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五個結果是這篇最關鍵的部分——長期趨勢。如果直接看觀測資料,臭氧只是很微幅下降,而且統計上不顯著,因為逐年的天氣起伏太大,把真正的變化蓋住了。可是當我用「氣象標準化」——白話講,就是假設每一年天氣都一樣、把天氣的影響抽掉——之後,臭氧其實呈現顯著的下降。這代表:高雄的減量政策其實有效,只是被天氣的變異藏起來,要用對方法才看得出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後做個總結。主要結論有三點:臭氧主要由溫度、季節、日照主導;高臭氧的日子是秋季晴乾停滯的天氣,而不是最熱的日子;還有經過氣象標準化後,臭氧其實在顯著下降,代表減量是有效的。未來工作方面,我打算把前驅物、也就是 NOx 和 VOC 納入模型,做污染來源的後向軌跡分析,建立高臭氧事件的預報模式,並把這份研究投稿到期刊。謝謝老師。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討論的部分,我把前面四條結果線收斂成一個故事。空間上的 NOx 滴定、驅動因子裡的溫度與日照、事件日的晴乾停滯、還有標準化後的顯著下降,這四條線其實都指向同一個結論:高雄的臭氧是一個「受氣象強烈調控、在秋季達到高峰、而且排放正在改善、只是被天氣掩蓋」的系統。政策上有兩個意涵:第一,現行減量是有效的、值得延續;第二,秋季那種晴、乾、停滯的天氣是高風險窗口,很適合拿來做預警和短期加強管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討論的部分,我把前面四條結果線收斂成一個故事。空間上的 NOx 滴定、驅動因子裡的溫度與日照、事件日的晴乾停滯、還有標準化後的顯著下降,這四條線其實都指向同一個結論:高雄的臭氧是一個「受氣象強烈調控、在秋季達到高峰、而且排放正在改善、只是被天氣掩蓋」的系統。政策上有兩個意涵:第一,現行減量是有效的、值得延續;第二,秋季那種晴、乾、停滯的天氣是高風險窗口,很適合拿來做預警和短期加強管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2F4418-F382-FD7E-85E3-1C4D572378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585E994-36A2-1CAA-87DC-431C253762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0B0BC95-8D32-B641-E7EC-2E64AFC0A57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A57FE70-7822-4B70-8728-9D564343E82E}" type="datetime1">
              <a:t>2026/9/18</a:t>
            </a:fld>
            <a:endParaRPr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59BFB6D-5A7A-B634-87DE-03B3169469D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DA5D4F7-7737-E286-E2AC-AAF8D1CEC7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9F68E2-31C2-4D90-A536-67698CDE337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ADEC09-E7CB-AED9-6947-58CE6FD30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1087B12-101A-2C9A-BBE6-0470691BF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19FA5D9-F57D-2272-4009-3667A557D4A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F3FE0B9-1761-4EBF-86E5-F6C61B5FA9E4}" type="datetime1">
              <a:t>2026/9/18</a:t>
            </a:fld>
            <a:endParaRPr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B5C97ED-A4CC-5F74-6F30-CAACAFDDD30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88EAFD4-8B96-4A2F-249D-91178180FB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9F68E2-31C2-4D90-A536-67698CDE337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B00BA7-89EC-AF22-F54C-B6288D171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68797BE-1084-FABA-EF14-645A1D5CB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16996C4-4406-A284-053C-73B1ADC50DB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29B7C7D-DC69-47DA-A405-78A6D130F01C}" type="datetime1">
              <a:t>2026/9/18</a:t>
            </a:fld>
            <a:endParaRPr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A369CD1-6158-1FF4-58D7-4AFE6F15649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97EA08E-83A8-EF45-49BB-47BCCDE7D6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9F68E2-31C2-4D90-A536-67698CDE337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089BAF-A89C-22CF-2F79-B214A28E2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45FF28C-73E6-3078-1B77-B6FA0C210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6876C92-0BA2-1ACD-3D55-74533D95592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590931D-F9C3-5905-F8F8-A43112C94E9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0B977F-2A48-45BE-A996-25BE4FCB85B2}" type="datetime1">
              <a:t>2026/9/18</a:t>
            </a:fld>
            <a:endParaRPr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FDE9DF2-AAA0-12F4-1625-A630BF2CB9A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135D038-F48F-984B-0410-3EE233F631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9F68E2-31C2-4D90-A536-67698CDE337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28DB80-2C75-AF83-B74A-038802F3C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6C23F12-6964-7B5F-0DF2-AF18B08A3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64261CC-9DD0-A56D-F59B-BB366078E23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38043AB-AE08-A433-B786-8CAD12F31FC5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14A5452-F38F-EC1F-0EFB-DDBAF063DCBA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1B824C8-F9FB-3E02-1BC7-24AD4584CF6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CF59ACC-8CB0-4EC1-9F26-0EDD387D8102}" type="datetime1">
              <a:t>2026/9/18</a:t>
            </a:fld>
            <a:endParaRPr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94514F7-A0E4-B3E3-415F-F4700D9EDFC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F5BB5F9-A48F-E8FC-0172-3201CEA87A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9F68E2-31C2-4D90-A536-67698CDE337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9795BC-DBF0-34F1-12D9-5669FB195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A403390-085B-F743-3A21-AAF87DCAC5B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186D9BA-1789-4DAC-8145-DC87CC5BC2E7}" type="datetime1">
              <a:t>2026/9/18</a:t>
            </a:fld>
            <a:endParaRPr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8E0280E-A089-53A1-D704-D5D56C9ED0A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84CD3C3-D1FC-BF84-C814-A280FFF86B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9F68E2-31C2-4D90-A536-67698CDE337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2CFEE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277CF1D-3A7D-7C07-D5EA-B82CEF821FE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F19B83C-FE66-4460-82E0-F2947ABF9BE8}" type="datetime1">
              <a:t>2026/9/18</a:t>
            </a:fld>
            <a:endParaRPr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D5A87BE-CC06-8139-874C-5DF5A7E1234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111CD57-517A-DB9B-81AD-CFC59CE843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9F68E2-31C2-4D90-A536-67698CDE337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5D45BA-EDA5-FFE9-6987-9727D5653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7BBEB6C-50B9-071F-761E-055B01B59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FFB09E2-49F6-712C-52B3-4E84EC98994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532A7C8-08FA-1807-3000-465FCE908E3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9009F3D-C8E2-4C4A-B222-0F9BECDADE39}" type="datetime1">
              <a:t>2026/9/18</a:t>
            </a:fld>
            <a:endParaRPr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662328F-1ACC-47B1-2F89-0C31B7AA4BD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1655B75-DBF3-431A-9605-D58C5BB3C0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9F68E2-31C2-4D90-A536-67698CDE337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輔助字幕的圖片">
    <p:bg>
      <p:bgPr>
        <a:solidFill>
          <a:schemeClr val="accent2">
            <a:lumMod val="20000"/>
            <a:lumOff val="80000"/>
            <a:alpha val="5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7156C87-050E-D07E-30BC-1E7000B088D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10A0CB-C744-40EA-AB99-EB59E4E66246}" type="datetime1">
              <a:t>2026/9/18</a:t>
            </a:fld>
            <a:endParaRPr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4DC2556-0AA8-4383-31C2-01201447987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CB29DD-5C39-5EAA-52A2-ABAEF25BA0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9F68E2-31C2-4D90-A536-67698CDE3376}" type="slidenum">
              <a:t>‹#›</a:t>
            </a:fld>
            <a:endParaRPr/>
          </a:p>
        </p:txBody>
      </p:sp>
      <p:pic>
        <p:nvPicPr>
          <p:cNvPr id="16" name="圖形 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70747" y="106443"/>
            <a:ext cx="707284" cy="707284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55550E41-B612-66DC-40BC-027686B97EE1}"/>
              </a:ext>
            </a:extLst>
          </p:cNvPr>
          <p:cNvSpPr>
            <a:spLocks noGrp="1"/>
          </p:cNvSpPr>
          <p:nvPr/>
        </p:nvSpPr>
        <p:spPr>
          <a:xfrm>
            <a:off x="86360" y="309001"/>
            <a:ext cx="1203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F3C72"/>
                </a:solidFill>
                <a:latin typeface="Microsoft YaHei"/>
                <a:ea typeface="Microsoft YaHei"/>
                <a:cs typeface="Microsoft YaHei"/>
              </a:rPr>
              <a:t>Random Forest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含輔助字幕的圖片">
    <p:bg>
      <p:bgPr>
        <a:solidFill>
          <a:schemeClr val="accent2">
            <a:lumMod val="20000"/>
            <a:lumOff val="80000"/>
            <a:alpha val="5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7156C87-050E-D07E-30BC-1E7000B088D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10A0CB-C744-40EA-AB99-EB59E4E66246}" type="datetime1">
              <a:t>2026/9/18</a:t>
            </a:fld>
            <a:endParaRPr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4DC2556-0AA8-4383-31C2-01201447987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CB29DD-5C39-5EAA-52A2-ABAEF25BA0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9F68E2-31C2-4D90-A536-67698CDE3376}" type="slidenum">
              <a:t>‹#›</a:t>
            </a:fld>
            <a:endParaRPr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5550E41-B612-66DC-40BC-027686B97EE1}"/>
              </a:ext>
            </a:extLst>
          </p:cNvPr>
          <p:cNvSpPr>
            <a:spLocks noGrp="1"/>
          </p:cNvSpPr>
          <p:nvPr/>
        </p:nvSpPr>
        <p:spPr>
          <a:xfrm>
            <a:off x="86360" y="309001"/>
            <a:ext cx="1203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F3C72"/>
                </a:solidFill>
                <a:latin typeface="Microsoft YaHei"/>
                <a:ea typeface="Microsoft YaHei"/>
                <a:cs typeface="Microsoft YaHei"/>
              </a:rPr>
              <a:t>Generalized Additive Model</a:t>
            </a:r>
          </a:p>
        </p:txBody>
      </p:sp>
      <p:pic>
        <p:nvPicPr>
          <p:cNvPr id="17" name="圖形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7760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含輔助字幕的圖片">
    <p:bg>
      <p:bgPr>
        <a:solidFill>
          <a:schemeClr val="accent2">
            <a:lumMod val="20000"/>
            <a:lumOff val="80000"/>
            <a:alpha val="5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7156C87-050E-D07E-30BC-1E7000B088D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10A0CB-C744-40EA-AB99-EB59E4E66246}" type="datetime1">
              <a:t>2026/9/18</a:t>
            </a:fld>
            <a:endParaRPr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4DC2556-0AA8-4383-31C2-01201447987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CB29DD-5C39-5EAA-52A2-ABAEF25BA0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9F68E2-31C2-4D90-A536-67698CDE3376}" type="slidenum">
              <a:t>‹#›</a:t>
            </a:fld>
            <a:endParaRPr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5550E41-B612-66DC-40BC-027686B97EE1}"/>
              </a:ext>
            </a:extLst>
          </p:cNvPr>
          <p:cNvSpPr>
            <a:spLocks noGrp="1"/>
          </p:cNvSpPr>
          <p:nvPr/>
        </p:nvSpPr>
        <p:spPr>
          <a:xfrm>
            <a:off x="86360" y="309001"/>
            <a:ext cx="1203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F3C72"/>
                </a:solidFill>
                <a:latin typeface="Microsoft YaHei"/>
                <a:ea typeface="Microsoft YaHei"/>
                <a:cs typeface="Microsoft YaHei"/>
              </a:rPr>
              <a:t>Mann–Kendall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含輔助字幕的圖片">
    <p:bg>
      <p:bgPr>
        <a:solidFill>
          <a:schemeClr val="accent2">
            <a:lumMod val="20000"/>
            <a:lumOff val="80000"/>
            <a:alpha val="5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7156C87-050E-D07E-30BC-1E7000B088D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10A0CB-C744-40EA-AB99-EB59E4E66246}" type="datetime1">
              <a:t>2026/9/18</a:t>
            </a:fld>
            <a:endParaRPr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4DC2556-0AA8-4383-31C2-01201447987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CB29DD-5C39-5EAA-52A2-ABAEF25BA0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9F68E2-31C2-4D90-A536-67698CDE3376}" type="slidenum">
              <a:t>‹#›</a:t>
            </a:fld>
            <a:endParaRPr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5550E41-B612-66DC-40BC-027686B97EE1}"/>
              </a:ext>
            </a:extLst>
          </p:cNvPr>
          <p:cNvSpPr>
            <a:spLocks noGrp="1"/>
          </p:cNvSpPr>
          <p:nvPr/>
        </p:nvSpPr>
        <p:spPr>
          <a:xfrm>
            <a:off x="86360" y="309001"/>
            <a:ext cx="1203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F3C72"/>
                </a:solidFill>
                <a:latin typeface="Microsoft YaHei"/>
                <a:ea typeface="Microsoft YaHei"/>
                <a:cs typeface="Microsoft YaHei"/>
              </a:rPr>
              <a:t>Sen’s slope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F718D7-D19B-02CD-F9F5-7A06F9BAE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D4A4728-7DA9-6D33-8C58-CB369AFB90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37C5BE8-D30C-F5BA-8617-E0F6EB663D9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7918E75-62A0-4B1D-8AC4-B3627EBBE186}" type="datetime1">
              <a:t>2026/9/18</a:t>
            </a:fld>
            <a:endParaRPr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432595D-71D1-99EB-66C7-4EE3DD8DF65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F6C78CE-CF12-B519-369F-0F2F17A7C4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9F68E2-31C2-4D90-A536-67698CDE337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081C7F4-64DB-C667-7456-93829A416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7A048AA-5049-D3D8-0202-2FBEAC3A3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A3A0BEF-7CA9-4E89-8BBD-0142B3CEA20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851BC44-073B-49E5-A28A-31CF4B3094B3}" type="datetime1">
              <a:t>2026/9/18</a:t>
            </a:fld>
            <a:endParaRPr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85DDB89-29A9-9F15-71CF-3853C2CE47D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3B96B45-6833-7129-5D71-C17949296A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9F68E2-31C2-4D90-A536-67698CDE337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6447937-6B56-26FE-DF26-9A3648169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7A83742-13FE-E0D9-7E24-C399BDEFA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0BFFF55-F2B8-CF46-7C2D-4D33420F060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CAD1A9-4F9E-4295-96F5-0C73733C0E6C}" type="datetime1">
              <a:t>2026/9/18</a:t>
            </a:fld>
            <a:endParaRPr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F37B08-52E6-23F5-A93C-E3B8DD38334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AD8E709-FFF3-8FF2-9704-E9197FA04C4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9F68E2-31C2-4D90-A536-67698CDE337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4FDA9DE7-F305-6D11-FC54-F0B474F71DBC}"/>
              </a:ext>
            </a:extLst>
          </p:cNvPr>
          <p:cNvSpPr>
            <a:spLocks noGrp="1"/>
          </p:cNvSpPr>
          <p:nvPr/>
        </p:nvSpPr>
        <p:spPr>
          <a:xfrm>
            <a:off x="0" y="5439548"/>
            <a:ext cx="12192000" cy="1414821"/>
          </a:xfrm>
          <a:prstGeom prst="rect">
            <a:avLst/>
          </a:prstGeom>
          <a:gradFill>
            <a:gsLst>
              <a:gs pos="0">
                <a:srgbClr val="2F3871">
                  <a:alpha val="0"/>
                </a:srgbClr>
              </a:gs>
              <a:gs pos="56000">
                <a:srgbClr val="2F3871">
                  <a:alpha val="76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1" name="圖片 7"/>
          <p:cNvPicPr>
            <a:picLocks noChangeAspect="1"/>
          </p:cNvPicPr>
          <p:nvPr/>
        </p:nvPicPr>
        <p:blipFill>
          <a:blip r:embed="rId3"/>
          <a:srcRect l="53145" t="15685" r="3145" b="54214"/>
          <a:stretch>
            <a:fillRect/>
          </a:stretch>
        </p:blipFill>
        <p:spPr>
          <a:xfrm>
            <a:off x="6479458" y="1081952"/>
            <a:ext cx="5329084" cy="2062103"/>
          </a:xfrm>
          <a:prstGeom prst="roundRect">
            <a:avLst/>
          </a:prstGeom>
          <a:effectLst>
            <a:reflection stA="45000" endPos="0" dist="50800" dir="5400000" sy="-100000" algn="bl" rotWithShape="0"/>
          </a:effectLst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38954D5A-8DF8-5285-CDEC-80EF587A7D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47782"/>
          </a:xfrm>
          <a:prstGeom prst="rect">
            <a:avLst/>
          </a:prstGeom>
          <a:solidFill>
            <a:srgbClr val="2F3D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764EEF05-3CDE-45B9-CB48-6DA8562E2ADC}"/>
              </a:ext>
            </a:extLst>
          </p:cNvPr>
          <p:cNvSpPr>
            <a:spLocks noGrp="1"/>
          </p:cNvSpPr>
          <p:nvPr/>
        </p:nvSpPr>
        <p:spPr>
          <a:xfrm>
            <a:off x="314633" y="5601236"/>
            <a:ext cx="141577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cs typeface="Microsoft YaHei"/>
              </a:rPr>
              <a:t>洪奕綸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3EAD5FDD-BBF7-39BD-7A48-448872BA0919}"/>
              </a:ext>
            </a:extLst>
          </p:cNvPr>
          <p:cNvSpPr>
            <a:spLocks noGrp="1"/>
          </p:cNvSpPr>
          <p:nvPr/>
        </p:nvSpPr>
        <p:spPr>
          <a:xfrm>
            <a:off x="314633" y="6161874"/>
            <a:ext cx="520046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cs typeface="Microsoft YaHei"/>
              </a:rPr>
              <a:t>國立臺灣大學 生物環境系統工程學系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9599F5EB-38D7-F49A-2CAE-7991257AB3B2}"/>
              </a:ext>
            </a:extLst>
          </p:cNvPr>
          <p:cNvSpPr>
            <a:spLocks noGrp="1"/>
          </p:cNvSpPr>
          <p:nvPr/>
        </p:nvSpPr>
        <p:spPr>
          <a:xfrm>
            <a:off x="10047547" y="6219547"/>
            <a:ext cx="176099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cs typeface="Microsoft YaHei"/>
              </a:rPr>
              <a:t>JULY 2026</a:t>
            </a: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0E9B2BFA-AEF5-8CDE-23C4-E42B720718CA}"/>
              </a:ext>
            </a:extLst>
          </p:cNvPr>
          <p:cNvSpPr>
            <a:spLocks noGrp="1"/>
          </p:cNvSpPr>
          <p:nvPr/>
        </p:nvSpPr>
        <p:spPr>
          <a:xfrm>
            <a:off x="5048701" y="464033"/>
            <a:ext cx="3269389" cy="3269389"/>
          </a:xfrm>
          <a:prstGeom prst="ellipse">
            <a:avLst/>
          </a:prstGeom>
          <a:solidFill>
            <a:schemeClr val="accent5">
              <a:lumMod val="50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64A66BE2-5F07-6A27-FD0C-DBF589DCFA73}"/>
              </a:ext>
            </a:extLst>
          </p:cNvPr>
          <p:cNvSpPr>
            <a:spLocks noGrp="1"/>
          </p:cNvSpPr>
          <p:nvPr/>
        </p:nvSpPr>
        <p:spPr>
          <a:xfrm>
            <a:off x="-1209367" y="1904999"/>
            <a:ext cx="3048000" cy="3048000"/>
          </a:xfrm>
          <a:prstGeom prst="ellipse">
            <a:avLst/>
          </a:prstGeom>
          <a:solidFill>
            <a:schemeClr val="accent5">
              <a:lumMod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D0998F53-0A21-4ECF-FAB3-23CAF9AA3EDC}"/>
              </a:ext>
            </a:extLst>
          </p:cNvPr>
          <p:cNvSpPr>
            <a:spLocks noGrp="1"/>
          </p:cNvSpPr>
          <p:nvPr/>
        </p:nvSpPr>
        <p:spPr>
          <a:xfrm>
            <a:off x="9906000" y="1219775"/>
            <a:ext cx="3048000" cy="3048000"/>
          </a:xfrm>
          <a:prstGeom prst="ellipse">
            <a:avLst/>
          </a:prstGeom>
          <a:solidFill>
            <a:schemeClr val="accent5">
              <a:lumMod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FC924EB1-DCAC-1A0D-DCB7-D4DFDA1E2BC0}"/>
              </a:ext>
            </a:extLst>
          </p:cNvPr>
          <p:cNvSpPr>
            <a:spLocks noGrp="1"/>
          </p:cNvSpPr>
          <p:nvPr/>
        </p:nvSpPr>
        <p:spPr>
          <a:xfrm>
            <a:off x="6632021" y="1319555"/>
            <a:ext cx="489613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sz="3200" b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cs typeface="Microsoft YaHei"/>
              </a:rPr>
              <a:t>Meteorological Drivers of </a:t>
            </a:r>
            <a:r>
              <a:rPr sz="3200" b="1">
                <a:solidFill>
                  <a:srgbClr val="FFFE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cs typeface="Microsoft YaHei"/>
              </a:rPr>
              <a:t>Surface Ozone </a:t>
            </a:r>
            <a:r>
              <a:rPr sz="3200" b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cs typeface="Microsoft YaHei"/>
              </a:rPr>
              <a:t>in Kaohsiung </a:t>
            </a:r>
          </a:p>
          <a:p>
            <a:pPr algn="just">
              <a:buNone/>
            </a:pPr>
            <a:endParaRPr sz="3200" b="1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815264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圓角 4">
            <a:extLst>
              <a:ext uri="{FF2B5EF4-FFF2-40B4-BE49-F238E27FC236}">
                <a16:creationId xmlns:a16="http://schemas.microsoft.com/office/drawing/2014/main" id="{3D821C7A-A239-7050-85AB-86E99505E24E}"/>
              </a:ext>
            </a:extLst>
          </p:cNvPr>
          <p:cNvSpPr/>
          <p:nvPr/>
        </p:nvSpPr>
        <p:spPr>
          <a:xfrm flipV="1">
            <a:off x="1500126" y="290116"/>
            <a:ext cx="6521570" cy="36772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81B4D1C-3021-8850-53F5-C8CCF250E8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9F68E2-31C2-4D90-A536-67698CDE3376}" type="slidenum">
              <a:rPr lang="en-US" altLang="zh-TW" smtClean="0"/>
              <a:t>2</a:t>
            </a:fld>
            <a:endParaRPr lang="zh-TW" altLang="en-US"/>
          </a:p>
        </p:txBody>
      </p:sp>
      <p:sp>
        <p:nvSpPr>
          <p:cNvPr id="4" name="文字方塊 2">
            <a:extLst>
              <a:ext uri="{FF2B5EF4-FFF2-40B4-BE49-F238E27FC236}">
                <a16:creationId xmlns:a16="http://schemas.microsoft.com/office/drawing/2014/main" id="{4C8F975A-6A27-9293-8F6A-0817FDAC9EF8}"/>
              </a:ext>
            </a:extLst>
          </p:cNvPr>
          <p:cNvSpPr>
            <a:spLocks noGrp="1"/>
          </p:cNvSpPr>
          <p:nvPr/>
        </p:nvSpPr>
        <p:spPr>
          <a:xfrm>
            <a:off x="1517050" y="290116"/>
            <a:ext cx="64869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zh-TW" altLang="en-US" i="0">
                <a:solidFill>
                  <a:srgbClr val="FBF1FA"/>
                </a:solidFill>
                <a:latin typeface="Microsoft YaHei"/>
                <a:ea typeface="Microsoft YaHei"/>
                <a:cs typeface="Microsoft YaHei"/>
              </a:rPr>
              <a:t>氣象調整後，高雄臭氧於空污管制期間顯著下降（</a:t>
            </a:r>
            <a:r>
              <a:rPr lang="en-US" altLang="zh-TW" i="0">
                <a:solidFill>
                  <a:srgbClr val="FBF1FA"/>
                </a:solidFill>
                <a:latin typeface="Microsoft YaHei"/>
                <a:ea typeface="Microsoft YaHei"/>
                <a:cs typeface="Microsoft YaHei"/>
              </a:rPr>
              <a:t>2018–2025</a:t>
            </a:r>
            <a:r>
              <a:rPr lang="zh-TW" altLang="en-US" i="0">
                <a:solidFill>
                  <a:srgbClr val="FBF1FA"/>
                </a:solidFill>
                <a:latin typeface="Microsoft YaHei"/>
                <a:ea typeface="Microsoft YaHei"/>
                <a:cs typeface="Microsoft YaHei"/>
              </a:rPr>
              <a:t>）</a:t>
            </a:r>
            <a:endParaRPr i="0">
              <a:solidFill>
                <a:srgbClr val="FBF1F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文字方塊 2">
            <a:extLst>
              <a:ext uri="{FF2B5EF4-FFF2-40B4-BE49-F238E27FC236}">
                <a16:creationId xmlns:a16="http://schemas.microsoft.com/office/drawing/2014/main" id="{2D39120F-6A38-E947-F767-30ED8043AB06}"/>
              </a:ext>
            </a:extLst>
          </p:cNvPr>
          <p:cNvSpPr>
            <a:spLocks noGrp="1"/>
          </p:cNvSpPr>
          <p:nvPr/>
        </p:nvSpPr>
        <p:spPr>
          <a:xfrm>
            <a:off x="86360" y="290116"/>
            <a:ext cx="1344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zh-TW" altLang="en-US" b="1" i="0">
                <a:solidFill>
                  <a:srgbClr val="2F3C72"/>
                </a:solidFill>
                <a:latin typeface="Microsoft YaHei"/>
                <a:ea typeface="Microsoft YaHei"/>
                <a:cs typeface="Microsoft YaHei"/>
              </a:rPr>
              <a:t>一頁式摘要</a:t>
            </a:r>
            <a:endParaRPr b="1" i="0">
              <a:solidFill>
                <a:srgbClr val="2F3C7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文字方塊 29">
            <a:extLst>
              <a:ext uri="{FF2B5EF4-FFF2-40B4-BE49-F238E27FC236}">
                <a16:creationId xmlns:a16="http://schemas.microsoft.com/office/drawing/2014/main" id="{9C800C5C-459B-C44B-D492-DA73756B2BD0}"/>
              </a:ext>
            </a:extLst>
          </p:cNvPr>
          <p:cNvSpPr>
            <a:spLocks noGrp="1"/>
          </p:cNvSpPr>
          <p:nvPr/>
        </p:nvSpPr>
        <p:spPr>
          <a:xfrm>
            <a:off x="1125661" y="1146180"/>
            <a:ext cx="6065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b="1">
                <a:solidFill>
                  <a:schemeClr val="accent5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研究問題</a:t>
            </a:r>
            <a:endParaRPr sz="2400" b="1">
              <a:solidFill>
                <a:schemeClr val="accent5">
                  <a:lumMod val="5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文字方塊 30">
            <a:extLst>
              <a:ext uri="{FF2B5EF4-FFF2-40B4-BE49-F238E27FC236}">
                <a16:creationId xmlns:a16="http://schemas.microsoft.com/office/drawing/2014/main" id="{DEF41D8F-13D5-66D4-23AA-E9535838DC30}"/>
              </a:ext>
            </a:extLst>
          </p:cNvPr>
          <p:cNvSpPr>
            <a:spLocks noGrp="1"/>
          </p:cNvSpPr>
          <p:nvPr/>
        </p:nvSpPr>
        <p:spPr>
          <a:xfrm>
            <a:off x="1517697" y="1607845"/>
            <a:ext cx="9464156" cy="417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"/>
                <a:ea typeface="Microsoft YaHei"/>
                <a:cs typeface="Microsoft YaHei"/>
              </a:rPr>
              <a:t>防制方案上路後，高雄 </a:t>
            </a:r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"/>
                <a:ea typeface="Microsoft YaHei"/>
                <a:cs typeface="Microsoft YaHei"/>
              </a:rPr>
              <a:t>MDA8 O₃ </a:t>
            </a:r>
            <a:r>
              <a:rPr lang="zh-TW" alt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"/>
                <a:ea typeface="Microsoft YaHei"/>
                <a:cs typeface="Microsoft YaHei"/>
              </a:rPr>
              <a:t>改善了嗎？</a:t>
            </a:r>
            <a:r>
              <a:rPr lang="en-US" altLang="zh-TW" sz="1600" b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"/>
                <a:ea typeface="Microsoft YaHei"/>
                <a:cs typeface="Microsoft YaHei"/>
              </a:rPr>
              <a:t>——</a:t>
            </a:r>
            <a:r>
              <a:rPr lang="zh-TW" alt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"/>
                <a:ea typeface="Microsoft YaHei"/>
                <a:cs typeface="Microsoft YaHei"/>
              </a:rPr>
              <a:t>原始資料看不出來（−</a:t>
            </a:r>
            <a:r>
              <a:rPr lang="en-US" altLang="zh-TW" sz="1600" b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"/>
                <a:ea typeface="Microsoft YaHei"/>
                <a:cs typeface="Microsoft YaHei"/>
              </a:rPr>
              <a:t>0.56 </a:t>
            </a:r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"/>
                <a:ea typeface="Microsoft YaHei"/>
                <a:cs typeface="Microsoft YaHei"/>
              </a:rPr>
              <a:t>ppb/</a:t>
            </a:r>
            <a:r>
              <a:rPr lang="en-US" sz="1600" b="1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"/>
                <a:ea typeface="Microsoft YaHei"/>
                <a:cs typeface="Microsoft YaHei"/>
              </a:rPr>
              <a:t>yr，p</a:t>
            </a:r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"/>
                <a:ea typeface="Microsoft YaHei"/>
                <a:cs typeface="Microsoft YaHei"/>
              </a:rPr>
              <a:t> = 0.14）</a:t>
            </a:r>
            <a:endParaRPr sz="1600" b="1">
              <a:solidFill>
                <a:schemeClr val="tx1">
                  <a:lumMod val="65000"/>
                  <a:lumOff val="3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文字方塊 29">
            <a:extLst>
              <a:ext uri="{FF2B5EF4-FFF2-40B4-BE49-F238E27FC236}">
                <a16:creationId xmlns:a16="http://schemas.microsoft.com/office/drawing/2014/main" id="{A487B859-2C07-3A00-7E1B-C56EFB311407}"/>
              </a:ext>
            </a:extLst>
          </p:cNvPr>
          <p:cNvSpPr>
            <a:spLocks noGrp="1"/>
          </p:cNvSpPr>
          <p:nvPr/>
        </p:nvSpPr>
        <p:spPr>
          <a:xfrm>
            <a:off x="1125661" y="2112686"/>
            <a:ext cx="6065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b="1">
                <a:solidFill>
                  <a:schemeClr val="accent5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資料與方法</a:t>
            </a:r>
            <a:endParaRPr sz="2400" b="1">
              <a:solidFill>
                <a:schemeClr val="accent5">
                  <a:lumMod val="5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文字方塊 30">
            <a:extLst>
              <a:ext uri="{FF2B5EF4-FFF2-40B4-BE49-F238E27FC236}">
                <a16:creationId xmlns:a16="http://schemas.microsoft.com/office/drawing/2014/main" id="{FBE941A4-EA5A-3D67-F9FB-FD4ED0BFC270}"/>
              </a:ext>
            </a:extLst>
          </p:cNvPr>
          <p:cNvSpPr>
            <a:spLocks noGrp="1"/>
          </p:cNvSpPr>
          <p:nvPr/>
        </p:nvSpPr>
        <p:spPr>
          <a:xfrm>
            <a:off x="1517697" y="2574351"/>
            <a:ext cx="9065804" cy="1156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zh-TW" sz="1600" b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"/>
                <a:ea typeface="Microsoft YaHei"/>
              </a:rPr>
              <a:t>環境部 12 測站 × 8 年（35,064 站日，有效率 99.8%）</a:t>
            </a:r>
            <a:endParaRPr lang="en-US" altLang="zh-TW" sz="1600" b="1">
              <a:solidFill>
                <a:schemeClr val="tx1">
                  <a:lumMod val="65000"/>
                  <a:lumOff val="35000"/>
                </a:schemeClr>
              </a:solidFill>
              <a:latin typeface="Microsoft YaHei"/>
              <a:ea typeface="Microsoft YaHei"/>
            </a:endParaRPr>
          </a:p>
          <a:p>
            <a:pPr algn="just">
              <a:lnSpc>
                <a:spcPct val="150000"/>
              </a:lnSpc>
            </a:pPr>
            <a:r>
              <a:rPr lang="zh-TW" altLang="zh-TW" sz="1600" b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"/>
                <a:ea typeface="Microsoft YaHei"/>
              </a:rPr>
              <a:t>隨機森林氣象常態化：扣除天氣波動，讓逐日資料在相同氣象條件下比較；Seasonal Mann-Kendall 檢定趨勢</a:t>
            </a:r>
            <a:endParaRPr sz="1600" b="1">
              <a:solidFill>
                <a:schemeClr val="tx1">
                  <a:lumMod val="65000"/>
                  <a:lumOff val="3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文字方塊 29">
            <a:extLst>
              <a:ext uri="{FF2B5EF4-FFF2-40B4-BE49-F238E27FC236}">
                <a16:creationId xmlns:a16="http://schemas.microsoft.com/office/drawing/2014/main" id="{3F5501D5-B9A7-7059-A950-47F8F8C33719}"/>
              </a:ext>
            </a:extLst>
          </p:cNvPr>
          <p:cNvSpPr>
            <a:spLocks noGrp="1"/>
          </p:cNvSpPr>
          <p:nvPr/>
        </p:nvSpPr>
        <p:spPr>
          <a:xfrm>
            <a:off x="1125661" y="3818304"/>
            <a:ext cx="6065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b="1">
                <a:solidFill>
                  <a:schemeClr val="accent5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主要發現</a:t>
            </a:r>
            <a:endParaRPr sz="2400" b="1">
              <a:solidFill>
                <a:schemeClr val="accent5">
                  <a:lumMod val="5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文字方塊 30">
            <a:extLst>
              <a:ext uri="{FF2B5EF4-FFF2-40B4-BE49-F238E27FC236}">
                <a16:creationId xmlns:a16="http://schemas.microsoft.com/office/drawing/2014/main" id="{703917A1-C4F4-8B3D-5135-716C733D1B60}"/>
              </a:ext>
            </a:extLst>
          </p:cNvPr>
          <p:cNvSpPr>
            <a:spLocks noGrp="1"/>
          </p:cNvSpPr>
          <p:nvPr/>
        </p:nvSpPr>
        <p:spPr>
          <a:xfrm>
            <a:off x="1517697" y="4279969"/>
            <a:ext cx="9065804" cy="78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"/>
                <a:ea typeface="Microsoft YaHei"/>
              </a:rPr>
              <a:t>調整前：−</a:t>
            </a:r>
            <a:r>
              <a:rPr lang="en-US" altLang="zh-TW" sz="1600" b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"/>
                <a:ea typeface="Microsoft YaHei"/>
              </a:rPr>
              <a:t>0.56 ppb/yr</a:t>
            </a:r>
            <a:r>
              <a:rPr lang="zh-TW" alt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"/>
                <a:ea typeface="Microsoft YaHei"/>
              </a:rPr>
              <a:t>（</a:t>
            </a:r>
            <a:r>
              <a:rPr lang="en-US" altLang="zh-TW" sz="1600" b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"/>
                <a:ea typeface="Microsoft YaHei"/>
              </a:rPr>
              <a:t>p = 0.14</a:t>
            </a:r>
            <a:r>
              <a:rPr lang="zh-TW" alt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"/>
                <a:ea typeface="Microsoft YaHei"/>
              </a:rPr>
              <a:t>，不顯著）　→　調整後：−</a:t>
            </a:r>
            <a:r>
              <a:rPr lang="en-US" altLang="zh-TW" sz="1600" b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"/>
                <a:ea typeface="Microsoft YaHei"/>
              </a:rPr>
              <a:t>0.28 ppb/yr</a:t>
            </a:r>
            <a:r>
              <a:rPr lang="zh-TW" alt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"/>
                <a:ea typeface="Microsoft YaHei"/>
              </a:rPr>
              <a:t>（</a:t>
            </a:r>
            <a:r>
              <a:rPr lang="en-US" altLang="zh-TW" sz="1600" b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"/>
                <a:ea typeface="Microsoft YaHei"/>
              </a:rPr>
              <a:t>p &lt; 0.001</a:t>
            </a:r>
            <a:r>
              <a:rPr lang="zh-TW" alt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"/>
                <a:ea typeface="Microsoft YaHei"/>
              </a:rPr>
              <a:t>）</a:t>
            </a:r>
            <a:endParaRPr lang="en-US" altLang="zh-TW" sz="1600" b="1">
              <a:solidFill>
                <a:schemeClr val="tx1">
                  <a:lumMod val="65000"/>
                  <a:lumOff val="35000"/>
                </a:schemeClr>
              </a:solidFill>
              <a:latin typeface="Microsoft YaHei"/>
              <a:ea typeface="Microsoft YaHei"/>
            </a:endParaRPr>
          </a:p>
          <a:p>
            <a:pPr algn="just">
              <a:lnSpc>
                <a:spcPct val="150000"/>
              </a:lnSpc>
            </a:pPr>
            <a:r>
              <a:rPr lang="en-US" altLang="zh-TW" sz="1600" b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"/>
                <a:ea typeface="Microsoft YaHei"/>
              </a:rPr>
              <a:t>12 </a:t>
            </a:r>
            <a:r>
              <a:rPr lang="zh-TW" alt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"/>
                <a:ea typeface="Microsoft YaHei"/>
              </a:rPr>
              <a:t>站全為負向、多重敏感度分析皆穩健 → 改善是真的，只是被天氣遮住</a:t>
            </a:r>
            <a:endParaRPr sz="1600" b="1">
              <a:solidFill>
                <a:schemeClr val="tx1">
                  <a:lumMod val="65000"/>
                  <a:lumOff val="3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文字方塊 29">
            <a:extLst>
              <a:ext uri="{FF2B5EF4-FFF2-40B4-BE49-F238E27FC236}">
                <a16:creationId xmlns:a16="http://schemas.microsoft.com/office/drawing/2014/main" id="{027927CC-EAD7-B5BB-CFCC-E5FEB3A2A5AB}"/>
              </a:ext>
            </a:extLst>
          </p:cNvPr>
          <p:cNvSpPr>
            <a:spLocks noGrp="1"/>
          </p:cNvSpPr>
          <p:nvPr/>
        </p:nvSpPr>
        <p:spPr>
          <a:xfrm>
            <a:off x="1125661" y="5154590"/>
            <a:ext cx="6065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b="1">
                <a:solidFill>
                  <a:schemeClr val="accent5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附帶發現</a:t>
            </a:r>
            <a:endParaRPr sz="2400" b="1">
              <a:solidFill>
                <a:schemeClr val="accent5">
                  <a:lumMod val="5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文字方塊 30">
            <a:extLst>
              <a:ext uri="{FF2B5EF4-FFF2-40B4-BE49-F238E27FC236}">
                <a16:creationId xmlns:a16="http://schemas.microsoft.com/office/drawing/2014/main" id="{CEF420BF-DFEA-C0BE-1B3C-920D5EFE17F8}"/>
              </a:ext>
            </a:extLst>
          </p:cNvPr>
          <p:cNvSpPr>
            <a:spLocks noGrp="1"/>
          </p:cNvSpPr>
          <p:nvPr/>
        </p:nvSpPr>
        <p:spPr>
          <a:xfrm>
            <a:off x="1517697" y="5616255"/>
            <a:ext cx="9065804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"/>
                <a:ea typeface="Microsoft YaHei"/>
              </a:rPr>
              <a:t>高臭氧日集中於秋、春季的乾燥晴朗向岸風日；林園為空間熱區</a:t>
            </a:r>
            <a:endParaRPr sz="1600" b="1">
              <a:solidFill>
                <a:schemeClr val="tx1">
                  <a:lumMod val="65000"/>
                  <a:lumOff val="3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文字方塊 30">
            <a:extLst>
              <a:ext uri="{FF2B5EF4-FFF2-40B4-BE49-F238E27FC236}">
                <a16:creationId xmlns:a16="http://schemas.microsoft.com/office/drawing/2014/main" id="{37F3F0B4-257B-B8C3-EF4A-D07216E9110D}"/>
              </a:ext>
            </a:extLst>
          </p:cNvPr>
          <p:cNvSpPr>
            <a:spLocks noGrp="1"/>
          </p:cNvSpPr>
          <p:nvPr/>
        </p:nvSpPr>
        <p:spPr>
          <a:xfrm>
            <a:off x="86360" y="6363260"/>
            <a:ext cx="10779392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TW" sz="1600">
                <a:solidFill>
                  <a:schemeClr val="bg2">
                    <a:lumMod val="50000"/>
                  </a:schemeClr>
                </a:solidFill>
                <a:latin typeface="Microsoft YaHei"/>
                <a:ea typeface="Microsoft YaHei"/>
              </a:rPr>
              <a:t>Take-home message : </a:t>
            </a:r>
            <a:r>
              <a:rPr lang="zh-TW" altLang="en-US" sz="1600">
                <a:solidFill>
                  <a:schemeClr val="bg2">
                    <a:lumMod val="50000"/>
                  </a:schemeClr>
                </a:solidFill>
                <a:latin typeface="Microsoft YaHei"/>
                <a:ea typeface="Microsoft YaHei"/>
              </a:rPr>
              <a:t>評估空污政策成效必須先扣除氣象變異</a:t>
            </a:r>
            <a:r>
              <a:rPr lang="en-US" altLang="zh-TW" sz="1600">
                <a:solidFill>
                  <a:schemeClr val="bg2">
                    <a:lumMod val="50000"/>
                  </a:schemeClr>
                </a:solidFill>
                <a:latin typeface="Microsoft YaHei"/>
                <a:ea typeface="Microsoft YaHei"/>
              </a:rPr>
              <a:t>——</a:t>
            </a:r>
            <a:r>
              <a:rPr lang="zh-TW" altLang="en-US" sz="1600">
                <a:solidFill>
                  <a:schemeClr val="bg2">
                    <a:lumMod val="50000"/>
                  </a:schemeClr>
                </a:solidFill>
                <a:latin typeface="Microsoft YaHei"/>
                <a:ea typeface="Microsoft YaHei"/>
              </a:rPr>
              <a:t>否則真實的改善會被誤判為「無效」</a:t>
            </a:r>
            <a:endParaRPr sz="1600">
              <a:solidFill>
                <a:schemeClr val="bg2">
                  <a:lumMod val="5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4218220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F31B85A9-CEC8-8844-9A06-B56912A6AF84}"/>
              </a:ext>
            </a:extLst>
          </p:cNvPr>
          <p:cNvSpPr>
            <a:spLocks noGrp="1"/>
          </p:cNvSpPr>
          <p:nvPr/>
        </p:nvSpPr>
        <p:spPr>
          <a:xfrm>
            <a:off x="0" y="3089802"/>
            <a:ext cx="12192000" cy="1414821"/>
          </a:xfrm>
          <a:prstGeom prst="rect">
            <a:avLst/>
          </a:prstGeom>
          <a:gradFill>
            <a:gsLst>
              <a:gs pos="0">
                <a:srgbClr val="2F3871">
                  <a:alpha val="0"/>
                </a:srgbClr>
              </a:gs>
              <a:gs pos="56000">
                <a:srgbClr val="2F3871">
                  <a:alpha val="76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27A17E9-5A2C-953D-0FE0-42AEA666F5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47782"/>
          </a:xfrm>
          <a:prstGeom prst="rect">
            <a:avLst/>
          </a:prstGeom>
          <a:solidFill>
            <a:srgbClr val="2F3D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FC652FD7-BB14-E8E9-5C55-0AC379C4A204}"/>
              </a:ext>
            </a:extLst>
          </p:cNvPr>
          <p:cNvSpPr>
            <a:spLocks noGrp="1"/>
          </p:cNvSpPr>
          <p:nvPr/>
        </p:nvSpPr>
        <p:spPr>
          <a:xfrm>
            <a:off x="5048701" y="464033"/>
            <a:ext cx="3269389" cy="3269389"/>
          </a:xfrm>
          <a:prstGeom prst="ellipse">
            <a:avLst/>
          </a:prstGeom>
          <a:solidFill>
            <a:schemeClr val="accent5">
              <a:lumMod val="50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828B959A-B7DD-BA0D-4268-333BFA0EC74B}"/>
              </a:ext>
            </a:extLst>
          </p:cNvPr>
          <p:cNvSpPr>
            <a:spLocks noGrp="1"/>
          </p:cNvSpPr>
          <p:nvPr/>
        </p:nvSpPr>
        <p:spPr>
          <a:xfrm>
            <a:off x="-1209367" y="1904999"/>
            <a:ext cx="3048000" cy="3048000"/>
          </a:xfrm>
          <a:prstGeom prst="ellipse">
            <a:avLst/>
          </a:prstGeom>
          <a:solidFill>
            <a:schemeClr val="accent5">
              <a:lumMod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D2D1F5DE-6926-EE23-CAD9-3E8748814249}"/>
              </a:ext>
            </a:extLst>
          </p:cNvPr>
          <p:cNvSpPr>
            <a:spLocks noGrp="1"/>
          </p:cNvSpPr>
          <p:nvPr/>
        </p:nvSpPr>
        <p:spPr>
          <a:xfrm>
            <a:off x="9906000" y="1219775"/>
            <a:ext cx="3048000" cy="3048000"/>
          </a:xfrm>
          <a:prstGeom prst="ellipse">
            <a:avLst/>
          </a:prstGeom>
          <a:solidFill>
            <a:schemeClr val="accent5">
              <a:lumMod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4E8CA68-F025-1672-874C-351981F1CD33}"/>
              </a:ext>
            </a:extLst>
          </p:cNvPr>
          <p:cNvSpPr>
            <a:spLocks noGrp="1"/>
          </p:cNvSpPr>
          <p:nvPr/>
        </p:nvSpPr>
        <p:spPr>
          <a:xfrm>
            <a:off x="314633" y="3217338"/>
            <a:ext cx="70812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>
                <a:solidFill>
                  <a:schemeClr val="bg1"/>
                </a:solidFill>
              </a:rPr>
              <a:t>01 Introduction</a:t>
            </a:r>
          </a:p>
        </p:txBody>
      </p:sp>
    </p:spTree>
    <p:extLst>
      <p:ext uri="{BB962C8B-B14F-4D97-AF65-F5344CB8AC3E}">
        <p14:creationId xmlns:p14="http://schemas.microsoft.com/office/powerpoint/2010/main" val="2571209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CFEE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454C4206-8834-D105-D245-2670B6434DC2}"/>
              </a:ext>
            </a:extLst>
          </p:cNvPr>
          <p:cNvSpPr>
            <a:spLocks noGrp="1"/>
          </p:cNvSpPr>
          <p:nvPr/>
        </p:nvSpPr>
        <p:spPr>
          <a:xfrm>
            <a:off x="0" y="6319520"/>
            <a:ext cx="12192000" cy="53848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68F175C0-E362-E7B5-F635-F26CD842553D}"/>
              </a:ext>
            </a:extLst>
          </p:cNvPr>
          <p:cNvSpPr>
            <a:spLocks noGrp="1"/>
          </p:cNvSpPr>
          <p:nvPr/>
        </p:nvSpPr>
        <p:spPr>
          <a:xfrm>
            <a:off x="3810000" y="1342269"/>
            <a:ext cx="7213600" cy="2295012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1A8177E-F6FD-3A95-7C90-D91EADA385B0}"/>
              </a:ext>
            </a:extLst>
          </p:cNvPr>
          <p:cNvSpPr>
            <a:spLocks noGrp="1"/>
          </p:cNvSpPr>
          <p:nvPr/>
        </p:nvSpPr>
        <p:spPr>
          <a:xfrm>
            <a:off x="86360" y="299169"/>
            <a:ext cx="1203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b="1" i="0">
                <a:solidFill>
                  <a:srgbClr val="2F3C72"/>
                </a:solidFill>
                <a:latin typeface="Microsoft YaHei"/>
                <a:ea typeface="Microsoft YaHei"/>
                <a:cs typeface="Microsoft YaHei"/>
              </a:rPr>
              <a:t> Introduction1 </a:t>
            </a:r>
            <a:r>
              <a:rPr sz="1600" b="1" i="0">
                <a:solidFill>
                  <a:srgbClr val="2F3C72"/>
                </a:solidFill>
                <a:latin typeface="Microsoft YaHei"/>
                <a:ea typeface="Microsoft YaHei"/>
                <a:cs typeface="Microsoft YaHei"/>
              </a:rPr>
              <a:t>Background</a:t>
            </a:r>
            <a:r>
              <a:rPr b="1" i="0">
                <a:solidFill>
                  <a:srgbClr val="2F3C72"/>
                </a:solidFill>
                <a:latin typeface="Microsoft YaHei"/>
                <a:ea typeface="Microsoft YaHei"/>
                <a:cs typeface="Microsoft YaHei"/>
              </a:rPr>
              <a:t> &amp; Motivation — </a:t>
            </a:r>
            <a:r>
              <a:rPr sz="1200" b="1" i="0">
                <a:solidFill>
                  <a:srgbClr val="2F3C72"/>
                </a:solidFill>
                <a:latin typeface="Microsoft YaHei"/>
                <a:ea typeface="Microsoft YaHei"/>
                <a:cs typeface="Microsoft YaHei"/>
              </a:rPr>
              <a:t>Ozone formation, Regulatory metric</a:t>
            </a:r>
            <a:endParaRPr b="1" i="0">
              <a:solidFill>
                <a:srgbClr val="2F3C7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723EC67-B498-E7B4-79BD-8DEA6A587934}"/>
              </a:ext>
            </a:extLst>
          </p:cNvPr>
          <p:cNvSpPr>
            <a:spLocks noGrp="1"/>
          </p:cNvSpPr>
          <p:nvPr/>
        </p:nvSpPr>
        <p:spPr>
          <a:xfrm>
            <a:off x="3870960" y="2239643"/>
            <a:ext cx="52019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4000" b="1" dirty="0">
                <a:solidFill>
                  <a:schemeClr val="bg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NOₓ + VOCs </a:t>
            </a:r>
            <a:r>
              <a:rPr sz="4000" b="1" dirty="0">
                <a:solidFill>
                  <a:schemeClr val="accent5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→ </a:t>
            </a:r>
            <a:r>
              <a:rPr sz="4000" b="1" u="sng" dirty="0">
                <a:solidFill>
                  <a:schemeClr val="accent5">
                    <a:lumMod val="75000"/>
                  </a:schemeClr>
                </a:solidFill>
                <a:latin typeface="Microsoft YaHei"/>
                <a:ea typeface="Microsoft YaHei"/>
                <a:cs typeface="Microsoft YaHei"/>
              </a:rPr>
              <a:t>O₃</a:t>
            </a:r>
          </a:p>
        </p:txBody>
      </p:sp>
      <p:pic>
        <p:nvPicPr>
          <p:cNvPr id="33" name="圖形 1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3760" y="1517529"/>
            <a:ext cx="914400" cy="914400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DB5C6D7E-252A-E2F6-7599-52943AD9C685}"/>
              </a:ext>
            </a:extLst>
          </p:cNvPr>
          <p:cNvSpPr>
            <a:spLocks noGrp="1"/>
          </p:cNvSpPr>
          <p:nvPr/>
        </p:nvSpPr>
        <p:spPr>
          <a:xfrm>
            <a:off x="7477760" y="2892433"/>
            <a:ext cx="3190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chemeClr val="accent5">
                    <a:lumMod val="75000"/>
                  </a:schemeClr>
                </a:solidFill>
                <a:latin typeface="-apple-system-body"/>
                <a:ea typeface="-apple-system-body"/>
                <a:cs typeface="-apple-system-body"/>
              </a:rPr>
              <a:t>secondary pollutant</a:t>
            </a:r>
            <a:endParaRPr sz="400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50E4D0DA-F60D-72EF-F1CF-5283F0A1D853}"/>
              </a:ext>
            </a:extLst>
          </p:cNvPr>
          <p:cNvSpPr>
            <a:spLocks noGrp="1"/>
          </p:cNvSpPr>
          <p:nvPr/>
        </p:nvSpPr>
        <p:spPr>
          <a:xfrm>
            <a:off x="4064000" y="4153685"/>
            <a:ext cx="670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800" b="1">
                <a:solidFill>
                  <a:schemeClr val="accent5">
                    <a:lumMod val="75000"/>
                  </a:schemeClr>
                </a:solidFill>
                <a:latin typeface="-apple-system-body"/>
                <a:ea typeface="-apple-system-body"/>
                <a:cs typeface="-apple-system-body"/>
              </a:rPr>
              <a:t>MDA8 is the key regulatory metric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E14BF541-0228-3C38-097B-C297194CA75C}"/>
              </a:ext>
            </a:extLst>
          </p:cNvPr>
          <p:cNvSpPr>
            <a:spLocks noGrp="1"/>
          </p:cNvSpPr>
          <p:nvPr/>
        </p:nvSpPr>
        <p:spPr>
          <a:xfrm>
            <a:off x="5382260" y="4817405"/>
            <a:ext cx="3683000" cy="408623"/>
          </a:xfrm>
          <a:prstGeom prst="round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>
                <a:latin typeface="Cascadia Code"/>
                <a:ea typeface="Cascadia Code"/>
                <a:cs typeface="Cascadia Code"/>
              </a:rPr>
              <a:t>Taiwan standard = 60 ppb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E3C81A2-34FE-CFE3-DDCD-C3795EDEBF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9F68E2-31C2-4D90-A536-67698CDE3376}" type="slidenum">
              <a:rPr/>
              <a:t>4</a:t>
            </a:fld>
            <a:endParaRPr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E1406BE-A253-4A5B-B186-07A20A56973F}"/>
              </a:ext>
            </a:extLst>
          </p:cNvPr>
          <p:cNvSpPr>
            <a:spLocks noGrp="1"/>
          </p:cNvSpPr>
          <p:nvPr/>
        </p:nvSpPr>
        <p:spPr>
          <a:xfrm>
            <a:off x="2651760" y="5742432"/>
            <a:ext cx="5486400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anchor="ctr">
            <a:normAutofit/>
          </a:bodyPr>
          <a:lstStyle/>
          <a:p>
            <a:pPr algn="l">
              <a:buNone/>
            </a:pPr>
            <a:r>
              <a:rPr sz="1100" b="1">
                <a:solidFill>
                  <a:srgbClr val="1F5C9E"/>
                </a:solidFill>
                <a:latin typeface="Microsoft JhengHei"/>
                <a:ea typeface="Microsoft JhengHei"/>
                <a:cs typeface="Microsoft JhengHei"/>
              </a:rPr>
              <a:t>【說明】</a:t>
            </a:r>
            <a:r>
              <a:rPr sz="11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臭氧為二次污染物,由 NOx 與 VOC 在陽光下光化學生成,而非直接排放;法規指標為 MDA8,台灣標準 60 ppb。</a:t>
            </a:r>
          </a:p>
        </p:txBody>
      </p:sp>
    </p:spTree>
    <p:extLst>
      <p:ext uri="{BB962C8B-B14F-4D97-AF65-F5344CB8AC3E}">
        <p14:creationId xmlns:p14="http://schemas.microsoft.com/office/powerpoint/2010/main" val="1780073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13FCF52C-B1F4-2CA7-0F08-19F561E9D3ED}"/>
              </a:ext>
            </a:extLst>
          </p:cNvPr>
          <p:cNvSpPr>
            <a:spLocks noGrp="1"/>
          </p:cNvSpPr>
          <p:nvPr/>
        </p:nvSpPr>
        <p:spPr>
          <a:xfrm>
            <a:off x="0" y="6319520"/>
            <a:ext cx="12192000" cy="53848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22E72371-BF11-D24C-2B23-EABDD55DD293}"/>
              </a:ext>
            </a:extLst>
          </p:cNvPr>
          <p:cNvSpPr>
            <a:spLocks noGrp="1"/>
          </p:cNvSpPr>
          <p:nvPr/>
        </p:nvSpPr>
        <p:spPr>
          <a:xfrm>
            <a:off x="4064000" y="4534655"/>
            <a:ext cx="670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800" b="1">
                <a:solidFill>
                  <a:schemeClr val="accent5">
                    <a:lumMod val="75000"/>
                  </a:schemeClr>
                </a:solidFill>
                <a:latin typeface="-apple-system-body"/>
                <a:ea typeface="-apple-system-body"/>
                <a:cs typeface="-apple-system-body"/>
              </a:rPr>
              <a:t>MDA8 is the key regulatory metric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879625FE-0058-4F33-2A8A-2F3898E3ED92}"/>
              </a:ext>
            </a:extLst>
          </p:cNvPr>
          <p:cNvSpPr>
            <a:spLocks noGrp="1"/>
          </p:cNvSpPr>
          <p:nvPr/>
        </p:nvSpPr>
        <p:spPr>
          <a:xfrm>
            <a:off x="5382260" y="5198375"/>
            <a:ext cx="3683000" cy="408623"/>
          </a:xfrm>
          <a:prstGeom prst="round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>
                <a:latin typeface="Cascadia Code"/>
                <a:ea typeface="Cascadia Code"/>
                <a:cs typeface="Cascadia Code"/>
              </a:rPr>
              <a:t>Taiwan standard = 60 ppb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D45840E-B767-4A6A-6CFF-F94EA9522DCC}"/>
              </a:ext>
            </a:extLst>
          </p:cNvPr>
          <p:cNvSpPr>
            <a:spLocks noGrp="1"/>
          </p:cNvSpPr>
          <p:nvPr/>
        </p:nvSpPr>
        <p:spPr>
          <a:xfrm>
            <a:off x="86360" y="299169"/>
            <a:ext cx="12034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sz="3200" b="1" i="0">
                <a:solidFill>
                  <a:srgbClr val="2F3C72"/>
                </a:solidFill>
                <a:latin typeface="Microsoft YaHei"/>
                <a:ea typeface="Microsoft YaHei"/>
                <a:cs typeface="Microsoft YaHei"/>
              </a:rPr>
              <a:t> 01 Background &amp; Motivation — </a:t>
            </a:r>
            <a:r>
              <a:rPr sz="2000" b="1" i="0">
                <a:solidFill>
                  <a:srgbClr val="2F3C72"/>
                </a:solidFill>
                <a:latin typeface="Microsoft YaHei"/>
                <a:ea typeface="Microsoft YaHei"/>
                <a:cs typeface="Microsoft YaHei"/>
              </a:rPr>
              <a:t>Ozone formation, Regulatory metric</a:t>
            </a:r>
            <a:endParaRPr sz="3200" b="1" i="0">
              <a:solidFill>
                <a:srgbClr val="2F3C7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E474146A-B1FA-EFC7-F4CD-4757B811E2D5}"/>
              </a:ext>
            </a:extLst>
          </p:cNvPr>
          <p:cNvSpPr>
            <a:spLocks noGrp="1"/>
          </p:cNvSpPr>
          <p:nvPr/>
        </p:nvSpPr>
        <p:spPr>
          <a:xfrm>
            <a:off x="4064000" y="3823581"/>
            <a:ext cx="670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800" b="1">
                <a:solidFill>
                  <a:schemeClr val="accent5">
                    <a:lumMod val="75000"/>
                  </a:schemeClr>
                </a:solidFill>
                <a:latin typeface="-apple-system-body"/>
                <a:ea typeface="-apple-system-body"/>
                <a:cs typeface="-apple-system-body"/>
              </a:rPr>
              <a:t>MDA8 is the key regulatory metric</a:t>
            </a:r>
          </a:p>
        </p:txBody>
      </p:sp>
      <p:sp>
        <p:nvSpPr>
          <p:cNvPr id="8" name="手繪多邊形: 圖案 7">
            <a:extLst>
              <a:ext uri="{FF2B5EF4-FFF2-40B4-BE49-F238E27FC236}">
                <a16:creationId xmlns:a16="http://schemas.microsoft.com/office/drawing/2014/main" id="{45364EF8-C969-9471-8120-A8C4FAAF5A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sX0" fmla="*/ 4192510 w 12192000"/>
              <a:gd name="csY0" fmla="*/ 1342269 h 6858000"/>
              <a:gd name="csX1" fmla="*/ 3810000 w 12192000"/>
              <a:gd name="csY1" fmla="*/ 1724779 h 6858000"/>
              <a:gd name="csX2" fmla="*/ 3810000 w 12192000"/>
              <a:gd name="csY2" fmla="*/ 3254771 h 6858000"/>
              <a:gd name="csX3" fmla="*/ 4192510 w 12192000"/>
              <a:gd name="csY3" fmla="*/ 3637281 h 6858000"/>
              <a:gd name="csX4" fmla="*/ 10641090 w 12192000"/>
              <a:gd name="csY4" fmla="*/ 3637281 h 6858000"/>
              <a:gd name="csX5" fmla="*/ 11023600 w 12192000"/>
              <a:gd name="csY5" fmla="*/ 3254771 h 6858000"/>
              <a:gd name="csX6" fmla="*/ 11023600 w 12192000"/>
              <a:gd name="csY6" fmla="*/ 1724779 h 6858000"/>
              <a:gd name="csX7" fmla="*/ 10641090 w 12192000"/>
              <a:gd name="csY7" fmla="*/ 1342269 h 6858000"/>
              <a:gd name="csX8" fmla="*/ 0 w 12192000"/>
              <a:gd name="csY8" fmla="*/ 0 h 6858000"/>
              <a:gd name="csX9" fmla="*/ 12192000 w 12192000"/>
              <a:gd name="csY9" fmla="*/ 0 h 6858000"/>
              <a:gd name="csX10" fmla="*/ 12192000 w 12192000"/>
              <a:gd name="csY10" fmla="*/ 6858000 h 6858000"/>
              <a:gd name="csX11" fmla="*/ 0 w 12192000"/>
              <a:gd name="csY11" fmla="*/ 6858000 h 6858000"/>
            </a:gdLst>
            <a:ahLst/>
            <a:cxnLst/>
            <a:rect l="l" t="t" r="r" b="b"/>
            <a:pathLst>
              <a:path w="12192000" h="6858000">
                <a:moveTo>
                  <a:pt x="4192510" y="1342269"/>
                </a:moveTo>
                <a:cubicBezTo>
                  <a:pt x="3981256" y="1342269"/>
                  <a:pt x="3810000" y="1513525"/>
                  <a:pt x="3810000" y="1724779"/>
                </a:cubicBezTo>
                <a:lnTo>
                  <a:pt x="3810000" y="3254771"/>
                </a:lnTo>
                <a:cubicBezTo>
                  <a:pt x="3810000" y="3466025"/>
                  <a:pt x="3981256" y="3637281"/>
                  <a:pt x="4192510" y="3637281"/>
                </a:cubicBezTo>
                <a:lnTo>
                  <a:pt x="10641090" y="3637281"/>
                </a:lnTo>
                <a:cubicBezTo>
                  <a:pt x="10852344" y="3637281"/>
                  <a:pt x="11023600" y="3466025"/>
                  <a:pt x="11023600" y="3254771"/>
                </a:cubicBezTo>
                <a:lnTo>
                  <a:pt x="11023600" y="1724779"/>
                </a:lnTo>
                <a:cubicBezTo>
                  <a:pt x="11023600" y="1513525"/>
                  <a:pt x="10852344" y="1342269"/>
                  <a:pt x="10641090" y="1342269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65B5FC23-0B2E-B67F-364A-CF2C565F1CC2}"/>
              </a:ext>
            </a:extLst>
          </p:cNvPr>
          <p:cNvSpPr>
            <a:spLocks noGrp="1"/>
          </p:cNvSpPr>
          <p:nvPr/>
        </p:nvSpPr>
        <p:spPr>
          <a:xfrm>
            <a:off x="3810000" y="1342268"/>
            <a:ext cx="7213600" cy="3544692"/>
          </a:xfrm>
          <a:prstGeom prst="roundRect">
            <a:avLst>
              <a:gd name="adj" fmla="val 5489"/>
            </a:avLst>
          </a:prstGeom>
          <a:solidFill>
            <a:schemeClr val="bg2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5F28869-94FD-9C0E-6496-C83767EFBDDB}"/>
              </a:ext>
            </a:extLst>
          </p:cNvPr>
          <p:cNvSpPr>
            <a:spLocks noGrp="1"/>
          </p:cNvSpPr>
          <p:nvPr/>
        </p:nvSpPr>
        <p:spPr>
          <a:xfrm>
            <a:off x="3870960" y="2239643"/>
            <a:ext cx="52019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4000" b="1">
                <a:solidFill>
                  <a:srgbClr val="7030A0"/>
                </a:solidFill>
                <a:latin typeface="Microsoft YaHei"/>
                <a:ea typeface="Microsoft YaHei"/>
                <a:cs typeface="Microsoft YaHei"/>
              </a:rPr>
              <a:t>NOₓ + VOCs </a:t>
            </a:r>
            <a:r>
              <a:rPr sz="4000" b="1">
                <a:solidFill>
                  <a:schemeClr val="bg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→ </a:t>
            </a:r>
            <a:r>
              <a:rPr sz="4000" b="1" u="sng">
                <a:solidFill>
                  <a:schemeClr val="bg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O₃</a:t>
            </a:r>
          </a:p>
        </p:txBody>
      </p:sp>
      <p:pic>
        <p:nvPicPr>
          <p:cNvPr id="39" name="圖形 1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3760" y="1517529"/>
            <a:ext cx="914400" cy="914400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21425292-83E8-FB50-C317-CFE7D2D1C0EC}"/>
              </a:ext>
            </a:extLst>
          </p:cNvPr>
          <p:cNvSpPr>
            <a:spLocks noGrp="1"/>
          </p:cNvSpPr>
          <p:nvPr/>
        </p:nvSpPr>
        <p:spPr>
          <a:xfrm>
            <a:off x="7477760" y="2892433"/>
            <a:ext cx="3190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chemeClr val="bg2">
                    <a:lumMod val="50000"/>
                  </a:schemeClr>
                </a:solidFill>
                <a:latin typeface="-apple-system-body"/>
                <a:ea typeface="-apple-system-body"/>
                <a:cs typeface="-apple-system-body"/>
              </a:rPr>
              <a:t>secondary pollutant</a:t>
            </a:r>
            <a:endParaRPr sz="400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C4220184-9168-682C-3F69-7B83B0EBBA16}"/>
              </a:ext>
            </a:extLst>
          </p:cNvPr>
          <p:cNvSpPr>
            <a:spLocks noGrp="1"/>
          </p:cNvSpPr>
          <p:nvPr/>
        </p:nvSpPr>
        <p:spPr>
          <a:xfrm>
            <a:off x="4064000" y="3702467"/>
            <a:ext cx="6705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sz="2800" b="1">
                <a:solidFill>
                  <a:srgbClr val="7030A0"/>
                </a:solidFill>
              </a:rPr>
              <a:t>Emissions</a:t>
            </a:r>
            <a:r>
              <a:rPr sz="2800" b="1">
                <a:solidFill>
                  <a:schemeClr val="bg1"/>
                </a:solidFill>
              </a:rPr>
              <a:t> </a:t>
            </a:r>
            <a:r>
              <a:rPr sz="2800" b="1">
                <a:solidFill>
                  <a:schemeClr val="bg2">
                    <a:lumMod val="50000"/>
                  </a:schemeClr>
                </a:solidFill>
              </a:rPr>
              <a:t>change slowly, but </a:t>
            </a:r>
            <a:r>
              <a:rPr sz="28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</a:rPr>
              <a:t>weather</a:t>
            </a:r>
            <a:r>
              <a:rPr sz="2800" b="1">
                <a:solidFill>
                  <a:schemeClr val="bg1"/>
                </a:solidFill>
              </a:rPr>
              <a:t> </a:t>
            </a:r>
            <a:r>
              <a:rPr sz="2800" b="1">
                <a:solidFill>
                  <a:schemeClr val="bg2">
                    <a:lumMod val="50000"/>
                  </a:schemeClr>
                </a:solidFill>
              </a:rPr>
              <a:t>changes daily.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2B5A9D8-AFE2-E724-C3BF-F33425F1E8A4}"/>
              </a:ext>
            </a:extLst>
          </p:cNvPr>
          <p:cNvSpPr>
            <a:spLocks noGrp="1"/>
          </p:cNvSpPr>
          <p:nvPr/>
        </p:nvSpPr>
        <p:spPr>
          <a:xfrm>
            <a:off x="457200" y="354498"/>
            <a:ext cx="670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cs typeface="Microsoft YaHei"/>
              </a:rPr>
              <a:t>Why meteorology?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5F814ED-B447-4708-16F4-9B78495933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9F68E2-31C2-4D90-A536-67698CDE3376}" type="slidenum">
              <a:rPr/>
              <a:t>5</a:t>
            </a:fld>
            <a:endParaRPr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551C030-ED5D-4FD8-B33B-BCE4C0E931CD}"/>
              </a:ext>
            </a:extLst>
          </p:cNvPr>
          <p:cNvSpPr>
            <a:spLocks noGrp="1"/>
          </p:cNvSpPr>
          <p:nvPr/>
        </p:nvSpPr>
        <p:spPr>
          <a:xfrm>
            <a:off x="2651760" y="5742432"/>
            <a:ext cx="5486400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anchor="ctr">
            <a:normAutofit/>
          </a:bodyPr>
          <a:lstStyle/>
          <a:p>
            <a:pPr algn="l">
              <a:buNone/>
            </a:pPr>
            <a:r>
              <a:rPr sz="1100" b="1">
                <a:solidFill>
                  <a:srgbClr val="1F5C9E"/>
                </a:solidFill>
                <a:latin typeface="Microsoft JhengHei"/>
                <a:ea typeface="Microsoft JhengHei"/>
                <a:cs typeface="Microsoft JhengHei"/>
              </a:rPr>
              <a:t>【說明】</a:t>
            </a:r>
            <a:r>
              <a:rPr sz="11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排放量變化緩慢、天氣逐日改變,臭氧的短期起伏主要由氣象主導;本研究因此聚焦於量化氣象對臭氧的影響。</a:t>
            </a:r>
          </a:p>
        </p:txBody>
      </p:sp>
    </p:spTree>
    <p:extLst>
      <p:ext uri="{BB962C8B-B14F-4D97-AF65-F5344CB8AC3E}">
        <p14:creationId xmlns:p14="http://schemas.microsoft.com/office/powerpoint/2010/main" val="128988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43F55258-E50E-DAFC-94AF-B963CFD3909F}"/>
              </a:ext>
            </a:extLst>
          </p:cNvPr>
          <p:cNvSpPr>
            <a:spLocks noGrp="1"/>
          </p:cNvSpPr>
          <p:nvPr/>
        </p:nvSpPr>
        <p:spPr>
          <a:xfrm>
            <a:off x="0" y="6319520"/>
            <a:ext cx="12192000" cy="53848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6759D376-A3BC-A573-75E6-3729B4AE632A}"/>
              </a:ext>
            </a:extLst>
          </p:cNvPr>
          <p:cNvSpPr>
            <a:spLocks noGrp="1"/>
          </p:cNvSpPr>
          <p:nvPr/>
        </p:nvSpPr>
        <p:spPr>
          <a:xfrm>
            <a:off x="4064000" y="4534655"/>
            <a:ext cx="670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800" b="1">
                <a:solidFill>
                  <a:schemeClr val="accent5">
                    <a:lumMod val="75000"/>
                  </a:schemeClr>
                </a:solidFill>
                <a:latin typeface="-apple-system-body"/>
                <a:ea typeface="-apple-system-body"/>
                <a:cs typeface="-apple-system-body"/>
              </a:rPr>
              <a:t>MDA8 is the key regulatory metric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13D65DC4-3972-9734-36B6-6C6C6E57C85A}"/>
              </a:ext>
            </a:extLst>
          </p:cNvPr>
          <p:cNvSpPr>
            <a:spLocks noGrp="1"/>
          </p:cNvSpPr>
          <p:nvPr/>
        </p:nvSpPr>
        <p:spPr>
          <a:xfrm>
            <a:off x="5382260" y="5198375"/>
            <a:ext cx="3683000" cy="408623"/>
          </a:xfrm>
          <a:prstGeom prst="round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>
                <a:latin typeface="Cascadia Code"/>
                <a:ea typeface="Cascadia Code"/>
                <a:cs typeface="Cascadia Code"/>
              </a:rPr>
              <a:t>Taiwan standard = 60 ppb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40D83F9-940A-293F-8F1B-A26B5EC94052}"/>
              </a:ext>
            </a:extLst>
          </p:cNvPr>
          <p:cNvSpPr>
            <a:spLocks noGrp="1"/>
          </p:cNvSpPr>
          <p:nvPr/>
        </p:nvSpPr>
        <p:spPr>
          <a:xfrm>
            <a:off x="86360" y="299169"/>
            <a:ext cx="12034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sz="3200" b="1" i="0">
                <a:solidFill>
                  <a:srgbClr val="2F3C72"/>
                </a:solidFill>
                <a:latin typeface="Microsoft YaHei"/>
                <a:ea typeface="Microsoft YaHei"/>
                <a:cs typeface="Microsoft YaHei"/>
              </a:rPr>
              <a:t> 01 Background &amp; Motivation — </a:t>
            </a:r>
            <a:r>
              <a:rPr sz="2000" b="1" i="0">
                <a:solidFill>
                  <a:srgbClr val="2F3C72"/>
                </a:solidFill>
                <a:latin typeface="Microsoft YaHei"/>
                <a:ea typeface="Microsoft YaHei"/>
                <a:cs typeface="Microsoft YaHei"/>
              </a:rPr>
              <a:t>Ozone formation, Regulatory metric</a:t>
            </a:r>
            <a:endParaRPr sz="3200" b="1" i="0">
              <a:solidFill>
                <a:srgbClr val="2F3C7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B75A538-1FC5-8D94-360B-98184251000E}"/>
              </a:ext>
            </a:extLst>
          </p:cNvPr>
          <p:cNvSpPr>
            <a:spLocks noGrp="1"/>
          </p:cNvSpPr>
          <p:nvPr/>
        </p:nvSpPr>
        <p:spPr>
          <a:xfrm>
            <a:off x="4064000" y="3823581"/>
            <a:ext cx="670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800" b="1">
                <a:solidFill>
                  <a:schemeClr val="accent5">
                    <a:lumMod val="75000"/>
                  </a:schemeClr>
                </a:solidFill>
                <a:latin typeface="-apple-system-body"/>
                <a:ea typeface="-apple-system-body"/>
                <a:cs typeface="-apple-system-body"/>
              </a:rPr>
              <a:t>MDA8 is the key regulatory metric</a:t>
            </a:r>
          </a:p>
        </p:txBody>
      </p:sp>
      <p:sp>
        <p:nvSpPr>
          <p:cNvPr id="8" name="手繪多邊形: 圖案 7">
            <a:extLst>
              <a:ext uri="{FF2B5EF4-FFF2-40B4-BE49-F238E27FC236}">
                <a16:creationId xmlns:a16="http://schemas.microsoft.com/office/drawing/2014/main" id="{079EC6FE-FEC0-8413-2ECA-CAA30A25D4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sX0" fmla="*/ 4192510 w 12192000"/>
              <a:gd name="csY0" fmla="*/ 1342269 h 6858000"/>
              <a:gd name="csX1" fmla="*/ 3810000 w 12192000"/>
              <a:gd name="csY1" fmla="*/ 1724779 h 6858000"/>
              <a:gd name="csX2" fmla="*/ 3810000 w 12192000"/>
              <a:gd name="csY2" fmla="*/ 3254771 h 6858000"/>
              <a:gd name="csX3" fmla="*/ 4192510 w 12192000"/>
              <a:gd name="csY3" fmla="*/ 3637281 h 6858000"/>
              <a:gd name="csX4" fmla="*/ 10641090 w 12192000"/>
              <a:gd name="csY4" fmla="*/ 3637281 h 6858000"/>
              <a:gd name="csX5" fmla="*/ 11023600 w 12192000"/>
              <a:gd name="csY5" fmla="*/ 3254771 h 6858000"/>
              <a:gd name="csX6" fmla="*/ 11023600 w 12192000"/>
              <a:gd name="csY6" fmla="*/ 1724779 h 6858000"/>
              <a:gd name="csX7" fmla="*/ 10641090 w 12192000"/>
              <a:gd name="csY7" fmla="*/ 1342269 h 6858000"/>
              <a:gd name="csX8" fmla="*/ 0 w 12192000"/>
              <a:gd name="csY8" fmla="*/ 0 h 6858000"/>
              <a:gd name="csX9" fmla="*/ 12192000 w 12192000"/>
              <a:gd name="csY9" fmla="*/ 0 h 6858000"/>
              <a:gd name="csX10" fmla="*/ 12192000 w 12192000"/>
              <a:gd name="csY10" fmla="*/ 6858000 h 6858000"/>
              <a:gd name="csX11" fmla="*/ 0 w 12192000"/>
              <a:gd name="csY11" fmla="*/ 6858000 h 6858000"/>
            </a:gdLst>
            <a:ahLst/>
            <a:cxnLst/>
            <a:rect l="l" t="t" r="r" b="b"/>
            <a:pathLst>
              <a:path w="12192000" h="6858000">
                <a:moveTo>
                  <a:pt x="4192510" y="1342269"/>
                </a:moveTo>
                <a:cubicBezTo>
                  <a:pt x="3981256" y="1342269"/>
                  <a:pt x="3810000" y="1513525"/>
                  <a:pt x="3810000" y="1724779"/>
                </a:cubicBezTo>
                <a:lnTo>
                  <a:pt x="3810000" y="3254771"/>
                </a:lnTo>
                <a:cubicBezTo>
                  <a:pt x="3810000" y="3466025"/>
                  <a:pt x="3981256" y="3637281"/>
                  <a:pt x="4192510" y="3637281"/>
                </a:cubicBezTo>
                <a:lnTo>
                  <a:pt x="10641090" y="3637281"/>
                </a:lnTo>
                <a:cubicBezTo>
                  <a:pt x="10852344" y="3637281"/>
                  <a:pt x="11023600" y="3466025"/>
                  <a:pt x="11023600" y="3254771"/>
                </a:cubicBezTo>
                <a:lnTo>
                  <a:pt x="11023600" y="1724779"/>
                </a:lnTo>
                <a:cubicBezTo>
                  <a:pt x="11023600" y="1513525"/>
                  <a:pt x="10852344" y="1342269"/>
                  <a:pt x="10641090" y="1342269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644FF56D-3350-F269-601A-27DA8CE8BF00}"/>
              </a:ext>
            </a:extLst>
          </p:cNvPr>
          <p:cNvSpPr>
            <a:spLocks noGrp="1"/>
          </p:cNvSpPr>
          <p:nvPr/>
        </p:nvSpPr>
        <p:spPr>
          <a:xfrm>
            <a:off x="3810000" y="1342268"/>
            <a:ext cx="7213600" cy="3544692"/>
          </a:xfrm>
          <a:prstGeom prst="roundRect">
            <a:avLst>
              <a:gd name="adj" fmla="val 5489"/>
            </a:avLst>
          </a:prstGeom>
          <a:solidFill>
            <a:schemeClr val="bg2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B2687C8-9121-2BF0-78EE-1AF7FAC3B620}"/>
              </a:ext>
            </a:extLst>
          </p:cNvPr>
          <p:cNvSpPr>
            <a:spLocks noGrp="1"/>
          </p:cNvSpPr>
          <p:nvPr/>
        </p:nvSpPr>
        <p:spPr>
          <a:xfrm>
            <a:off x="4064000" y="3840520"/>
            <a:ext cx="670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sz="2800" b="1">
                <a:solidFill>
                  <a:srgbClr val="7030A0"/>
                </a:solidFill>
              </a:rPr>
              <a:t>Kaohsiung is a persistent </a:t>
            </a:r>
            <a:r>
              <a:rPr sz="2800" b="1">
                <a:solidFill>
                  <a:srgbClr val="C00000"/>
                </a:solidFill>
              </a:rPr>
              <a:t>O₃ hotspot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2EF744D3-E903-F4F7-50D1-7F8C39E77FCC}"/>
              </a:ext>
            </a:extLst>
          </p:cNvPr>
          <p:cNvSpPr>
            <a:spLocks noGrp="1"/>
          </p:cNvSpPr>
          <p:nvPr/>
        </p:nvSpPr>
        <p:spPr>
          <a:xfrm>
            <a:off x="457200" y="354498"/>
            <a:ext cx="670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cs typeface="Microsoft YaHei"/>
              </a:rPr>
              <a:t>Why Kaohsiung?</a:t>
            </a:r>
          </a:p>
        </p:txBody>
      </p:sp>
      <p:pic>
        <p:nvPicPr>
          <p:cNvPr id="38" name="圖形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9840" y="1686600"/>
            <a:ext cx="2153920" cy="215392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89CADF8-CBE5-9073-2C37-22D3F95940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9F68E2-31C2-4D90-A536-67698CDE3376}" type="slidenum">
              <a:rPr/>
              <a:t>6</a:t>
            </a:fld>
            <a:endParaRPr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8B8F151-F507-4DF3-97C3-4DED5969EF31}"/>
              </a:ext>
            </a:extLst>
          </p:cNvPr>
          <p:cNvSpPr>
            <a:spLocks noGrp="1"/>
          </p:cNvSpPr>
          <p:nvPr/>
        </p:nvSpPr>
        <p:spPr>
          <a:xfrm>
            <a:off x="2651760" y="5742432"/>
            <a:ext cx="5486400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anchor="ctr">
            <a:normAutofit/>
          </a:bodyPr>
          <a:lstStyle/>
          <a:p>
            <a:pPr algn="l">
              <a:buNone/>
            </a:pPr>
            <a:r>
              <a:rPr sz="1100" b="1">
                <a:solidFill>
                  <a:srgbClr val="1F5C9E"/>
                </a:solidFill>
                <a:latin typeface="Microsoft JhengHei"/>
                <a:ea typeface="Microsoft JhengHei"/>
                <a:cs typeface="Microsoft JhengHei"/>
              </a:rPr>
              <a:t>【說明】</a:t>
            </a:r>
            <a:r>
              <a:rPr sz="11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高雄工業與石化密集,是台灣長期的臭氧熱點、常有超標,適合用來檢視臭氧問題與減量成效。</a:t>
            </a:r>
          </a:p>
        </p:txBody>
      </p:sp>
    </p:spTree>
    <p:extLst>
      <p:ext uri="{BB962C8B-B14F-4D97-AF65-F5344CB8AC3E}">
        <p14:creationId xmlns:p14="http://schemas.microsoft.com/office/powerpoint/2010/main" val="654795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B8CCBE29-DE17-B59A-021D-80D003721714}"/>
              </a:ext>
            </a:extLst>
          </p:cNvPr>
          <p:cNvSpPr>
            <a:spLocks noGrp="1"/>
          </p:cNvSpPr>
          <p:nvPr/>
        </p:nvSpPr>
        <p:spPr>
          <a:xfrm>
            <a:off x="0" y="6319520"/>
            <a:ext cx="12192000" cy="53848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FF145C0-2F16-3808-BFA9-4399E485874A}"/>
              </a:ext>
            </a:extLst>
          </p:cNvPr>
          <p:cNvSpPr>
            <a:spLocks noGrp="1"/>
          </p:cNvSpPr>
          <p:nvPr/>
        </p:nvSpPr>
        <p:spPr>
          <a:xfrm>
            <a:off x="86360" y="299169"/>
            <a:ext cx="1203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2F3C72"/>
                </a:solidFill>
                <a:latin typeface="Microsoft YaHei"/>
                <a:ea typeface="Microsoft YaHei"/>
                <a:cs typeface="Microsoft YaHei"/>
              </a:rPr>
              <a:t> </a:t>
            </a:r>
            <a:r>
              <a:rPr sz="2800" b="1">
                <a:solidFill>
                  <a:srgbClr val="2F3C72"/>
                </a:solidFill>
                <a:latin typeface="Microsoft YaHei"/>
                <a:ea typeface="Microsoft YaHei"/>
                <a:cs typeface="Microsoft YaHei"/>
              </a:rPr>
              <a:t>Introduction</a:t>
            </a:r>
            <a:r>
              <a:rPr sz="2800" b="1" i="0">
                <a:solidFill>
                  <a:srgbClr val="2F3C72"/>
                </a:solidFill>
                <a:latin typeface="Microsoft YaHei"/>
                <a:ea typeface="Microsoft YaHei"/>
                <a:cs typeface="Microsoft YaHei"/>
              </a:rPr>
              <a:t>2 Objectives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995EA75E-0728-1B43-8AED-CDCA40226E44}"/>
              </a:ext>
            </a:extLst>
          </p:cNvPr>
          <p:cNvSpPr>
            <a:spLocks noGrp="1"/>
          </p:cNvSpPr>
          <p:nvPr/>
        </p:nvSpPr>
        <p:spPr>
          <a:xfrm>
            <a:off x="1808622" y="3723910"/>
            <a:ext cx="70602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chemeClr val="accent5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III. Identify High-O₃ Conditions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3F628ED9-6CF7-A865-8219-B396AA56AFC9}"/>
              </a:ext>
            </a:extLst>
          </p:cNvPr>
          <p:cNvSpPr>
            <a:spLocks noGrp="1"/>
          </p:cNvSpPr>
          <p:nvPr/>
        </p:nvSpPr>
        <p:spPr>
          <a:xfrm>
            <a:off x="2461186" y="4202039"/>
            <a:ext cx="48919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chemeClr val="bg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Meteorological profiles of event days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AB45CEBE-7B61-1AC7-E1E4-BE15F998AF5A}"/>
              </a:ext>
            </a:extLst>
          </p:cNvPr>
          <p:cNvSpPr>
            <a:spLocks noGrp="1"/>
          </p:cNvSpPr>
          <p:nvPr/>
        </p:nvSpPr>
        <p:spPr>
          <a:xfrm>
            <a:off x="610185" y="4817864"/>
            <a:ext cx="70602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chemeClr val="accent5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IV. Assess the Long-Term Trend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400AE5D8-93F8-9468-8AE6-3E6CA89400A3}"/>
              </a:ext>
            </a:extLst>
          </p:cNvPr>
          <p:cNvSpPr>
            <a:spLocks noGrp="1"/>
          </p:cNvSpPr>
          <p:nvPr/>
        </p:nvSpPr>
        <p:spPr>
          <a:xfrm>
            <a:off x="1255490" y="5284162"/>
            <a:ext cx="48919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chemeClr val="bg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Changes during 2018–2025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9D26B4C8-2670-9AE0-2537-80C3A3565C36}"/>
              </a:ext>
            </a:extLst>
          </p:cNvPr>
          <p:cNvSpPr>
            <a:spLocks noGrp="1"/>
          </p:cNvSpPr>
          <p:nvPr/>
        </p:nvSpPr>
        <p:spPr>
          <a:xfrm>
            <a:off x="2929218" y="2637744"/>
            <a:ext cx="7635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chemeClr val="accent5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II. Quantify Meteorological Drivers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ACDE8DE9-74BA-C015-2668-B4427972ED36}"/>
              </a:ext>
            </a:extLst>
          </p:cNvPr>
          <p:cNvSpPr>
            <a:spLocks noGrp="1"/>
          </p:cNvSpPr>
          <p:nvPr/>
        </p:nvSpPr>
        <p:spPr>
          <a:xfrm>
            <a:off x="3473295" y="3108085"/>
            <a:ext cx="48919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chemeClr val="bg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Key controls on MDA8 O₃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E6A4CFD5-9773-EDCD-F3AA-6E83B398C8B7}"/>
              </a:ext>
            </a:extLst>
          </p:cNvPr>
          <p:cNvSpPr>
            <a:spLocks noGrp="1"/>
          </p:cNvSpPr>
          <p:nvPr/>
        </p:nvSpPr>
        <p:spPr>
          <a:xfrm>
            <a:off x="3986556" y="1580748"/>
            <a:ext cx="60653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chemeClr val="accent5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I. Characterize O₃ Patterns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96CF5C6E-9E49-02B1-82D5-5663D5E5AB07}"/>
              </a:ext>
            </a:extLst>
          </p:cNvPr>
          <p:cNvSpPr>
            <a:spLocks noGrp="1"/>
          </p:cNvSpPr>
          <p:nvPr/>
        </p:nvSpPr>
        <p:spPr>
          <a:xfrm>
            <a:off x="4378592" y="2021919"/>
            <a:ext cx="48919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chemeClr val="bg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Spatial and temporal variability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2419567-DF03-13B3-8FF3-61A14D9303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9F68E2-31C2-4D90-A536-67698CDE3376}" type="slidenum">
              <a:rPr/>
              <a:t>7</a:t>
            </a:fld>
            <a:endParaRPr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3C6B599-3330-4361-94F0-9EBEED572E5C}"/>
              </a:ext>
            </a:extLst>
          </p:cNvPr>
          <p:cNvSpPr>
            <a:spLocks noGrp="1"/>
          </p:cNvSpPr>
          <p:nvPr/>
        </p:nvSpPr>
        <p:spPr>
          <a:xfrm>
            <a:off x="411480" y="5788152"/>
            <a:ext cx="7863840" cy="4754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anchor="ctr">
            <a:normAutofit/>
          </a:bodyPr>
          <a:lstStyle/>
          <a:p>
            <a:pPr algn="l">
              <a:buNone/>
            </a:pPr>
            <a:r>
              <a:rPr sz="1100" b="1">
                <a:solidFill>
                  <a:srgbClr val="1F5C9E"/>
                </a:solidFill>
                <a:latin typeface="Microsoft JhengHei"/>
                <a:ea typeface="Microsoft JhengHei"/>
                <a:cs typeface="Microsoft JhengHei"/>
              </a:rPr>
              <a:t>【說明】</a:t>
            </a:r>
            <a:r>
              <a:rPr sz="11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四項目標:描述臭氧時空分布、量化氣象驅動因子、辨識高臭氧事件的天氣條件,並檢定 2018–2025 的長期趨勢。</a:t>
            </a:r>
          </a:p>
        </p:txBody>
      </p:sp>
    </p:spTree>
    <p:extLst>
      <p:ext uri="{BB962C8B-B14F-4D97-AF65-F5344CB8AC3E}">
        <p14:creationId xmlns:p14="http://schemas.microsoft.com/office/powerpoint/2010/main" val="3597248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9F828742-37E2-F2D0-8569-E033ACC4C855}"/>
              </a:ext>
            </a:extLst>
          </p:cNvPr>
          <p:cNvSpPr>
            <a:spLocks noGrp="1"/>
          </p:cNvSpPr>
          <p:nvPr/>
        </p:nvSpPr>
        <p:spPr>
          <a:xfrm>
            <a:off x="0" y="3089802"/>
            <a:ext cx="12192000" cy="1414821"/>
          </a:xfrm>
          <a:prstGeom prst="rect">
            <a:avLst/>
          </a:prstGeom>
          <a:gradFill>
            <a:gsLst>
              <a:gs pos="0">
                <a:srgbClr val="2F3871">
                  <a:alpha val="0"/>
                </a:srgbClr>
              </a:gs>
              <a:gs pos="56000">
                <a:srgbClr val="2F3871">
                  <a:alpha val="76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5365EBE-3E78-65D1-4031-D4C17A29AD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47782"/>
          </a:xfrm>
          <a:prstGeom prst="rect">
            <a:avLst/>
          </a:prstGeom>
          <a:solidFill>
            <a:srgbClr val="2F3D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8BCDCB37-E569-58D7-30D8-10A838E6AA31}"/>
              </a:ext>
            </a:extLst>
          </p:cNvPr>
          <p:cNvSpPr>
            <a:spLocks noGrp="1"/>
          </p:cNvSpPr>
          <p:nvPr/>
        </p:nvSpPr>
        <p:spPr>
          <a:xfrm>
            <a:off x="5048701" y="464033"/>
            <a:ext cx="3269389" cy="3269389"/>
          </a:xfrm>
          <a:prstGeom prst="ellipse">
            <a:avLst/>
          </a:prstGeom>
          <a:solidFill>
            <a:schemeClr val="accent5">
              <a:lumMod val="50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99B3BD54-6679-6244-B51B-8CB1DF628AEE}"/>
              </a:ext>
            </a:extLst>
          </p:cNvPr>
          <p:cNvSpPr>
            <a:spLocks noGrp="1"/>
          </p:cNvSpPr>
          <p:nvPr/>
        </p:nvSpPr>
        <p:spPr>
          <a:xfrm>
            <a:off x="-1209367" y="1904999"/>
            <a:ext cx="3048000" cy="3048000"/>
          </a:xfrm>
          <a:prstGeom prst="ellipse">
            <a:avLst/>
          </a:prstGeom>
          <a:solidFill>
            <a:schemeClr val="accent5">
              <a:lumMod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0107417A-4E8E-E002-58E1-1CE89B690B25}"/>
              </a:ext>
            </a:extLst>
          </p:cNvPr>
          <p:cNvSpPr>
            <a:spLocks noGrp="1"/>
          </p:cNvSpPr>
          <p:nvPr/>
        </p:nvSpPr>
        <p:spPr>
          <a:xfrm>
            <a:off x="9906000" y="1219775"/>
            <a:ext cx="3048000" cy="3048000"/>
          </a:xfrm>
          <a:prstGeom prst="ellipse">
            <a:avLst/>
          </a:prstGeom>
          <a:solidFill>
            <a:schemeClr val="accent5">
              <a:lumMod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E62CB27-1C62-62A6-6A8C-55EEDAA8EAC7}"/>
              </a:ext>
            </a:extLst>
          </p:cNvPr>
          <p:cNvSpPr>
            <a:spLocks noGrp="1"/>
          </p:cNvSpPr>
          <p:nvPr/>
        </p:nvSpPr>
        <p:spPr>
          <a:xfrm>
            <a:off x="314633" y="3217338"/>
            <a:ext cx="70812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>
                <a:solidFill>
                  <a:schemeClr val="bg1"/>
                </a:solidFill>
              </a:rPr>
              <a:t>02 Method</a:t>
            </a:r>
          </a:p>
        </p:txBody>
      </p:sp>
    </p:spTree>
    <p:extLst>
      <p:ext uri="{BB962C8B-B14F-4D97-AF65-F5344CB8AC3E}">
        <p14:creationId xmlns:p14="http://schemas.microsoft.com/office/powerpoint/2010/main" val="2499079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7A5D13C-F9B6-7DC3-9E11-D55DC3081035}"/>
              </a:ext>
            </a:extLst>
          </p:cNvPr>
          <p:cNvSpPr>
            <a:spLocks noGrp="1"/>
          </p:cNvSpPr>
          <p:nvPr/>
        </p:nvSpPr>
        <p:spPr>
          <a:xfrm>
            <a:off x="0" y="6471374"/>
            <a:ext cx="12192000" cy="386626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C29B1FE3-D98A-B831-1CD1-EC8DABD18912}"/>
              </a:ext>
            </a:extLst>
          </p:cNvPr>
          <p:cNvSpPr>
            <a:spLocks noGrp="1"/>
          </p:cNvSpPr>
          <p:nvPr/>
        </p:nvSpPr>
        <p:spPr>
          <a:xfrm>
            <a:off x="4777772" y="1169043"/>
            <a:ext cx="7213600" cy="264146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40" name="圖片 2"/>
          <p:cNvPicPr>
            <a:picLocks noChangeAspect="1"/>
          </p:cNvPicPr>
          <p:nvPr/>
        </p:nvPicPr>
        <p:blipFill>
          <a:blip r:embed="rId3"/>
          <a:srcRect b="40591"/>
          <a:stretch>
            <a:fillRect/>
          </a:stretch>
        </p:blipFill>
        <p:spPr>
          <a:xfrm>
            <a:off x="467766" y="1956122"/>
            <a:ext cx="4057018" cy="3408744"/>
          </a:xfrm>
          <a:prstGeom prst="roundRect">
            <a:avLst>
              <a:gd name="adj" fmla="val 7564"/>
            </a:avLst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7D1E5826-6DB1-18B0-DC08-27DC247C07DD}"/>
              </a:ext>
            </a:extLst>
          </p:cNvPr>
          <p:cNvSpPr>
            <a:spLocks noGrp="1"/>
          </p:cNvSpPr>
          <p:nvPr/>
        </p:nvSpPr>
        <p:spPr>
          <a:xfrm>
            <a:off x="86360" y="309001"/>
            <a:ext cx="1203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sz="2800" b="1" i="0">
                <a:solidFill>
                  <a:srgbClr val="2F3C72"/>
                </a:solidFill>
                <a:latin typeface="Microsoft YaHei"/>
                <a:ea typeface="Microsoft YaHei"/>
                <a:cs typeface="Microsoft YaHei"/>
              </a:rPr>
              <a:t>Method1 Data &amp; Study Area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8EBDE8A-A7CA-1F8D-BDF2-6EDC93EE61B2}"/>
              </a:ext>
            </a:extLst>
          </p:cNvPr>
          <p:cNvSpPr>
            <a:spLocks noGrp="1"/>
          </p:cNvSpPr>
          <p:nvPr/>
        </p:nvSpPr>
        <p:spPr>
          <a:xfrm>
            <a:off x="5031772" y="2459822"/>
            <a:ext cx="670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 b="1">
                <a:solidFill>
                  <a:schemeClr val="accent5">
                    <a:lumMod val="75000"/>
                  </a:schemeClr>
                </a:solidFill>
                <a:latin typeface="Microsoft YaHei"/>
                <a:ea typeface="Microsoft YaHei"/>
                <a:cs typeface="Microsoft YaHei"/>
              </a:rPr>
              <a:t>Hourly O3</a:t>
            </a:r>
            <a:r>
              <a:rPr b="1">
                <a:solidFill>
                  <a:schemeClr val="accent5">
                    <a:lumMod val="75000"/>
                  </a:schemeClr>
                </a:solidFill>
                <a:latin typeface="Microsoft YaHei"/>
                <a:ea typeface="Microsoft YaHei"/>
                <a:cs typeface="Microsoft YaHei"/>
              </a:rPr>
              <a:t>​ </a:t>
            </a:r>
            <a:r>
              <a:rPr b="1">
                <a:solidFill>
                  <a:schemeClr val="bg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→ </a:t>
            </a:r>
            <a:r>
              <a:rPr sz="2000" b="1">
                <a:solidFill>
                  <a:schemeClr val="accent5">
                    <a:lumMod val="75000"/>
                  </a:schemeClr>
                </a:solidFill>
                <a:latin typeface="Microsoft YaHei"/>
                <a:ea typeface="Microsoft YaHei"/>
                <a:cs typeface="Microsoft YaHei"/>
              </a:rPr>
              <a:t>8-h rolling mean </a:t>
            </a:r>
            <a:r>
              <a:rPr b="1">
                <a:solidFill>
                  <a:schemeClr val="bg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→ </a:t>
            </a:r>
            <a:r>
              <a:rPr sz="2000" b="1">
                <a:solidFill>
                  <a:schemeClr val="accent5">
                    <a:lumMod val="75000"/>
                  </a:schemeClr>
                </a:solidFill>
                <a:latin typeface="Microsoft YaHei"/>
                <a:ea typeface="Microsoft YaHei"/>
                <a:cs typeface="Microsoft YaHei"/>
              </a:rPr>
              <a:t>Daily MDA8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2B3AD8A-F57A-0E43-68EB-30226BFA6C64}"/>
              </a:ext>
            </a:extLst>
          </p:cNvPr>
          <p:cNvSpPr>
            <a:spLocks noGrp="1"/>
          </p:cNvSpPr>
          <p:nvPr/>
        </p:nvSpPr>
        <p:spPr>
          <a:xfrm>
            <a:off x="5003158" y="1429089"/>
            <a:ext cx="6094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b="1">
                <a:latin typeface="Microsoft YaHei"/>
                <a:ea typeface="Microsoft YaHei"/>
                <a:cs typeface="Microsoft YaHei"/>
              </a:rPr>
              <a:t>Air Quality</a:t>
            </a:r>
          </a:p>
          <a:p>
            <a:pPr>
              <a:buNone/>
            </a:pPr>
            <a:r>
              <a:rPr b="1">
                <a:latin typeface="Microsoft YaHei"/>
                <a:ea typeface="Microsoft YaHei"/>
                <a:cs typeface="Microsoft YaHei"/>
              </a:rPr>
              <a:t>MOENV monitoring stations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A100B66-C761-4F41-9DD4-617E01EE873B}"/>
              </a:ext>
            </a:extLst>
          </p:cNvPr>
          <p:cNvSpPr>
            <a:spLocks noGrp="1"/>
          </p:cNvSpPr>
          <p:nvPr/>
        </p:nvSpPr>
        <p:spPr>
          <a:xfrm>
            <a:off x="5003158" y="3244334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Microsoft YaHei"/>
                <a:ea typeface="Microsoft YaHei"/>
                <a:cs typeface="Microsoft YaHei"/>
              </a:rPr>
              <a:t>2018–2025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58CEB52D-535E-6EDA-B9E2-2FFDFA38FB35}"/>
              </a:ext>
            </a:extLst>
          </p:cNvPr>
          <p:cNvSpPr>
            <a:spLocks noGrp="1"/>
          </p:cNvSpPr>
          <p:nvPr/>
        </p:nvSpPr>
        <p:spPr>
          <a:xfrm>
            <a:off x="5124489" y="5004559"/>
            <a:ext cx="5220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3200" b="0" i="0">
                <a:solidFill>
                  <a:srgbClr val="0D0D0D"/>
                </a:solidFill>
                <a:latin typeface="Microsoft YaHei"/>
                <a:ea typeface="Microsoft YaHei"/>
                <a:cs typeface="Microsoft YaHei"/>
              </a:rPr>
              <a:t>🌡  </a:t>
            </a:r>
            <a:endParaRPr sz="44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CB74C576-949D-185A-626B-117D15461EA7}"/>
              </a:ext>
            </a:extLst>
          </p:cNvPr>
          <p:cNvSpPr>
            <a:spLocks noGrp="1"/>
          </p:cNvSpPr>
          <p:nvPr/>
        </p:nvSpPr>
        <p:spPr>
          <a:xfrm>
            <a:off x="5003158" y="4224153"/>
            <a:ext cx="6094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latin typeface="Microsoft YaHei"/>
                <a:ea typeface="Microsoft YaHei"/>
                <a:cs typeface="Microsoft YaHei"/>
              </a:rPr>
              <a:t>Meteorology</a:t>
            </a:r>
          </a:p>
          <a:p>
            <a:r>
              <a:rPr b="1">
                <a:latin typeface="Microsoft YaHei"/>
                <a:ea typeface="Microsoft YaHei"/>
                <a:cs typeface="Microsoft YaHei"/>
              </a:rPr>
              <a:t>Station-level observations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CE1E5935-459C-53DC-9E43-F3CE199D549D}"/>
              </a:ext>
            </a:extLst>
          </p:cNvPr>
          <p:cNvSpPr>
            <a:spLocks noGrp="1"/>
          </p:cNvSpPr>
          <p:nvPr/>
        </p:nvSpPr>
        <p:spPr>
          <a:xfrm>
            <a:off x="5646577" y="5143059"/>
            <a:ext cx="14166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0D0D0D"/>
                </a:solidFill>
                <a:latin typeface="Microsoft YaHei"/>
                <a:ea typeface="Microsoft YaHei"/>
                <a:cs typeface="Microsoft YaHei"/>
              </a:rPr>
              <a:t>Temperature</a:t>
            </a:r>
            <a:endParaRPr sz="120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1C8728FE-BD0A-9CF9-152D-8D6CA0170F45}"/>
              </a:ext>
            </a:extLst>
          </p:cNvPr>
          <p:cNvSpPr>
            <a:spLocks noGrp="1"/>
          </p:cNvSpPr>
          <p:nvPr/>
        </p:nvSpPr>
        <p:spPr>
          <a:xfrm>
            <a:off x="7063274" y="5004559"/>
            <a:ext cx="5220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3200" b="0" i="0">
                <a:solidFill>
                  <a:srgbClr val="0D0D0D"/>
                </a:solidFill>
                <a:latin typeface="Microsoft YaHei"/>
                <a:ea typeface="Microsoft YaHei"/>
                <a:cs typeface="Microsoft YaHei"/>
              </a:rPr>
              <a:t>💨 </a:t>
            </a:r>
            <a:endParaRPr sz="44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0822A488-8C3B-1854-799D-9EA966FDFF5D}"/>
              </a:ext>
            </a:extLst>
          </p:cNvPr>
          <p:cNvSpPr>
            <a:spLocks noGrp="1"/>
          </p:cNvSpPr>
          <p:nvPr/>
        </p:nvSpPr>
        <p:spPr>
          <a:xfrm>
            <a:off x="7585362" y="5143059"/>
            <a:ext cx="14166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0D0D0D"/>
                </a:solidFill>
                <a:latin typeface="Microsoft YaHei"/>
                <a:ea typeface="Microsoft YaHei"/>
                <a:cs typeface="Microsoft YaHei"/>
              </a:rPr>
              <a:t>Wind speed </a:t>
            </a:r>
            <a:endParaRPr sz="120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5C331C6C-1831-E4D4-E108-B58DCB823349}"/>
              </a:ext>
            </a:extLst>
          </p:cNvPr>
          <p:cNvSpPr>
            <a:spLocks noGrp="1"/>
          </p:cNvSpPr>
          <p:nvPr/>
        </p:nvSpPr>
        <p:spPr>
          <a:xfrm>
            <a:off x="9002059" y="5004559"/>
            <a:ext cx="5220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3200" b="0" i="0">
                <a:solidFill>
                  <a:srgbClr val="0D0D0D"/>
                </a:solidFill>
                <a:latin typeface="Microsoft YaHei"/>
                <a:ea typeface="Microsoft YaHei"/>
                <a:cs typeface="Microsoft YaHei"/>
              </a:rPr>
              <a:t>🌧 </a:t>
            </a:r>
            <a:endParaRPr sz="44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6AF5DE08-39F3-FE95-CD3A-A507F4472F98}"/>
              </a:ext>
            </a:extLst>
          </p:cNvPr>
          <p:cNvSpPr>
            <a:spLocks noGrp="1"/>
          </p:cNvSpPr>
          <p:nvPr/>
        </p:nvSpPr>
        <p:spPr>
          <a:xfrm>
            <a:off x="9524147" y="5143059"/>
            <a:ext cx="14166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0D0D0D"/>
                </a:solidFill>
                <a:latin typeface="Microsoft YaHei"/>
                <a:ea typeface="Microsoft YaHei"/>
                <a:cs typeface="Microsoft YaHei"/>
              </a:rPr>
              <a:t>Precipitation</a:t>
            </a:r>
            <a:endParaRPr sz="120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FD3B3491-C8B8-E892-5773-1919DC0F29E7}"/>
              </a:ext>
            </a:extLst>
          </p:cNvPr>
          <p:cNvSpPr>
            <a:spLocks noGrp="1"/>
          </p:cNvSpPr>
          <p:nvPr/>
        </p:nvSpPr>
        <p:spPr>
          <a:xfrm>
            <a:off x="6159603" y="5707915"/>
            <a:ext cx="5220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3200" b="0" i="0">
                <a:solidFill>
                  <a:srgbClr val="0D0D0D"/>
                </a:solidFill>
                <a:latin typeface="Microsoft YaHei"/>
                <a:ea typeface="Microsoft YaHei"/>
                <a:cs typeface="Microsoft YaHei"/>
              </a:rPr>
              <a:t>🧭 </a:t>
            </a:r>
            <a:endParaRPr sz="44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43407FCA-0717-2E1B-12DC-5762FEE18FE8}"/>
              </a:ext>
            </a:extLst>
          </p:cNvPr>
          <p:cNvSpPr>
            <a:spLocks noGrp="1"/>
          </p:cNvSpPr>
          <p:nvPr/>
        </p:nvSpPr>
        <p:spPr>
          <a:xfrm>
            <a:off x="6680718" y="5846415"/>
            <a:ext cx="15043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0D0D0D"/>
                </a:solidFill>
                <a:latin typeface="Microsoft YaHei"/>
                <a:ea typeface="Microsoft YaHei"/>
                <a:cs typeface="Microsoft YaHei"/>
              </a:rPr>
              <a:t>Wind direction</a:t>
            </a:r>
            <a:endParaRPr sz="120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99DC5A41-A5C6-419E-E8E6-E82C238B4B3A}"/>
              </a:ext>
            </a:extLst>
          </p:cNvPr>
          <p:cNvSpPr>
            <a:spLocks noGrp="1"/>
          </p:cNvSpPr>
          <p:nvPr/>
        </p:nvSpPr>
        <p:spPr>
          <a:xfrm>
            <a:off x="8185067" y="5745996"/>
            <a:ext cx="5220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800" b="0" i="0">
                <a:solidFill>
                  <a:srgbClr val="0D0D0D"/>
                </a:solidFill>
                <a:latin typeface="Microsoft YaHei"/>
                <a:ea typeface="Microsoft YaHei"/>
                <a:cs typeface="Microsoft YaHei"/>
              </a:rPr>
              <a:t>💧 </a:t>
            </a:r>
            <a:endParaRPr sz="40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28A6BDDD-B87C-7C61-0106-9A96B304293C}"/>
              </a:ext>
            </a:extLst>
          </p:cNvPr>
          <p:cNvSpPr>
            <a:spLocks noGrp="1"/>
          </p:cNvSpPr>
          <p:nvPr/>
        </p:nvSpPr>
        <p:spPr>
          <a:xfrm>
            <a:off x="8707155" y="5846415"/>
            <a:ext cx="17431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0D0D0D"/>
                </a:solidFill>
                <a:latin typeface="Microsoft YaHei"/>
                <a:ea typeface="Microsoft YaHei"/>
                <a:cs typeface="Microsoft YaHei"/>
              </a:rPr>
              <a:t>Relative humidity</a:t>
            </a:r>
            <a:endParaRPr sz="120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E459E00-916E-55DA-3378-A74E38BD98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9F68E2-31C2-4D90-A536-67698CDE3376}" type="slidenum">
              <a:rPr/>
              <a:t>9</a:t>
            </a:fld>
            <a:endParaRPr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7F64C35C-E9A8-4C91-85E2-6D60E1FD4EA0}"/>
              </a:ext>
            </a:extLst>
          </p:cNvPr>
          <p:cNvSpPr>
            <a:spLocks noGrp="1"/>
          </p:cNvSpPr>
          <p:nvPr/>
        </p:nvSpPr>
        <p:spPr>
          <a:xfrm>
            <a:off x="411480" y="6391656"/>
            <a:ext cx="7863840" cy="4206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anchor="ctr">
            <a:normAutofit/>
          </a:bodyPr>
          <a:lstStyle/>
          <a:p>
            <a:pPr algn="l">
              <a:buNone/>
            </a:pPr>
            <a:r>
              <a:rPr sz="1100" b="1">
                <a:solidFill>
                  <a:srgbClr val="1F5C9E"/>
                </a:solidFill>
                <a:latin typeface="Microsoft JhengHei"/>
                <a:ea typeface="Microsoft JhengHei"/>
                <a:cs typeface="Microsoft JhengHei"/>
              </a:rPr>
              <a:t>【說明】</a:t>
            </a:r>
            <a:r>
              <a:rPr sz="11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資料為環境部高雄 12 測站逐時臭氧(換算每日 MDA8)與同期氣象,另補中央氣象署日照時數,期間 2018–2025。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0409504-5FF7-EC6A-F219-2EBFB9BDBB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1968" y="340414"/>
            <a:ext cx="2248214" cy="1790950"/>
          </a:xfrm>
          <a:prstGeom prst="roundRect">
            <a:avLst>
              <a:gd name="adj" fmla="val 6557"/>
            </a:avLst>
          </a:prstGeom>
        </p:spPr>
      </p:pic>
    </p:spTree>
    <p:extLst>
      <p:ext uri="{BB962C8B-B14F-4D97-AF65-F5344CB8AC3E}">
        <p14:creationId xmlns:p14="http://schemas.microsoft.com/office/powerpoint/2010/main" val="2898148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>
            <a:extLst>
              <a:ext uri="{FF2B5EF4-FFF2-40B4-BE49-F238E27FC236}">
                <a16:creationId xmlns:a16="http://schemas.microsoft.com/office/drawing/2014/main" id="{468672B1-60E8-AB11-A1AA-A247D3932297}"/>
              </a:ext>
            </a:extLst>
          </p:cNvPr>
          <p:cNvSpPr>
            <a:spLocks noGrp="1"/>
          </p:cNvSpPr>
          <p:nvPr/>
        </p:nvSpPr>
        <p:spPr>
          <a:xfrm>
            <a:off x="884542" y="932537"/>
            <a:ext cx="60653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chemeClr val="accent5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1. Preprocessing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33F5339-105F-C472-4B32-753F511E1EAD}"/>
              </a:ext>
            </a:extLst>
          </p:cNvPr>
          <p:cNvSpPr>
            <a:spLocks noGrp="1"/>
          </p:cNvSpPr>
          <p:nvPr/>
        </p:nvSpPr>
        <p:spPr>
          <a:xfrm>
            <a:off x="1291424" y="1455757"/>
            <a:ext cx="52515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chemeClr val="bg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QA/QC hourly data</a:t>
            </a:r>
            <a:br/>
            <a:r>
              <a:rPr sz="1600" b="1">
                <a:solidFill>
                  <a:schemeClr val="bg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→ daily MDA8 O₃ and meteorological features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7D80094-AC45-6B06-680E-85A86F0F9385}"/>
              </a:ext>
            </a:extLst>
          </p:cNvPr>
          <p:cNvSpPr>
            <a:spLocks noGrp="1"/>
          </p:cNvSpPr>
          <p:nvPr/>
        </p:nvSpPr>
        <p:spPr>
          <a:xfrm>
            <a:off x="884542" y="2150593"/>
            <a:ext cx="94720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chemeClr val="accent5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2. Descriptive Analysis</a:t>
            </a:r>
            <a:r>
              <a:rPr sz="1400" b="1">
                <a:solidFill>
                  <a:schemeClr val="bg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 (每一年臭氧濃度是否變高或變低，春夏秋冬哪一季臭氧較高) 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4660D8A-949A-63C8-28D6-5B6760A72B99}"/>
              </a:ext>
            </a:extLst>
          </p:cNvPr>
          <p:cNvSpPr>
            <a:spLocks noGrp="1"/>
          </p:cNvSpPr>
          <p:nvPr/>
        </p:nvSpPr>
        <p:spPr>
          <a:xfrm>
            <a:off x="1291424" y="2673813"/>
            <a:ext cx="52515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chemeClr val="bg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Annual, seasonal, diurnal, and site-level patterns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3B29A06-6F6E-12E7-A614-DFF1950E3624}"/>
              </a:ext>
            </a:extLst>
          </p:cNvPr>
          <p:cNvSpPr>
            <a:spLocks noGrp="1"/>
          </p:cNvSpPr>
          <p:nvPr/>
        </p:nvSpPr>
        <p:spPr>
          <a:xfrm>
            <a:off x="884542" y="3122428"/>
            <a:ext cx="64751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chemeClr val="accent5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3. Driver</a:t>
            </a:r>
            <a:r>
              <a:rPr sz="1400" b="1">
                <a:solidFill>
                  <a:schemeClr val="bg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(驅動因子，如前驅物、氣象條件)</a:t>
            </a:r>
            <a:r>
              <a:rPr sz="2800" b="1">
                <a:solidFill>
                  <a:schemeClr val="accent5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 Modeling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007511F-ACBC-CBD9-F724-013535261F66}"/>
              </a:ext>
            </a:extLst>
          </p:cNvPr>
          <p:cNvSpPr>
            <a:spLocks noGrp="1"/>
          </p:cNvSpPr>
          <p:nvPr/>
        </p:nvSpPr>
        <p:spPr>
          <a:xfrm>
            <a:off x="1291424" y="3645648"/>
            <a:ext cx="56584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u="sng">
                <a:solidFill>
                  <a:schemeClr val="bg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Random Forest</a:t>
            </a:r>
            <a:r>
              <a:rPr sz="1600" b="1">
                <a:solidFill>
                  <a:schemeClr val="bg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1 and </a:t>
            </a:r>
            <a:r>
              <a:rPr sz="1600" b="1" u="sng">
                <a:solidFill>
                  <a:schemeClr val="bg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GAM</a:t>
            </a:r>
            <a:r>
              <a:rPr sz="1600" b="1">
                <a:solidFill>
                  <a:schemeClr val="bg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  <a:p>
            <a:r>
              <a:rPr sz="1600" b="1">
                <a:solidFill>
                  <a:schemeClr val="bg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→ permutation importance and partial dependence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80FC9A8-3B17-8392-937A-CF94F1F9A488}"/>
              </a:ext>
            </a:extLst>
          </p:cNvPr>
          <p:cNvSpPr>
            <a:spLocks noGrp="1"/>
          </p:cNvSpPr>
          <p:nvPr/>
        </p:nvSpPr>
        <p:spPr>
          <a:xfrm>
            <a:off x="884541" y="4340484"/>
            <a:ext cx="103267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chemeClr val="accent5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4. Event Analysis</a:t>
            </a:r>
            <a:r>
              <a:rPr sz="1400" b="1">
                <a:solidFill>
                  <a:schemeClr val="bg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 (針對「高臭氧事件」特別挑出來分析，看看這些事件發生時，氣象條件有什麼共同特徵。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1ED8A90-A8AC-8DF7-A5CA-341D88503CE8}"/>
              </a:ext>
            </a:extLst>
          </p:cNvPr>
          <p:cNvSpPr>
            <a:spLocks noGrp="1"/>
          </p:cNvSpPr>
          <p:nvPr/>
        </p:nvSpPr>
        <p:spPr>
          <a:xfrm>
            <a:off x="1291424" y="4863704"/>
            <a:ext cx="64751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chemeClr val="bg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Composite meteorological conditions on high-O₃ days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8A309EE5-D6EC-B7B5-0ACF-D6870A1029FB}"/>
              </a:ext>
            </a:extLst>
          </p:cNvPr>
          <p:cNvSpPr>
            <a:spLocks noGrp="1"/>
          </p:cNvSpPr>
          <p:nvPr/>
        </p:nvSpPr>
        <p:spPr>
          <a:xfrm>
            <a:off x="884542" y="5312317"/>
            <a:ext cx="60653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chemeClr val="accent5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5. Trend Analysis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77807216-6BD0-D585-721C-5BDBBDBEE9C5}"/>
              </a:ext>
            </a:extLst>
          </p:cNvPr>
          <p:cNvSpPr>
            <a:spLocks noGrp="1"/>
          </p:cNvSpPr>
          <p:nvPr/>
        </p:nvSpPr>
        <p:spPr>
          <a:xfrm>
            <a:off x="1291423" y="5835537"/>
            <a:ext cx="83271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u="sng">
                <a:solidFill>
                  <a:schemeClr val="bg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Mann–Kendall</a:t>
            </a:r>
            <a:r>
              <a:rPr sz="1600" b="1">
                <a:solidFill>
                  <a:schemeClr val="bg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3 and </a:t>
            </a:r>
            <a:r>
              <a:rPr sz="1600" b="1" u="sng">
                <a:solidFill>
                  <a:schemeClr val="bg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Sen’s slope</a:t>
            </a:r>
            <a:r>
              <a:rPr sz="1600" b="1">
                <a:solidFill>
                  <a:schemeClr val="bg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4 → threshold sensitivity as robustness check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E578EC4-3210-A735-EFF4-70AD73474FC4}"/>
              </a:ext>
            </a:extLst>
          </p:cNvPr>
          <p:cNvSpPr>
            <a:spLocks noGrp="1"/>
          </p:cNvSpPr>
          <p:nvPr/>
        </p:nvSpPr>
        <p:spPr>
          <a:xfrm>
            <a:off x="0" y="6319520"/>
            <a:ext cx="12192000" cy="53848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213C2ED5-D8A7-6B52-1C4D-0D4F6A201CDE}"/>
              </a:ext>
            </a:extLst>
          </p:cNvPr>
          <p:cNvSpPr>
            <a:spLocks noGrp="1"/>
          </p:cNvSpPr>
          <p:nvPr/>
        </p:nvSpPr>
        <p:spPr>
          <a:xfrm>
            <a:off x="86360" y="309001"/>
            <a:ext cx="1203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F3C72"/>
                </a:solidFill>
                <a:latin typeface="Microsoft YaHei"/>
                <a:ea typeface="Microsoft YaHei"/>
                <a:cs typeface="Microsoft YaHei"/>
              </a:rPr>
              <a:t>Method2 Workflow</a:t>
            </a:r>
            <a:endParaRPr sz="2800" b="1" i="0">
              <a:solidFill>
                <a:srgbClr val="2F3C7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箭號: 向下 29">
            <a:extLst>
              <a:ext uri="{FF2B5EF4-FFF2-40B4-BE49-F238E27FC236}">
                <a16:creationId xmlns:a16="http://schemas.microsoft.com/office/drawing/2014/main" id="{AE77B30E-E40B-89E1-70A8-A1F5DADCFE7A}"/>
              </a:ext>
            </a:extLst>
          </p:cNvPr>
          <p:cNvSpPr>
            <a:spLocks noGrp="1"/>
          </p:cNvSpPr>
          <p:nvPr/>
        </p:nvSpPr>
        <p:spPr>
          <a:xfrm>
            <a:off x="3200400" y="2043292"/>
            <a:ext cx="307910" cy="184668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箭號: 向下 30">
            <a:extLst>
              <a:ext uri="{FF2B5EF4-FFF2-40B4-BE49-F238E27FC236}">
                <a16:creationId xmlns:a16="http://schemas.microsoft.com/office/drawing/2014/main" id="{C98E2C4E-76B8-9979-B464-F7D693FCB8F1}"/>
              </a:ext>
            </a:extLst>
          </p:cNvPr>
          <p:cNvSpPr>
            <a:spLocks noGrp="1"/>
          </p:cNvSpPr>
          <p:nvPr/>
        </p:nvSpPr>
        <p:spPr>
          <a:xfrm>
            <a:off x="3200400" y="2992748"/>
            <a:ext cx="307910" cy="184668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箭號: 向下 31">
            <a:extLst>
              <a:ext uri="{FF2B5EF4-FFF2-40B4-BE49-F238E27FC236}">
                <a16:creationId xmlns:a16="http://schemas.microsoft.com/office/drawing/2014/main" id="{5CFD67FD-EA1E-C149-F719-8401D9BE1AC2}"/>
              </a:ext>
            </a:extLst>
          </p:cNvPr>
          <p:cNvSpPr>
            <a:spLocks noGrp="1"/>
          </p:cNvSpPr>
          <p:nvPr/>
        </p:nvSpPr>
        <p:spPr>
          <a:xfrm>
            <a:off x="3200400" y="4229262"/>
            <a:ext cx="307910" cy="184668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箭號: 向下 32">
            <a:extLst>
              <a:ext uri="{FF2B5EF4-FFF2-40B4-BE49-F238E27FC236}">
                <a16:creationId xmlns:a16="http://schemas.microsoft.com/office/drawing/2014/main" id="{8623C424-7CBB-DA92-8B10-2A84139A9898}"/>
              </a:ext>
            </a:extLst>
          </p:cNvPr>
          <p:cNvSpPr>
            <a:spLocks noGrp="1"/>
          </p:cNvSpPr>
          <p:nvPr/>
        </p:nvSpPr>
        <p:spPr>
          <a:xfrm>
            <a:off x="3200400" y="5186867"/>
            <a:ext cx="307910" cy="184668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4BC1BAA-395F-C910-2EF5-4672ADDE73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9F68E2-31C2-4D90-A536-67698CDE3376}" type="slidenum">
              <a:rPr/>
              <a:t>10</a:t>
            </a:fld>
            <a:endParaRPr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F07BB62D-2964-4774-AEEF-E109CB44CA04}"/>
              </a:ext>
            </a:extLst>
          </p:cNvPr>
          <p:cNvSpPr>
            <a:spLocks noGrp="1"/>
          </p:cNvSpPr>
          <p:nvPr/>
        </p:nvSpPr>
        <p:spPr>
          <a:xfrm>
            <a:off x="411480" y="6336792"/>
            <a:ext cx="7863840" cy="4754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anchor="ctr">
            <a:normAutofit/>
          </a:bodyPr>
          <a:lstStyle/>
          <a:p>
            <a:pPr algn="l">
              <a:buNone/>
            </a:pPr>
            <a:r>
              <a:rPr sz="1100" b="1">
                <a:solidFill>
                  <a:srgbClr val="1F5C9E"/>
                </a:solidFill>
                <a:latin typeface="Microsoft JhengHei"/>
                <a:ea typeface="Microsoft JhengHei"/>
                <a:cs typeface="Microsoft JhengHei"/>
              </a:rPr>
              <a:t>【說明】</a:t>
            </a:r>
            <a:r>
              <a:rPr sz="11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分析五步:前處理與品管、描述性分析、以 RF/GAM 建模找驅動因子、事件分析,以及 Mann-Kendall/Sen's slope 趨勢檢定。</a:t>
            </a:r>
          </a:p>
        </p:txBody>
      </p:sp>
    </p:spTree>
    <p:extLst>
      <p:ext uri="{BB962C8B-B14F-4D97-AF65-F5344CB8AC3E}">
        <p14:creationId xmlns:p14="http://schemas.microsoft.com/office/powerpoint/2010/main" val="3987695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: 圓角 42">
            <a:extLst>
              <a:ext uri="{FF2B5EF4-FFF2-40B4-BE49-F238E27FC236}">
                <a16:creationId xmlns:a16="http://schemas.microsoft.com/office/drawing/2014/main" id="{FA8A2573-F0BE-D06B-8319-A5183A92B408}"/>
              </a:ext>
            </a:extLst>
          </p:cNvPr>
          <p:cNvSpPr>
            <a:spLocks noGrp="1"/>
          </p:cNvSpPr>
          <p:nvPr/>
        </p:nvSpPr>
        <p:spPr>
          <a:xfrm>
            <a:off x="2218044" y="5224534"/>
            <a:ext cx="8220777" cy="1188251"/>
          </a:xfrm>
          <a:prstGeom prst="roundRect">
            <a:avLst>
              <a:gd name="adj" fmla="val 10630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81971BA-9A8E-5F99-5428-A20DC5A29973}"/>
              </a:ext>
            </a:extLst>
          </p:cNvPr>
          <p:cNvSpPr>
            <a:spLocks noGrp="1"/>
          </p:cNvSpPr>
          <p:nvPr/>
        </p:nvSpPr>
        <p:spPr>
          <a:xfrm>
            <a:off x="86360" y="309001"/>
            <a:ext cx="1203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F3C72"/>
                </a:solidFill>
                <a:latin typeface="Microsoft YaHei"/>
                <a:ea typeface="Microsoft YaHei"/>
                <a:cs typeface="Microsoft YaHei"/>
              </a:rPr>
              <a:t>Method</a:t>
            </a:r>
            <a:r>
              <a:rPr sz="2800" b="1" i="0">
                <a:solidFill>
                  <a:srgbClr val="2F3C72"/>
                </a:solidFill>
                <a:latin typeface="Microsoft YaHei"/>
                <a:ea typeface="Microsoft YaHei"/>
                <a:cs typeface="Microsoft YaHei"/>
              </a:rPr>
              <a:t>3 How we identify the drivers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FE8C77A-8DA8-CE12-70F6-71AA0F68B903}"/>
              </a:ext>
            </a:extLst>
          </p:cNvPr>
          <p:cNvSpPr>
            <a:spLocks noGrp="1"/>
          </p:cNvSpPr>
          <p:nvPr/>
        </p:nvSpPr>
        <p:spPr>
          <a:xfrm>
            <a:off x="737938" y="1648639"/>
            <a:ext cx="35453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sz="3200" b="1">
                <a:solidFill>
                  <a:schemeClr val="accent5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Random Forest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751002BE-C384-D8F2-5959-DC2189B661B9}"/>
              </a:ext>
            </a:extLst>
          </p:cNvPr>
          <p:cNvSpPr>
            <a:spLocks noGrp="1"/>
          </p:cNvSpPr>
          <p:nvPr/>
        </p:nvSpPr>
        <p:spPr>
          <a:xfrm>
            <a:off x="1604211" y="2233414"/>
            <a:ext cx="98498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chemeClr val="bg2">
                    <a:lumMod val="10000"/>
                  </a:schemeClr>
                </a:solidFill>
                <a:latin typeface="Microsoft YaHei"/>
                <a:ea typeface="Microsoft YaHei"/>
                <a:cs typeface="Microsoft YaHei"/>
              </a:rPr>
              <a:t>請很多棵決策樹各自依天氣猜當天臭氧、再平均</a:t>
            </a:r>
            <a:endParaRPr sz="140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CE21DB1-9733-5E49-B090-3234C5CAA05F}"/>
              </a:ext>
            </a:extLst>
          </p:cNvPr>
          <p:cNvSpPr>
            <a:spLocks noGrp="1"/>
          </p:cNvSpPr>
          <p:nvPr/>
        </p:nvSpPr>
        <p:spPr>
          <a:xfrm>
            <a:off x="744789" y="3838820"/>
            <a:ext cx="123524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sz="3200" b="1">
                <a:solidFill>
                  <a:schemeClr val="accent5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GAM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676F749-9480-21D5-9037-DDF18016D7B2}"/>
              </a:ext>
            </a:extLst>
          </p:cNvPr>
          <p:cNvSpPr>
            <a:spLocks noGrp="1"/>
          </p:cNvSpPr>
          <p:nvPr/>
        </p:nvSpPr>
        <p:spPr>
          <a:xfrm>
            <a:off x="1606412" y="4423595"/>
            <a:ext cx="98498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chemeClr val="bg2">
                    <a:lumMod val="10000"/>
                  </a:schemeClr>
                </a:solidFill>
                <a:latin typeface="Microsoft YaHei"/>
                <a:ea typeface="Microsoft YaHei"/>
                <a:cs typeface="Microsoft YaHei"/>
              </a:rPr>
              <a:t>一種「會彎的迴歸」,能畫出每個因子跟臭氧的關係曲線。</a:t>
            </a:r>
            <a:endParaRPr sz="140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9A4F77D3-64C4-ACDE-DB1D-009DCD3D519A}"/>
              </a:ext>
            </a:extLst>
          </p:cNvPr>
          <p:cNvSpPr>
            <a:spLocks noGrp="1"/>
          </p:cNvSpPr>
          <p:nvPr/>
        </p:nvSpPr>
        <p:spPr>
          <a:xfrm>
            <a:off x="8351520" y="152401"/>
            <a:ext cx="3702518" cy="3931920"/>
          </a:xfrm>
          <a:prstGeom prst="roundRect">
            <a:avLst>
              <a:gd name="adj" fmla="val 10630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2D6CF5F0-45E1-E4C5-478D-D921B13DB3B8}"/>
              </a:ext>
            </a:extLst>
          </p:cNvPr>
          <p:cNvSpPr>
            <a:spLocks noGrp="1"/>
          </p:cNvSpPr>
          <p:nvPr/>
        </p:nvSpPr>
        <p:spPr>
          <a:xfrm>
            <a:off x="8351520" y="376776"/>
            <a:ext cx="370251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buNone/>
            </a:pPr>
            <a:r>
              <a:rPr sz="2400" b="0" i="0">
                <a:solidFill>
                  <a:srgbClr val="0D0D0D"/>
                </a:solidFill>
                <a:latin typeface="ui-monospace"/>
                <a:ea typeface="ui-monospace"/>
                <a:cs typeface="ui-monospace"/>
              </a:rPr>
              <a:t>Meteorological variables</a:t>
            </a:r>
            <a:endParaRPr b="0" i="0">
              <a:solidFill>
                <a:srgbClr val="0D0D0D"/>
              </a:solidFill>
              <a:latin typeface="ui-monospace"/>
              <a:ea typeface="ui-monospace"/>
              <a:cs typeface="ui-monospace"/>
            </a:endParaRPr>
          </a:p>
          <a:p>
            <a:pPr marL="0" marR="0" indent="0" algn="ctr">
              <a:buNone/>
            </a:pPr>
            <a:r>
              <a:rPr b="0" i="0">
                <a:solidFill>
                  <a:srgbClr val="0D0D0D"/>
                </a:solidFill>
                <a:latin typeface="ui-monospace"/>
                <a:ea typeface="ui-monospace"/>
                <a:cs typeface="ui-monospace"/>
              </a:rPr>
              <a:t>(T, RH, WS, Sunshine, Rainfall)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1EC6313B-0915-A755-34D4-CB5E82FF61E0}"/>
              </a:ext>
            </a:extLst>
          </p:cNvPr>
          <p:cNvSpPr>
            <a:spLocks noGrp="1"/>
          </p:cNvSpPr>
          <p:nvPr/>
        </p:nvSpPr>
        <p:spPr>
          <a:xfrm>
            <a:off x="8921847" y="1407073"/>
            <a:ext cx="2561864" cy="794647"/>
          </a:xfrm>
          <a:prstGeom prst="round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8B6A8C43-F1D3-21AC-57C3-5523C25E92A4}"/>
              </a:ext>
            </a:extLst>
          </p:cNvPr>
          <p:cNvSpPr>
            <a:spLocks noGrp="1"/>
          </p:cNvSpPr>
          <p:nvPr/>
        </p:nvSpPr>
        <p:spPr>
          <a:xfrm>
            <a:off x="8632480" y="1448480"/>
            <a:ext cx="3140598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lnSpc>
                <a:spcPct val="150000"/>
              </a:lnSpc>
              <a:buNone/>
            </a:pPr>
            <a:r>
              <a:rPr sz="2400" b="0" i="0">
                <a:solidFill>
                  <a:srgbClr val="0D0D0D"/>
                </a:solidFill>
                <a:latin typeface="ui-monospace"/>
                <a:ea typeface="ui-monospace"/>
                <a:cs typeface="ui-monospace"/>
              </a:rPr>
              <a:t>Decision trees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55078DC1-C6BA-A999-5623-A5475092E550}"/>
              </a:ext>
            </a:extLst>
          </p:cNvPr>
          <p:cNvSpPr>
            <a:spLocks noGrp="1"/>
          </p:cNvSpPr>
          <p:nvPr/>
        </p:nvSpPr>
        <p:spPr>
          <a:xfrm>
            <a:off x="8803531" y="2564478"/>
            <a:ext cx="829376" cy="48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lnSpc>
                <a:spcPts val="1500"/>
              </a:lnSpc>
              <a:buNone/>
            </a:pPr>
            <a:r>
              <a:rPr b="0" i="0">
                <a:solidFill>
                  <a:srgbClr val="0D0D0D"/>
                </a:solidFill>
                <a:latin typeface="ui-monospace"/>
                <a:ea typeface="ui-monospace"/>
                <a:cs typeface="ui-monospace"/>
              </a:rPr>
              <a:t> Tree1     </a:t>
            </a:r>
          </a:p>
          <a:p>
            <a:pPr marL="0" marR="0" indent="0" algn="ctr">
              <a:lnSpc>
                <a:spcPts val="1500"/>
              </a:lnSpc>
              <a:buNone/>
            </a:pPr>
            <a:r>
              <a:rPr b="0" i="0">
                <a:solidFill>
                  <a:srgbClr val="0D0D0D"/>
                </a:solidFill>
                <a:latin typeface="ui-monospace"/>
                <a:ea typeface="ui-monospace"/>
                <a:cs typeface="ui-monospace"/>
              </a:rPr>
              <a:t>58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2418B302-9C92-B6F6-91C2-B9131058F5B0}"/>
              </a:ext>
            </a:extLst>
          </p:cNvPr>
          <p:cNvSpPr>
            <a:spLocks noGrp="1"/>
          </p:cNvSpPr>
          <p:nvPr/>
        </p:nvSpPr>
        <p:spPr>
          <a:xfrm>
            <a:off x="9474751" y="2564478"/>
            <a:ext cx="829376" cy="48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lnSpc>
                <a:spcPts val="1500"/>
              </a:lnSpc>
              <a:buNone/>
            </a:pPr>
            <a:r>
              <a:rPr b="0" i="0">
                <a:solidFill>
                  <a:srgbClr val="0D0D0D"/>
                </a:solidFill>
                <a:latin typeface="ui-monospace"/>
                <a:ea typeface="ui-monospace"/>
                <a:cs typeface="ui-monospace"/>
              </a:rPr>
              <a:t> Tree</a:t>
            </a:r>
            <a:r>
              <a:rPr>
                <a:solidFill>
                  <a:srgbClr val="0D0D0D"/>
                </a:solidFill>
                <a:latin typeface="ui-monospace"/>
                <a:ea typeface="ui-monospace"/>
                <a:cs typeface="ui-monospace"/>
              </a:rPr>
              <a:t>2</a:t>
            </a:r>
            <a:r>
              <a:rPr b="0" i="0">
                <a:solidFill>
                  <a:srgbClr val="0D0D0D"/>
                </a:solidFill>
                <a:latin typeface="ui-monospace"/>
                <a:ea typeface="ui-monospace"/>
                <a:cs typeface="ui-monospace"/>
              </a:rPr>
              <a:t>     </a:t>
            </a:r>
          </a:p>
          <a:p>
            <a:pPr marL="0" marR="0" indent="0" algn="ctr">
              <a:lnSpc>
                <a:spcPts val="1500"/>
              </a:lnSpc>
              <a:buNone/>
            </a:pPr>
            <a:r>
              <a:rPr>
                <a:solidFill>
                  <a:srgbClr val="0D0D0D"/>
                </a:solidFill>
                <a:latin typeface="ui-monospace"/>
                <a:ea typeface="ui-monospace"/>
                <a:cs typeface="ui-monospace"/>
              </a:rPr>
              <a:t>61</a:t>
            </a:r>
            <a:endParaRPr b="0" i="0">
              <a:solidFill>
                <a:srgbClr val="0D0D0D"/>
              </a:solidFill>
              <a:latin typeface="ui-monospace"/>
              <a:ea typeface="ui-monospace"/>
              <a:cs typeface="ui-monospace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E2BB14E0-AEDE-25DC-FE52-4BADC9E8F70F}"/>
              </a:ext>
            </a:extLst>
          </p:cNvPr>
          <p:cNvSpPr>
            <a:spLocks noGrp="1"/>
          </p:cNvSpPr>
          <p:nvPr/>
        </p:nvSpPr>
        <p:spPr>
          <a:xfrm>
            <a:off x="10145971" y="2564478"/>
            <a:ext cx="829376" cy="48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lnSpc>
                <a:spcPts val="1500"/>
              </a:lnSpc>
              <a:buNone/>
            </a:pPr>
            <a:r>
              <a:rPr b="0" i="0">
                <a:solidFill>
                  <a:srgbClr val="0D0D0D"/>
                </a:solidFill>
                <a:latin typeface="ui-monospace"/>
                <a:ea typeface="ui-monospace"/>
                <a:cs typeface="ui-monospace"/>
              </a:rPr>
              <a:t> Tree3     </a:t>
            </a:r>
          </a:p>
          <a:p>
            <a:pPr marL="0" marR="0" indent="0" algn="ctr">
              <a:lnSpc>
                <a:spcPts val="1500"/>
              </a:lnSpc>
              <a:buNone/>
            </a:pPr>
            <a:r>
              <a:rPr>
                <a:solidFill>
                  <a:srgbClr val="0D0D0D"/>
                </a:solidFill>
                <a:latin typeface="ui-monospace"/>
                <a:ea typeface="ui-monospace"/>
                <a:cs typeface="ui-monospace"/>
              </a:rPr>
              <a:t>63</a:t>
            </a:r>
            <a:endParaRPr b="0" i="0">
              <a:solidFill>
                <a:srgbClr val="0D0D0D"/>
              </a:solidFill>
              <a:latin typeface="ui-monospace"/>
              <a:ea typeface="ui-monospace"/>
              <a:cs typeface="ui-monospace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C032664E-2ED9-1A72-7906-47A2E7D58A84}"/>
              </a:ext>
            </a:extLst>
          </p:cNvPr>
          <p:cNvSpPr>
            <a:spLocks noGrp="1"/>
          </p:cNvSpPr>
          <p:nvPr/>
        </p:nvSpPr>
        <p:spPr>
          <a:xfrm>
            <a:off x="10817192" y="2564478"/>
            <a:ext cx="829376" cy="48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lnSpc>
                <a:spcPts val="1500"/>
              </a:lnSpc>
              <a:buNone/>
            </a:pPr>
            <a:r>
              <a:rPr b="0" i="0">
                <a:solidFill>
                  <a:srgbClr val="0D0D0D"/>
                </a:solidFill>
                <a:latin typeface="ui-monospace"/>
                <a:ea typeface="ui-monospace"/>
                <a:cs typeface="ui-monospace"/>
              </a:rPr>
              <a:t> Tree4     </a:t>
            </a:r>
          </a:p>
          <a:p>
            <a:pPr marL="0" marR="0" indent="0" algn="ctr">
              <a:lnSpc>
                <a:spcPts val="1500"/>
              </a:lnSpc>
              <a:buNone/>
            </a:pPr>
            <a:r>
              <a:rPr b="0" i="0">
                <a:solidFill>
                  <a:srgbClr val="0D0D0D"/>
                </a:solidFill>
                <a:latin typeface="ui-monospace"/>
                <a:ea typeface="ui-monospace"/>
                <a:cs typeface="ui-monospace"/>
              </a:rPr>
              <a:t>59</a:t>
            </a:r>
          </a:p>
        </p:txBody>
      </p:sp>
      <p:sp>
        <p:nvSpPr>
          <p:cNvPr id="33" name="箭號: 向下 32">
            <a:extLst>
              <a:ext uri="{FF2B5EF4-FFF2-40B4-BE49-F238E27FC236}">
                <a16:creationId xmlns:a16="http://schemas.microsoft.com/office/drawing/2014/main" id="{266C52BA-8127-2AF9-1D4F-12D14BDCFE13}"/>
              </a:ext>
            </a:extLst>
          </p:cNvPr>
          <p:cNvSpPr>
            <a:spLocks noGrp="1"/>
          </p:cNvSpPr>
          <p:nvPr/>
        </p:nvSpPr>
        <p:spPr>
          <a:xfrm>
            <a:off x="10116671" y="2241220"/>
            <a:ext cx="187456" cy="244257"/>
          </a:xfrm>
          <a:prstGeom prst="downArrow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箭號: 向下 34">
            <a:extLst>
              <a:ext uri="{FF2B5EF4-FFF2-40B4-BE49-F238E27FC236}">
                <a16:creationId xmlns:a16="http://schemas.microsoft.com/office/drawing/2014/main" id="{D7FB8CE3-49AC-F07A-F078-E44B9F2C01E3}"/>
              </a:ext>
            </a:extLst>
          </p:cNvPr>
          <p:cNvSpPr>
            <a:spLocks noGrp="1"/>
          </p:cNvSpPr>
          <p:nvPr/>
        </p:nvSpPr>
        <p:spPr>
          <a:xfrm>
            <a:off x="10116671" y="1122537"/>
            <a:ext cx="187456" cy="244257"/>
          </a:xfrm>
          <a:prstGeom prst="downArrow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箭號: 向下 35">
            <a:extLst>
              <a:ext uri="{FF2B5EF4-FFF2-40B4-BE49-F238E27FC236}">
                <a16:creationId xmlns:a16="http://schemas.microsoft.com/office/drawing/2014/main" id="{B46BA514-9E7E-5A34-3057-94A38FE1C1B3}"/>
              </a:ext>
            </a:extLst>
          </p:cNvPr>
          <p:cNvSpPr>
            <a:spLocks noGrp="1"/>
          </p:cNvSpPr>
          <p:nvPr/>
        </p:nvSpPr>
        <p:spPr>
          <a:xfrm>
            <a:off x="10116671" y="3096036"/>
            <a:ext cx="187456" cy="244257"/>
          </a:xfrm>
          <a:prstGeom prst="downArrow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E1939298-497A-49F1-047F-41C6ACA328BA}"/>
              </a:ext>
            </a:extLst>
          </p:cNvPr>
          <p:cNvSpPr>
            <a:spLocks noGrp="1"/>
          </p:cNvSpPr>
          <p:nvPr/>
        </p:nvSpPr>
        <p:spPr>
          <a:xfrm>
            <a:off x="8737600" y="3417114"/>
            <a:ext cx="29303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buNone/>
            </a:pPr>
            <a:r>
              <a:rPr b="0" i="0">
                <a:solidFill>
                  <a:srgbClr val="0D0D0D"/>
                </a:solidFill>
                <a:latin typeface="ui-monospace"/>
                <a:ea typeface="ui-monospace"/>
                <a:cs typeface="ui-monospace"/>
              </a:rPr>
              <a:t> Final O₃ prediction = average</a:t>
            </a:r>
            <a:endParaRPr sz="1400" b="0" i="0">
              <a:solidFill>
                <a:srgbClr val="0D0D0D"/>
              </a:solidFill>
              <a:latin typeface="ui-monospace"/>
              <a:ea typeface="ui-monospace"/>
              <a:cs typeface="ui-monospace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F243C46-E738-A54E-8B05-7D4F71A02660}"/>
              </a:ext>
            </a:extLst>
          </p:cNvPr>
          <p:cNvSpPr>
            <a:spLocks noGrp="1"/>
          </p:cNvSpPr>
          <p:nvPr/>
        </p:nvSpPr>
        <p:spPr>
          <a:xfrm>
            <a:off x="2489415" y="5495494"/>
            <a:ext cx="76780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>
                <a:latin typeface="Microsoft YaHei"/>
                <a:ea typeface="Microsoft YaHei"/>
                <a:cs typeface="Microsoft YaHei"/>
              </a:rPr>
              <a:t>把每條「直線」換成一條平滑曲線:臭氧 ≈ f₁(氣溫) + f₂(濕度) + f₃(日照) + …,每個 f 都是會彎的曲線。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F97308A-1AA5-D871-B220-50AEFE302B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9F68E2-31C2-4D90-A536-67698CDE3376}" type="slidenum">
              <a:rPr/>
              <a:t>11</a:t>
            </a:fld>
            <a:endParaRPr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D14320AF-994F-47EC-9489-95076358192E}"/>
              </a:ext>
            </a:extLst>
          </p:cNvPr>
          <p:cNvSpPr>
            <a:spLocks noGrp="1"/>
          </p:cNvSpPr>
          <p:nvPr/>
        </p:nvSpPr>
        <p:spPr>
          <a:xfrm>
            <a:off x="411480" y="6464808"/>
            <a:ext cx="7863840" cy="3749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anchor="ctr">
            <a:normAutofit fontScale="92500"/>
          </a:bodyPr>
          <a:lstStyle/>
          <a:p>
            <a:pPr algn="l">
              <a:buNone/>
            </a:pPr>
            <a:r>
              <a:rPr sz="1100" b="1">
                <a:solidFill>
                  <a:srgbClr val="1F5C9E"/>
                </a:solidFill>
                <a:latin typeface="Microsoft JhengHei"/>
                <a:ea typeface="Microsoft JhengHei"/>
                <a:cs typeface="Microsoft JhengHei"/>
              </a:rPr>
              <a:t>【說明】</a:t>
            </a:r>
            <a:r>
              <a:rPr sz="11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以兩種互補模型辨識驅動因子:隨機森林用多棵決策樹平均並找出重要變數;GAM 以平滑曲線呈現各因子與臭氧的關係形狀。</a:t>
            </a:r>
          </a:p>
        </p:txBody>
      </p:sp>
    </p:spTree>
    <p:extLst>
      <p:ext uri="{BB962C8B-B14F-4D97-AF65-F5344CB8AC3E}">
        <p14:creationId xmlns:p14="http://schemas.microsoft.com/office/powerpoint/2010/main" val="3351672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41A7FCB-E24F-71B2-5D46-B0D107CD69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9F68E2-31C2-4D90-A536-67698CDE3376}" type="slidenum">
              <a:rPr/>
              <a:t>12</a:t>
            </a:fld>
            <a:endParaRPr/>
          </a:p>
        </p:txBody>
      </p:sp>
      <p:graphicFrame>
        <p:nvGraphicFramePr>
          <p:cNvPr id="17" name="表格 8"/>
          <p:cNvGraphicFramePr/>
          <p:nvPr/>
        </p:nvGraphicFramePr>
        <p:xfrm>
          <a:off x="3814916" y="1163564"/>
          <a:ext cx="5428944" cy="109728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2714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latin typeface="Microsoft YaHei"/>
                          <a:ea typeface="Microsoft YaHei"/>
                          <a:cs typeface="Microsoft YaHei"/>
                        </a:rPr>
                        <a:t>溫度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E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latin typeface="Microsoft YaHei"/>
                          <a:ea typeface="Microsoft YaHei"/>
                          <a:cs typeface="Microsoft YaHei"/>
                        </a:rPr>
                        <a:t>臭氧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E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60°C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E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30 ppm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E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70°C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E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20 ppm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E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A93C8A30-D955-5D78-C9BE-E788499D8851}"/>
              </a:ext>
            </a:extLst>
          </p:cNvPr>
          <p:cNvSpPr>
            <a:spLocks noGrp="1"/>
          </p:cNvSpPr>
          <p:nvPr/>
        </p:nvSpPr>
        <p:spPr>
          <a:xfrm>
            <a:off x="1868672" y="2680684"/>
            <a:ext cx="6119036" cy="1289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b="1">
                <a:latin typeface="Microsoft YaHei"/>
                <a:ea typeface="Microsoft YaHei"/>
                <a:cs typeface="Microsoft YaHei"/>
              </a:rPr>
              <a:t>溫度 &lt; 65°C？</a:t>
            </a:r>
          </a:p>
          <a:p>
            <a:pPr>
              <a:lnSpc>
                <a:spcPct val="150000"/>
              </a:lnSpc>
              <a:buNone/>
            </a:pPr>
            <a:r>
              <a:rPr>
                <a:latin typeface="Microsoft YaHei"/>
                <a:ea typeface="Microsoft YaHei"/>
                <a:cs typeface="Microsoft YaHei"/>
              </a:rPr>
              <a:t>├─ 是 → 30 ppm</a:t>
            </a:r>
          </a:p>
          <a:p>
            <a:pPr>
              <a:lnSpc>
                <a:spcPct val="150000"/>
              </a:lnSpc>
              <a:buNone/>
            </a:pPr>
            <a:r>
              <a:rPr>
                <a:latin typeface="Microsoft YaHei"/>
                <a:ea typeface="Microsoft YaHei"/>
                <a:cs typeface="Microsoft YaHei"/>
              </a:rPr>
              <a:t>└─ 否 → 20 ppm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44AAA1A-BC35-81CF-C295-E89D9B27BC68}"/>
              </a:ext>
            </a:extLst>
          </p:cNvPr>
          <p:cNvSpPr>
            <a:spLocks noGrp="1"/>
          </p:cNvSpPr>
          <p:nvPr/>
        </p:nvSpPr>
        <p:spPr>
          <a:xfrm>
            <a:off x="1868672" y="4703478"/>
            <a:ext cx="6119036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b="1">
                <a:latin typeface="Microsoft YaHei"/>
                <a:ea typeface="Microsoft YaHei"/>
                <a:cs typeface="Microsoft YaHei"/>
              </a:rPr>
              <a:t>50°C &lt; 65°C</a:t>
            </a:r>
          </a:p>
          <a:p>
            <a:pPr>
              <a:lnSpc>
                <a:spcPct val="150000"/>
              </a:lnSpc>
              <a:buNone/>
            </a:pPr>
            <a:r>
              <a:rPr>
                <a:latin typeface="Microsoft YaHei"/>
                <a:ea typeface="Microsoft YaHei"/>
                <a:cs typeface="Microsoft YaHei"/>
              </a:rPr>
              <a:t>→ 預測 30 ppm</a:t>
            </a:r>
          </a:p>
        </p:txBody>
      </p:sp>
      <p:sp>
        <p:nvSpPr>
          <p:cNvPr id="13" name="直線接點 12">
            <a:extLst>
              <a:ext uri="{FF2B5EF4-FFF2-40B4-BE49-F238E27FC236}">
                <a16:creationId xmlns:a16="http://schemas.microsoft.com/office/drawing/2014/main" id="{D7A80047-6997-407F-BEFF-14EC6CCF58F0}"/>
              </a:ext>
            </a:extLst>
          </p:cNvPr>
          <p:cNvSpPr>
            <a:spLocks noGrp="1"/>
          </p:cNvSpPr>
          <p:nvPr/>
        </p:nvSpPr>
        <p:spPr>
          <a:xfrm>
            <a:off x="1537291" y="4337033"/>
            <a:ext cx="9816509" cy="0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35E63680-4B34-734A-5FEE-AEC967A83657}"/>
              </a:ext>
            </a:extLst>
          </p:cNvPr>
          <p:cNvSpPr>
            <a:spLocks noGrp="1"/>
          </p:cNvSpPr>
          <p:nvPr/>
        </p:nvSpPr>
        <p:spPr>
          <a:xfrm>
            <a:off x="2998380" y="374392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chemeClr val="accent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模式概念</a:t>
            </a:r>
          </a:p>
        </p:txBody>
      </p:sp>
      <p:sp>
        <p:nvSpPr>
          <p:cNvPr id="4" name="Rounded Rectangle 43">
            <a:extLst>
              <a:ext uri="{FF2B5EF4-FFF2-40B4-BE49-F238E27FC236}">
                <a16:creationId xmlns:a16="http://schemas.microsoft.com/office/drawing/2014/main" id="{78D52A10-2D39-892D-CD14-BF441C1CA4F6}"/>
              </a:ext>
            </a:extLst>
          </p:cNvPr>
          <p:cNvSpPr>
            <a:spLocks noGrp="1"/>
          </p:cNvSpPr>
          <p:nvPr/>
        </p:nvSpPr>
        <p:spPr>
          <a:xfrm>
            <a:off x="1271588" y="5981446"/>
            <a:ext cx="7863840" cy="3749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anchor="ctr">
            <a:normAutofit/>
          </a:bodyPr>
          <a:lstStyle/>
          <a:p>
            <a:pPr algn="l">
              <a:buNone/>
            </a:pPr>
            <a:r>
              <a:rPr sz="1100" b="1">
                <a:solidFill>
                  <a:srgbClr val="1F5C9E"/>
                </a:solidFill>
                <a:latin typeface="Microsoft JhengHei"/>
                <a:ea typeface="Microsoft JhengHei"/>
                <a:cs typeface="Microsoft JhengHei"/>
              </a:rPr>
              <a:t>【</a:t>
            </a:r>
            <a:r>
              <a:rPr sz="1100" b="1" err="1">
                <a:solidFill>
                  <a:srgbClr val="1F5C9E"/>
                </a:solidFill>
                <a:latin typeface="Microsoft JhengHei"/>
                <a:ea typeface="Microsoft JhengHei"/>
                <a:cs typeface="Microsoft JhengHei"/>
              </a:rPr>
              <a:t>說明</a:t>
            </a:r>
            <a:r>
              <a:rPr sz="1100" b="1">
                <a:solidFill>
                  <a:srgbClr val="1F5C9E"/>
                </a:solidFill>
                <a:latin typeface="Microsoft JhengHei"/>
                <a:ea typeface="Microsoft JhengHei"/>
                <a:cs typeface="Microsoft JhengHei"/>
              </a:rPr>
              <a:t>】</a:t>
            </a:r>
            <a:r>
              <a:rPr lang="zh-TW" altLang="en-US" sz="11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隨機森林由多棵決策樹組成；每棵樹會依據變數門檻將資料分組，並以葉節點中的平均臭氧值作為預測結果。</a:t>
            </a:r>
            <a:endParaRPr sz="110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220806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7C81E13-E5CB-1B81-3046-C313DEA22D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9F68E2-31C2-4D90-A536-67698CDE3376}" type="slidenum">
              <a:rPr/>
              <a:t>13</a:t>
            </a:fld>
            <a:endParaRPr/>
          </a:p>
        </p:txBody>
      </p:sp>
      <p:graphicFrame>
        <p:nvGraphicFramePr>
          <p:cNvPr id="31" name="表格 4"/>
          <p:cNvGraphicFramePr/>
          <p:nvPr/>
        </p:nvGraphicFramePr>
        <p:xfrm>
          <a:off x="2782530" y="1017119"/>
          <a:ext cx="7493718" cy="18288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24979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7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79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latin typeface="Microsoft YaHei"/>
                          <a:ea typeface="Microsoft YaHei"/>
                          <a:cs typeface="Microsoft YaHei"/>
                        </a:rPr>
                        <a:t>溫度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E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latin typeface="Microsoft YaHei"/>
                          <a:ea typeface="Microsoft YaHei"/>
                          <a:cs typeface="Microsoft YaHei"/>
                        </a:rPr>
                        <a:t>濕度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E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latin typeface="Microsoft YaHei"/>
                          <a:ea typeface="Microsoft YaHei"/>
                          <a:cs typeface="Microsoft YaHei"/>
                        </a:rPr>
                        <a:t>臭氧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E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25°C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E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80%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E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30 ppb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E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27°C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E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75%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E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35 ppb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E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32°C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E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60%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E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55 ppb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E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34°C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E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50%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E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65 ppb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E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538EA5AA-217A-0E91-E3EC-E1B0763E4973}"/>
              </a:ext>
            </a:extLst>
          </p:cNvPr>
          <p:cNvSpPr>
            <a:spLocks noGrp="1"/>
          </p:cNvSpPr>
          <p:nvPr/>
        </p:nvSpPr>
        <p:spPr>
          <a:xfrm>
            <a:off x="1868672" y="3079259"/>
            <a:ext cx="6119036" cy="1289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b="1">
                <a:latin typeface="Microsoft YaHei"/>
                <a:ea typeface="Microsoft YaHei"/>
                <a:cs typeface="Microsoft YaHei"/>
              </a:rPr>
              <a:t>例如今天</a:t>
            </a:r>
            <a:r>
              <a:rPr>
                <a:latin typeface="Microsoft YaHei"/>
                <a:ea typeface="Microsoft YaHei"/>
                <a:cs typeface="Microsoft YaHei"/>
              </a:rPr>
              <a:t>：</a:t>
            </a:r>
          </a:p>
          <a:p>
            <a:pPr marL="342900" lvl="0" indent="-342900">
              <a:lnSpc>
                <a:spcPct val="150000"/>
              </a:lnSpc>
              <a:buFont typeface="Arial"/>
              <a:buChar char="•"/>
            </a:pPr>
            <a:r>
              <a:rPr>
                <a:latin typeface="Microsoft YaHei"/>
                <a:ea typeface="Microsoft YaHei"/>
                <a:cs typeface="Microsoft YaHei"/>
              </a:rPr>
              <a:t>溫度 33°C </a:t>
            </a:r>
          </a:p>
          <a:p>
            <a:pPr marL="342900" lvl="0" indent="-342900">
              <a:lnSpc>
                <a:spcPct val="150000"/>
              </a:lnSpc>
              <a:buFont typeface="Arial"/>
              <a:buChar char="•"/>
            </a:pPr>
            <a:r>
              <a:rPr>
                <a:latin typeface="Microsoft YaHei"/>
                <a:ea typeface="Microsoft YaHei"/>
                <a:cs typeface="Microsoft YaHei"/>
              </a:rPr>
              <a:t>濕度 58% 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2DD01AF-D577-FF32-3B27-26385F689424}"/>
              </a:ext>
            </a:extLst>
          </p:cNvPr>
          <p:cNvSpPr>
            <a:spLocks noGrp="1"/>
          </p:cNvSpPr>
          <p:nvPr/>
        </p:nvSpPr>
        <p:spPr>
          <a:xfrm>
            <a:off x="1868672" y="4835845"/>
            <a:ext cx="6119036" cy="170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b="1">
                <a:latin typeface="Microsoft YaHei"/>
                <a:ea typeface="Microsoft YaHei"/>
                <a:cs typeface="Microsoft YaHei"/>
              </a:rPr>
              <a:t>判斷過程是</a:t>
            </a:r>
            <a:r>
              <a:rPr>
                <a:latin typeface="Microsoft YaHei"/>
                <a:ea typeface="Microsoft YaHei"/>
                <a:cs typeface="Microsoft YaHei"/>
              </a:rPr>
              <a:t>：</a:t>
            </a:r>
          </a:p>
          <a:p>
            <a:pPr>
              <a:lnSpc>
                <a:spcPct val="150000"/>
              </a:lnSpc>
              <a:buNone/>
            </a:pPr>
            <a:r>
              <a:rPr>
                <a:latin typeface="Microsoft YaHei"/>
                <a:ea typeface="Microsoft YaHei"/>
                <a:cs typeface="Microsoft YaHei"/>
              </a:rPr>
              <a:t>33°C &lt; 30°C？否</a:t>
            </a:r>
          </a:p>
          <a:p>
            <a:pPr>
              <a:lnSpc>
                <a:spcPct val="150000"/>
              </a:lnSpc>
              <a:buNone/>
            </a:pPr>
            <a:r>
              <a:rPr>
                <a:latin typeface="Microsoft YaHei"/>
                <a:ea typeface="Microsoft YaHei"/>
                <a:cs typeface="Microsoft YaHei"/>
              </a:rPr>
              <a:t>58% &lt; 55%？否</a:t>
            </a:r>
          </a:p>
          <a:p>
            <a:pPr>
              <a:lnSpc>
                <a:spcPct val="150000"/>
              </a:lnSpc>
              <a:buNone/>
            </a:pPr>
            <a:r>
              <a:rPr>
                <a:latin typeface="Microsoft YaHei"/>
                <a:ea typeface="Microsoft YaHei"/>
                <a:cs typeface="Microsoft YaHei"/>
              </a:rPr>
              <a:t>→ 進入臭氧 55 ppb 的葉節點</a:t>
            </a:r>
          </a:p>
        </p:txBody>
      </p:sp>
      <p:sp>
        <p:nvSpPr>
          <p:cNvPr id="10" name="直線接點 9">
            <a:extLst>
              <a:ext uri="{FF2B5EF4-FFF2-40B4-BE49-F238E27FC236}">
                <a16:creationId xmlns:a16="http://schemas.microsoft.com/office/drawing/2014/main" id="{F1F3CC96-6ED7-47AB-A4C2-223930427991}"/>
              </a:ext>
            </a:extLst>
          </p:cNvPr>
          <p:cNvSpPr>
            <a:spLocks noGrp="1"/>
          </p:cNvSpPr>
          <p:nvPr/>
        </p:nvSpPr>
        <p:spPr>
          <a:xfrm>
            <a:off x="1537291" y="4602504"/>
            <a:ext cx="9816509" cy="0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5BAA6416-FBC6-D495-2BAD-C2FC5AADB5C1}"/>
              </a:ext>
            </a:extLst>
          </p:cNvPr>
          <p:cNvSpPr>
            <a:spLocks noGrp="1"/>
          </p:cNvSpPr>
          <p:nvPr/>
        </p:nvSpPr>
        <p:spPr>
          <a:xfrm>
            <a:off x="2998380" y="374392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chemeClr val="accent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模式概念</a:t>
            </a:r>
          </a:p>
        </p:txBody>
      </p:sp>
      <p:sp>
        <p:nvSpPr>
          <p:cNvPr id="4" name="Rounded Rectangle 43">
            <a:extLst>
              <a:ext uri="{FF2B5EF4-FFF2-40B4-BE49-F238E27FC236}">
                <a16:creationId xmlns:a16="http://schemas.microsoft.com/office/drawing/2014/main" id="{477CB024-8657-9FCF-1D1A-7D3254BBEDFA}"/>
              </a:ext>
            </a:extLst>
          </p:cNvPr>
          <p:cNvSpPr>
            <a:spLocks noGrp="1"/>
          </p:cNvSpPr>
          <p:nvPr/>
        </p:nvSpPr>
        <p:spPr>
          <a:xfrm>
            <a:off x="6246891" y="5465977"/>
            <a:ext cx="4599159" cy="657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anchor="ctr">
            <a:normAutofit/>
          </a:bodyPr>
          <a:lstStyle/>
          <a:p>
            <a:pPr algn="l">
              <a:buNone/>
            </a:pPr>
            <a:r>
              <a:rPr sz="1200" b="1">
                <a:solidFill>
                  <a:srgbClr val="1F5C9E"/>
                </a:solidFill>
                <a:latin typeface="Microsoft JhengHei"/>
                <a:ea typeface="Microsoft JhengHei"/>
                <a:cs typeface="Microsoft JhengHei"/>
              </a:rPr>
              <a:t>【</a:t>
            </a:r>
            <a:r>
              <a:rPr sz="1200" b="1" err="1">
                <a:solidFill>
                  <a:srgbClr val="1F5C9E"/>
                </a:solidFill>
                <a:latin typeface="Microsoft JhengHei"/>
                <a:ea typeface="Microsoft JhengHei"/>
                <a:cs typeface="Microsoft JhengHei"/>
              </a:rPr>
              <a:t>說明</a:t>
            </a:r>
            <a:r>
              <a:rPr sz="1200" b="1">
                <a:solidFill>
                  <a:srgbClr val="1F5C9E"/>
                </a:solidFill>
                <a:latin typeface="Microsoft JhengHei"/>
                <a:ea typeface="Microsoft JhengHei"/>
                <a:cs typeface="Microsoft JhengHei"/>
              </a:rPr>
              <a:t>】</a:t>
            </a:r>
            <a:r>
              <a:rPr lang="zh-TW" altLang="en-US" sz="12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決策樹會依序檢查溫度、濕度等條件，將資料分到葉節點；</a:t>
            </a:r>
            <a:r>
              <a:rPr lang="en-US" altLang="zh-TW" sz="12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Random Forest </a:t>
            </a:r>
            <a:r>
              <a:rPr lang="zh-TW" altLang="en-US" sz="12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則整合多棵樹，使預測較穩定。</a:t>
            </a:r>
            <a:endParaRPr sz="1200">
              <a:solidFill>
                <a:srgbClr val="222222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2692778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圓角 7">
            <a:extLst>
              <a:ext uri="{FF2B5EF4-FFF2-40B4-BE49-F238E27FC236}">
                <a16:creationId xmlns:a16="http://schemas.microsoft.com/office/drawing/2014/main" id="{45699EDB-A34F-CD95-4D99-DCC1F19A8475}"/>
              </a:ext>
            </a:extLst>
          </p:cNvPr>
          <p:cNvSpPr>
            <a:spLocks noGrp="1"/>
          </p:cNvSpPr>
          <p:nvPr/>
        </p:nvSpPr>
        <p:spPr>
          <a:xfrm>
            <a:off x="1098810" y="5407924"/>
            <a:ext cx="3253562" cy="1024771"/>
          </a:xfrm>
          <a:prstGeom prst="round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5143D28-2D87-7C2F-E581-16C520B67B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9F68E2-31C2-4D90-A536-67698CDE3376}" type="slidenum">
              <a:rPr/>
              <a:t>14</a:t>
            </a:fld>
            <a:endParaRPr/>
          </a:p>
        </p:txBody>
      </p:sp>
      <p:graphicFrame>
        <p:nvGraphicFramePr>
          <p:cNvPr id="16" name="表格 2"/>
          <p:cNvGraphicFramePr/>
          <p:nvPr/>
        </p:nvGraphicFramePr>
        <p:xfrm>
          <a:off x="838200" y="1554742"/>
          <a:ext cx="10515600" cy="2923373"/>
        </p:xfrm>
        <a:graphic>
          <a:graphicData uri="http://schemas.openxmlformats.org/drawingml/2006/table">
            <a:tbl>
              <a:tblPr/>
              <a:tblGrid>
                <a:gridCol w="2298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6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0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8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1">
                          <a:latin typeface="Microsoft YaHei"/>
                          <a:ea typeface="Microsoft YaHei"/>
                          <a:cs typeface="Microsoft YaHei"/>
                        </a:rPr>
                        <a:t>參數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1">
                          <a:latin typeface="Microsoft YaHei"/>
                          <a:ea typeface="Microsoft YaHei"/>
                          <a:cs typeface="Microsoft YaHei"/>
                        </a:rPr>
                        <a:t>設定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1">
                          <a:latin typeface="Microsoft YaHei"/>
                          <a:ea typeface="Microsoft YaHei"/>
                          <a:cs typeface="Microsoft YaHei"/>
                        </a:rPr>
                        <a:t>意義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n_estimators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建 500 棵樹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88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min_samples_leaf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每個葉節點至少 5 筆資料 </a:t>
                      </a:r>
                      <a:r>
                        <a:rPr sz="14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(模型訓練時，每一棵樹在建立規則時，最終分組不能少於 5 筆觀測資料。</a:t>
                      </a: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random_state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42 </a:t>
                      </a:r>
                      <a:r>
                        <a:rPr sz="14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(數字沒有特殊意義，42 只是程式範例中常見的習慣值。)</a:t>
                      </a:r>
                      <a:endParaRPr>
                        <a:solidFill>
                          <a:schemeClr val="bg2">
                            <a:lumMod val="50000"/>
                          </a:schemeClr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固定隨機種子，結果可重現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err="1">
                          <a:latin typeface="Microsoft YaHei"/>
                          <a:ea typeface="Microsoft YaHei"/>
                          <a:cs typeface="Microsoft YaHei"/>
                        </a:rPr>
                        <a:t>oob_score</a:t>
                      </a:r>
                      <a:endParaRPr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err="1">
                          <a:latin typeface="Microsoft YaHei"/>
                          <a:ea typeface="Microsoft YaHei"/>
                          <a:cs typeface="Microsoft YaHei"/>
                        </a:rPr>
                        <a:t>計算</a:t>
                      </a: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 R²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5708F179-3E48-2601-1522-84065751EABD}"/>
              </a:ext>
            </a:extLst>
          </p:cNvPr>
          <p:cNvSpPr>
            <a:spLocks noGrp="1"/>
          </p:cNvSpPr>
          <p:nvPr/>
        </p:nvSpPr>
        <p:spPr>
          <a:xfrm>
            <a:off x="1271588" y="5439824"/>
            <a:ext cx="6119036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b="1">
                <a:latin typeface="Microsoft YaHei"/>
                <a:ea typeface="Microsoft YaHei"/>
                <a:cs typeface="Microsoft YaHei"/>
              </a:rPr>
              <a:t>訓練資料：</a:t>
            </a:r>
            <a:r>
              <a:rPr>
                <a:latin typeface="Microsoft YaHei"/>
                <a:ea typeface="Microsoft YaHei"/>
                <a:cs typeface="Microsoft YaHei"/>
              </a:rPr>
              <a:t>2018–2023 年</a:t>
            </a:r>
            <a:br/>
            <a:r>
              <a:rPr b="1">
                <a:latin typeface="Microsoft YaHei"/>
                <a:ea typeface="Microsoft YaHei"/>
                <a:cs typeface="Microsoft YaHei"/>
              </a:rPr>
              <a:t>測試資料：</a:t>
            </a:r>
            <a:r>
              <a:rPr>
                <a:latin typeface="Microsoft YaHei"/>
                <a:ea typeface="Microsoft YaHei"/>
                <a:cs typeface="Microsoft YaHei"/>
              </a:rPr>
              <a:t>2024–2025 年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325C754-FE55-46A1-F73C-F7A2C39D9A6E}"/>
              </a:ext>
            </a:extLst>
          </p:cNvPr>
          <p:cNvSpPr>
            <a:spLocks noGrp="1"/>
          </p:cNvSpPr>
          <p:nvPr/>
        </p:nvSpPr>
        <p:spPr>
          <a:xfrm>
            <a:off x="2998380" y="374392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chemeClr val="accent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模式概念</a:t>
            </a:r>
          </a:p>
        </p:txBody>
      </p:sp>
      <p:pic>
        <p:nvPicPr>
          <p:cNvPr id="19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6456" y="4651271"/>
            <a:ext cx="5953956" cy="1781424"/>
          </a:xfrm>
          <a:prstGeom prst="roundRect">
            <a:avLst>
              <a:gd name="adj" fmla="val 6520"/>
            </a:avLst>
          </a:prstGeom>
          <a:ln w="19050">
            <a:solidFill>
              <a:schemeClr val="tx1"/>
            </a:solidFill>
          </a:ln>
        </p:spPr>
      </p:pic>
      <p:sp>
        <p:nvSpPr>
          <p:cNvPr id="13" name="【說明】補充框">
            <a:extLst>
              <a:ext uri="{FF2B5EF4-FFF2-40B4-BE49-F238E27FC236}">
                <a16:creationId xmlns:a16="http://schemas.microsoft.com/office/drawing/2014/main" id="{18BA3EE4-7218-4703-AABC-94866DABC51D}"/>
              </a:ext>
            </a:extLst>
          </p:cNvPr>
          <p:cNvSpPr>
            <a:spLocks noGrp="1"/>
          </p:cNvSpPr>
          <p:nvPr/>
        </p:nvSpPr>
        <p:spPr>
          <a:xfrm>
            <a:off x="838200" y="863918"/>
            <a:ext cx="6286500" cy="570629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7144">
            <a:solidFill>
              <a:srgbClr val="C9CDD3"/>
            </a:solidFill>
            <a:prstDash val="solid"/>
          </a:ln>
        </p:spPr>
        <p:txBody>
          <a:bodyPr/>
          <a:lstStyle/>
          <a:p>
            <a:pPr>
              <a:defRPr sz="750">
                <a:solidFill>
                  <a:srgbClr val="4D4D4D"/>
                </a:solidFill>
              </a:defRPr>
            </a:pPr>
            <a:r>
              <a:rPr sz="1200" b="1">
                <a:solidFill>
                  <a:srgbClr val="1F5C9E"/>
                </a:solidFill>
                <a:latin typeface="Microsoft JhengHei"/>
                <a:ea typeface="Microsoft JhengHei"/>
              </a:rPr>
              <a:t>【</a:t>
            </a:r>
            <a:r>
              <a:rPr sz="1200" b="1" err="1">
                <a:solidFill>
                  <a:srgbClr val="1F5C9E"/>
                </a:solidFill>
                <a:latin typeface="Microsoft JhengHei"/>
                <a:ea typeface="Microsoft JhengHei"/>
              </a:rPr>
              <a:t>說明</a:t>
            </a:r>
            <a:r>
              <a:rPr sz="1200" b="1">
                <a:solidFill>
                  <a:srgbClr val="1F5C9E"/>
                </a:solidFill>
                <a:latin typeface="Microsoft JhengHei"/>
                <a:ea typeface="Microsoft JhengHei"/>
              </a:rPr>
              <a:t>】 </a:t>
            </a:r>
            <a:r>
              <a:rPr sz="1200">
                <a:solidFill>
                  <a:srgbClr val="4D4D4D"/>
                </a:solidFill>
              </a:rPr>
              <a:t>RF 以 2018–2023 年訓練、2024–2025 年測試；500 </a:t>
            </a:r>
            <a:r>
              <a:rPr sz="1200" err="1">
                <a:solidFill>
                  <a:srgbClr val="4D4D4D"/>
                </a:solidFill>
              </a:rPr>
              <a:t>棵樹提升穩定性，葉節點最少</a:t>
            </a:r>
            <a:r>
              <a:rPr sz="1200">
                <a:solidFill>
                  <a:srgbClr val="4D4D4D"/>
                </a:solidFill>
              </a:rPr>
              <a:t> 5 </a:t>
            </a:r>
            <a:r>
              <a:rPr sz="1200" err="1">
                <a:solidFill>
                  <a:srgbClr val="4D4D4D"/>
                </a:solidFill>
              </a:rPr>
              <a:t>筆資料可降低過度配適</a:t>
            </a:r>
            <a:r>
              <a:rPr sz="1200">
                <a:solidFill>
                  <a:srgbClr val="4D4D4D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364407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8D52329-7C14-15B7-A149-EA35C98AB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9F68E2-31C2-4D90-A536-67698CDE3376}" type="slidenum">
              <a:rPr/>
              <a:t>15</a:t>
            </a:fld>
            <a:endParaRPr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093BC44-7108-D55E-CA1A-B2FFE191BA05}"/>
              </a:ext>
            </a:extLst>
          </p:cNvPr>
          <p:cNvSpPr>
            <a:spLocks noGrp="1"/>
          </p:cNvSpPr>
          <p:nvPr/>
        </p:nvSpPr>
        <p:spPr>
          <a:xfrm>
            <a:off x="2998380" y="374392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chemeClr val="accent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結果產出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2152D6F-8F2B-85DB-F5D1-088F2FBCB455}"/>
              </a:ext>
            </a:extLst>
          </p:cNvPr>
          <p:cNvSpPr>
            <a:spLocks noGrp="1"/>
          </p:cNvSpPr>
          <p:nvPr/>
        </p:nvSpPr>
        <p:spPr>
          <a:xfrm>
            <a:off x="1292850" y="1586196"/>
            <a:ext cx="10434862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b="1">
                <a:latin typeface="Microsoft YaHei"/>
                <a:ea typeface="Microsoft YaHei"/>
                <a:cs typeface="Microsoft YaHei"/>
              </a:rPr>
              <a:t>1. Model performance: R2 / RMSE / MAE for regression; </a:t>
            </a:r>
            <a:r>
              <a:rPr b="1" u="sng">
                <a:latin typeface="Microsoft YaHei"/>
                <a:ea typeface="Microsoft YaHei"/>
                <a:cs typeface="Microsoft YaHei"/>
              </a:rPr>
              <a:t>AUC</a:t>
            </a:r>
            <a:r>
              <a:rPr b="1">
                <a:latin typeface="Microsoft YaHei"/>
                <a:ea typeface="Microsoft YaHei"/>
                <a:cs typeface="Microsoft YaHei"/>
              </a:rPr>
              <a:t> / </a:t>
            </a:r>
            <a:r>
              <a:rPr b="1" u="sng">
                <a:latin typeface="Microsoft YaHei"/>
                <a:ea typeface="Microsoft YaHei"/>
                <a:cs typeface="Microsoft YaHei"/>
              </a:rPr>
              <a:t>F1</a:t>
            </a:r>
            <a:r>
              <a:rPr b="1">
                <a:latin typeface="Microsoft YaHei"/>
                <a:ea typeface="Microsoft YaHei"/>
                <a:cs typeface="Microsoft YaHei"/>
              </a:rPr>
              <a:t> for classification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C3F2D0A-BEB8-A1FC-3966-BBBDCFA53640}"/>
              </a:ext>
            </a:extLst>
          </p:cNvPr>
          <p:cNvSpPr>
            <a:spLocks noGrp="1"/>
          </p:cNvSpPr>
          <p:nvPr/>
        </p:nvSpPr>
        <p:spPr>
          <a:xfrm>
            <a:off x="3976578" y="1984847"/>
            <a:ext cx="82263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chemeClr val="bg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Area Under the ROC Curve : 模型能不能把「高臭氧事件日」和「非事件日」分開。 </a:t>
            </a:r>
            <a:endParaRPr sz="160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5DF16A3F-12E1-556F-727F-16F7A261B75D}"/>
              </a:ext>
            </a:extLst>
          </p:cNvPr>
          <p:cNvSpPr>
            <a:spLocks noGrp="1"/>
          </p:cNvSpPr>
          <p:nvPr/>
        </p:nvSpPr>
        <p:spPr>
          <a:xfrm>
            <a:off x="6581553" y="1307139"/>
            <a:ext cx="42549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chemeClr val="bg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Precision (精確率)和 Recall (召回率)的綜合指標。F1 = 2 × Precision × Recall / (Precision + Recall)</a:t>
            </a:r>
            <a:endParaRPr sz="160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C814E3A-A9CC-EF80-A093-89646614E254}"/>
              </a:ext>
            </a:extLst>
          </p:cNvPr>
          <p:cNvSpPr>
            <a:spLocks noGrp="1"/>
          </p:cNvSpPr>
          <p:nvPr/>
        </p:nvSpPr>
        <p:spPr>
          <a:xfrm>
            <a:off x="1303473" y="2396172"/>
            <a:ext cx="109204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600">
                <a:latin typeface="Microsoft YaHei"/>
                <a:ea typeface="Microsoft YaHei"/>
                <a:cs typeface="Microsoft YaHei"/>
              </a:rPr>
              <a:t>F1跟AUC都會看臭氧有沒有大於等於60ppb的日子嗎，意思是說他們不是預測濃度，而回答是非題再看有多少對錯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68D9DB0-4ABD-3664-FA2E-0963717243A7}"/>
              </a:ext>
            </a:extLst>
          </p:cNvPr>
          <p:cNvSpPr>
            <a:spLocks noGrp="1"/>
          </p:cNvSpPr>
          <p:nvPr/>
        </p:nvSpPr>
        <p:spPr>
          <a:xfrm>
            <a:off x="1292850" y="3158313"/>
            <a:ext cx="10434862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b="1">
                <a:latin typeface="Microsoft YaHei"/>
                <a:ea typeface="Microsoft YaHei"/>
                <a:cs typeface="Microsoft YaHei"/>
              </a:rPr>
              <a:t>2. Variable importance: identifies key meteorological drivers 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7B006DD4-96AF-A26F-8CA9-185468901858}"/>
              </a:ext>
            </a:extLst>
          </p:cNvPr>
          <p:cNvSpPr>
            <a:spLocks noGrp="1"/>
          </p:cNvSpPr>
          <p:nvPr/>
        </p:nvSpPr>
        <p:spPr>
          <a:xfrm>
            <a:off x="1261662" y="3507609"/>
            <a:ext cx="98713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200">
                <a:solidFill>
                  <a:schemeClr val="bg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變數重要性 : 哪些變數對模型最有幫助？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F2AC2C0C-9E74-5736-5288-85A96A6308CD}"/>
              </a:ext>
            </a:extLst>
          </p:cNvPr>
          <p:cNvSpPr>
            <a:spLocks noGrp="1"/>
          </p:cNvSpPr>
          <p:nvPr/>
        </p:nvSpPr>
        <p:spPr>
          <a:xfrm>
            <a:off x="1292850" y="3945530"/>
            <a:ext cx="109204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600">
                <a:latin typeface="Microsoft YaHei"/>
                <a:ea typeface="Microsoft YaHei"/>
                <a:cs typeface="Microsoft YaHei"/>
              </a:rPr>
              <a:t>先看原始模型表現 → 一次</a:t>
            </a:r>
            <a:r>
              <a:rPr sz="1600" b="1" u="sng">
                <a:latin typeface="Microsoft YaHei"/>
                <a:ea typeface="Microsoft YaHei"/>
                <a:cs typeface="Microsoft YaHei"/>
              </a:rPr>
              <a:t>打亂</a:t>
            </a:r>
            <a:r>
              <a:rPr sz="1600">
                <a:latin typeface="Microsoft YaHei"/>
                <a:ea typeface="Microsoft YaHei"/>
                <a:cs typeface="Microsoft YaHei"/>
              </a:rPr>
              <a:t>一個變數 → 觀察模型表現下降多少 → 下降越多，該變數越重要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94FD9ED-0A59-B09C-BCF1-349C1CDD0186}"/>
              </a:ext>
            </a:extLst>
          </p:cNvPr>
          <p:cNvSpPr>
            <a:spLocks noGrp="1"/>
          </p:cNvSpPr>
          <p:nvPr/>
        </p:nvSpPr>
        <p:spPr>
          <a:xfrm>
            <a:off x="3611468" y="4199224"/>
            <a:ext cx="82263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chemeClr val="bg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把某一個變數的數值重新洗牌，讓它和原本那一天的臭氧值對不起來。</a:t>
            </a:r>
            <a:endParaRPr sz="1600"/>
          </a:p>
        </p:txBody>
      </p:sp>
      <p:sp>
        <p:nvSpPr>
          <p:cNvPr id="21" name="直線接點 20">
            <a:extLst>
              <a:ext uri="{FF2B5EF4-FFF2-40B4-BE49-F238E27FC236}">
                <a16:creationId xmlns:a16="http://schemas.microsoft.com/office/drawing/2014/main" id="{476A3C1D-2A77-4E3A-9395-1F84272BE63B}"/>
              </a:ext>
            </a:extLst>
          </p:cNvPr>
          <p:cNvSpPr>
            <a:spLocks noGrp="1"/>
          </p:cNvSpPr>
          <p:nvPr/>
        </p:nvSpPr>
        <p:spPr>
          <a:xfrm>
            <a:off x="1537291" y="2946520"/>
            <a:ext cx="9816509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2" name="直線接點 21">
            <a:extLst>
              <a:ext uri="{FF2B5EF4-FFF2-40B4-BE49-F238E27FC236}">
                <a16:creationId xmlns:a16="http://schemas.microsoft.com/office/drawing/2014/main" id="{F18591A9-AF29-428D-8F70-45765D5DE9EF}"/>
              </a:ext>
            </a:extLst>
          </p:cNvPr>
          <p:cNvSpPr>
            <a:spLocks noGrp="1"/>
          </p:cNvSpPr>
          <p:nvPr/>
        </p:nvSpPr>
        <p:spPr>
          <a:xfrm>
            <a:off x="1537291" y="4688016"/>
            <a:ext cx="9816509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4BF6A53-CA9E-9ECD-3A38-F890851D4F9F}"/>
              </a:ext>
            </a:extLst>
          </p:cNvPr>
          <p:cNvSpPr>
            <a:spLocks noGrp="1"/>
          </p:cNvSpPr>
          <p:nvPr/>
        </p:nvSpPr>
        <p:spPr>
          <a:xfrm>
            <a:off x="1292850" y="4899810"/>
            <a:ext cx="10434862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b="1">
                <a:latin typeface="Microsoft YaHei"/>
                <a:ea typeface="Microsoft YaHei"/>
                <a:cs typeface="Microsoft YaHei"/>
              </a:rPr>
              <a:t>3. Partial dependence: shows nonlinear O3 responses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4B76C2A6-5F25-27C6-C31B-701A5B84FDC3}"/>
              </a:ext>
            </a:extLst>
          </p:cNvPr>
          <p:cNvSpPr>
            <a:spLocks noGrp="1"/>
          </p:cNvSpPr>
          <p:nvPr/>
        </p:nvSpPr>
        <p:spPr>
          <a:xfrm>
            <a:off x="1261662" y="5235123"/>
            <a:ext cx="98713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200">
                <a:solidFill>
                  <a:schemeClr val="bg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部分依賴圖 : 變數變化時 O3 怎麼變？它不是重新訓練模型。它是在模型訓練好之後，拿來「測試模型怎麼想」。  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E834420-BCC7-E8C4-E551-AB074EEC61FE}"/>
              </a:ext>
            </a:extLst>
          </p:cNvPr>
          <p:cNvSpPr>
            <a:spLocks noGrp="1"/>
          </p:cNvSpPr>
          <p:nvPr/>
        </p:nvSpPr>
        <p:spPr>
          <a:xfrm>
            <a:off x="1292850" y="5545408"/>
            <a:ext cx="105449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600">
                <a:latin typeface="Microsoft YaHei"/>
                <a:ea typeface="Microsoft YaHei"/>
                <a:cs typeface="Microsoft YaHei"/>
              </a:rPr>
              <a:t>先假裝所有日子的溫度都是 25°C，然後讓模型預測 O3。→ 先假裝所有日子的溫度都是 25°C，然後讓模型預測 O3</a:t>
            </a:r>
          </a:p>
          <a:p>
            <a:pPr>
              <a:buNone/>
            </a:pPr>
            <a:r>
              <a:rPr sz="1600">
                <a:latin typeface="Microsoft YaHei"/>
                <a:ea typeface="Microsoft YaHei"/>
                <a:cs typeface="Microsoft YaHei"/>
              </a:rPr>
              <a:t>→ 觀察模型表現下降多少 → 再假裝所有日子的溫度都是 35°C，再預測一次。 → 最後劃出條線</a:t>
            </a:r>
          </a:p>
        </p:txBody>
      </p:sp>
      <p:sp>
        <p:nvSpPr>
          <p:cNvPr id="27" name="【說明】補充框">
            <a:extLst>
              <a:ext uri="{FF2B5EF4-FFF2-40B4-BE49-F238E27FC236}">
                <a16:creationId xmlns:a16="http://schemas.microsoft.com/office/drawing/2014/main" id="{0C5C6679-E869-4147-80FF-3CD2CA36D686}"/>
              </a:ext>
            </a:extLst>
          </p:cNvPr>
          <p:cNvSpPr>
            <a:spLocks noGrp="1"/>
          </p:cNvSpPr>
          <p:nvPr/>
        </p:nvSpPr>
        <p:spPr>
          <a:xfrm>
            <a:off x="914400" y="876300"/>
            <a:ext cx="6858000" cy="314325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 w="7144">
            <a:solidFill>
              <a:srgbClr val="C9CDD3"/>
            </a:solidFill>
            <a:prstDash val="solid"/>
          </a:ln>
        </p:spPr>
        <p:txBody>
          <a:bodyPr/>
          <a:lstStyle/>
          <a:p>
            <a:pPr>
              <a:defRPr sz="750">
                <a:solidFill>
                  <a:srgbClr val="4D4D4D"/>
                </a:solidFill>
              </a:defRPr>
            </a:pPr>
            <a:r>
              <a:rPr sz="750">
                <a:solidFill>
                  <a:srgbClr val="4D4D4D"/>
                </a:solidFill>
              </a:rPr>
              <a:t>【說明】 RF 產出濃度回歸表現、事件分類能力、變數重要性與部分依賴圖，用來評估模型表現並辨識主要氣象驅動因子。</a:t>
            </a:r>
          </a:p>
        </p:txBody>
      </p:sp>
    </p:spTree>
    <p:extLst>
      <p:ext uri="{BB962C8B-B14F-4D97-AF65-F5344CB8AC3E}">
        <p14:creationId xmlns:p14="http://schemas.microsoft.com/office/powerpoint/2010/main" val="4014103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747922E-9909-165D-9483-21C7931414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9F68E2-31C2-4D90-A536-67698CDE3376}" type="slidenum">
              <a:rPr/>
              <a:t>16</a:t>
            </a:fld>
            <a:endParaRPr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4E1A5B2-6A10-7674-5AE1-0FE94BD724BB}"/>
              </a:ext>
            </a:extLst>
          </p:cNvPr>
          <p:cNvSpPr>
            <a:spLocks noGrp="1"/>
          </p:cNvSpPr>
          <p:nvPr/>
        </p:nvSpPr>
        <p:spPr>
          <a:xfrm>
            <a:off x="1292850" y="884447"/>
            <a:ext cx="10434862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b="1">
                <a:latin typeface="Microsoft YaHei"/>
                <a:ea typeface="Microsoft YaHei"/>
                <a:cs typeface="Microsoft YaHei"/>
              </a:rPr>
              <a:t>GAM 的基本式子是：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678773F-A365-BE5E-1024-768EB450D9E7}"/>
              </a:ext>
            </a:extLst>
          </p:cNvPr>
          <p:cNvSpPr>
            <a:spLocks noGrp="1"/>
          </p:cNvSpPr>
          <p:nvPr/>
        </p:nvSpPr>
        <p:spPr>
          <a:xfrm>
            <a:off x="1757138" y="1506497"/>
            <a:ext cx="10434862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>
                <a:latin typeface="Microsoft YaHei"/>
                <a:ea typeface="Microsoft YaHei"/>
                <a:cs typeface="Microsoft YaHei"/>
              </a:rPr>
              <a:t>MDA8 O3 = β0 + </a:t>
            </a:r>
            <a:r>
              <a:rPr sz="2000" b="1" u="sng">
                <a:solidFill>
                  <a:schemeClr val="accent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s(temp_max) </a:t>
            </a:r>
            <a:r>
              <a:rPr>
                <a:latin typeface="Microsoft YaHei"/>
                <a:ea typeface="Microsoft YaHei"/>
                <a:cs typeface="Microsoft YaHei"/>
              </a:rPr>
              <a:t>+ s(rh_mean) + s(wind_speed) + s(rain) + ...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FA4A333-E032-0150-3BB8-8C04E4EC484E}"/>
              </a:ext>
            </a:extLst>
          </p:cNvPr>
          <p:cNvSpPr>
            <a:spLocks noGrp="1"/>
          </p:cNvSpPr>
          <p:nvPr/>
        </p:nvSpPr>
        <p:spPr>
          <a:xfrm>
            <a:off x="5402285" y="374392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chemeClr val="accent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模式概念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240F9E1-FBAC-5228-8D71-27DDC624CFB8}"/>
              </a:ext>
            </a:extLst>
          </p:cNvPr>
          <p:cNvSpPr>
            <a:spLocks noGrp="1"/>
          </p:cNvSpPr>
          <p:nvPr/>
        </p:nvSpPr>
        <p:spPr>
          <a:xfrm>
            <a:off x="1292850" y="2169263"/>
            <a:ext cx="10434862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b="1">
                <a:latin typeface="Microsoft YaHei"/>
                <a:ea typeface="Microsoft YaHei"/>
                <a:cs typeface="Microsoft YaHei"/>
              </a:rPr>
              <a:t>其中每一條平滑曲線可以寫成：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1F4D325-1197-261B-B258-68A97D7AAD24}"/>
              </a:ext>
            </a:extLst>
          </p:cNvPr>
          <p:cNvSpPr>
            <a:spLocks noGrp="1"/>
          </p:cNvSpPr>
          <p:nvPr/>
        </p:nvSpPr>
        <p:spPr>
          <a:xfrm>
            <a:off x="1757138" y="2791313"/>
            <a:ext cx="10434862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sz="2000" b="1" u="sng">
                <a:solidFill>
                  <a:schemeClr val="accent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s(temp_max) </a:t>
            </a:r>
            <a:r>
              <a:rPr>
                <a:latin typeface="Microsoft YaHei"/>
                <a:ea typeface="Microsoft YaHei"/>
                <a:cs typeface="Microsoft YaHei"/>
              </a:rPr>
              <a:t>= β1B1(temp_max) + β2B2(temp_max) + ... + β10B10(temp_max)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140F529-0006-0BE1-3173-55865DF0F7A7}"/>
              </a:ext>
            </a:extLst>
          </p:cNvPr>
          <p:cNvSpPr>
            <a:spLocks noGrp="1"/>
          </p:cNvSpPr>
          <p:nvPr/>
        </p:nvSpPr>
        <p:spPr>
          <a:xfrm>
            <a:off x="1292850" y="3449334"/>
            <a:ext cx="10434862" cy="1900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sz="2000">
                <a:latin typeface="Microsoft YaHei"/>
                <a:ea typeface="Microsoft YaHei"/>
                <a:cs typeface="Microsoft YaHei"/>
              </a:rPr>
              <a:t>這裡：</a:t>
            </a:r>
          </a:p>
          <a:p>
            <a:pPr marL="342900" lvl="0" indent="-342900">
              <a:lnSpc>
                <a:spcPct val="150000"/>
              </a:lnSpc>
              <a:buFont typeface="Arial"/>
              <a:buChar char="•"/>
            </a:pPr>
            <a:r>
              <a:rPr sz="2000">
                <a:latin typeface="Microsoft YaHei"/>
                <a:ea typeface="Microsoft YaHei"/>
                <a:cs typeface="Microsoft YaHei"/>
              </a:rPr>
              <a:t>B1, B2, ..., B10 是 spline 基底</a:t>
            </a:r>
          </a:p>
          <a:p>
            <a:pPr marL="342900" lvl="0" indent="-342900">
              <a:lnSpc>
                <a:spcPct val="150000"/>
              </a:lnSpc>
              <a:buFont typeface="Arial"/>
              <a:buChar char="•"/>
            </a:pPr>
            <a:r>
              <a:rPr sz="2000" b="1" u="sng">
                <a:latin typeface="Microsoft YaHei"/>
                <a:ea typeface="Microsoft YaHei"/>
                <a:cs typeface="Microsoft YaHei"/>
              </a:rPr>
              <a:t>β1, β2, ..., β10 </a:t>
            </a:r>
            <a:r>
              <a:rPr sz="2000">
                <a:latin typeface="Microsoft YaHei"/>
                <a:ea typeface="Microsoft YaHei"/>
                <a:cs typeface="Microsoft YaHei"/>
              </a:rPr>
              <a:t>是模型要估計的係數</a:t>
            </a:r>
          </a:p>
          <a:p>
            <a:pPr marL="342900" lvl="0" indent="-342900">
              <a:lnSpc>
                <a:spcPct val="150000"/>
              </a:lnSpc>
              <a:buFont typeface="Arial"/>
              <a:buChar char="•"/>
            </a:pPr>
            <a:r>
              <a:rPr sz="2000">
                <a:latin typeface="Microsoft YaHei"/>
                <a:ea typeface="Microsoft YaHei"/>
                <a:cs typeface="Microsoft YaHei"/>
              </a:rPr>
              <a:t>n_splines = 10 表示用 </a:t>
            </a:r>
            <a:r>
              <a:rPr sz="2000" b="1" u="sng">
                <a:latin typeface="Microsoft YaHei"/>
                <a:ea typeface="Microsoft YaHei"/>
                <a:cs typeface="Microsoft YaHei"/>
              </a:rPr>
              <a:t>10 個基底</a:t>
            </a:r>
            <a:r>
              <a:rPr sz="2000">
                <a:latin typeface="Microsoft YaHei"/>
                <a:ea typeface="Microsoft YaHei"/>
                <a:cs typeface="Microsoft YaHei"/>
              </a:rPr>
              <a:t>去組成這條曲線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7238890-2EEB-60FD-0EC1-D7CDDFE440A4}"/>
              </a:ext>
            </a:extLst>
          </p:cNvPr>
          <p:cNvSpPr>
            <a:spLocks noGrp="1"/>
          </p:cNvSpPr>
          <p:nvPr/>
        </p:nvSpPr>
        <p:spPr>
          <a:xfrm>
            <a:off x="6096000" y="4441898"/>
            <a:ext cx="40173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chemeClr val="bg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Σ(實際 O3 - 預測 O3)² + λ × 曲線彎曲程度 (越小越好) : 用來判斷「哪一組 β 最好」的標準。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C614C31-C29F-AEFB-A85D-31C671B6EC29}"/>
              </a:ext>
            </a:extLst>
          </p:cNvPr>
          <p:cNvSpPr>
            <a:spLocks noGrp="1"/>
          </p:cNvSpPr>
          <p:nvPr/>
        </p:nvSpPr>
        <p:spPr>
          <a:xfrm>
            <a:off x="7006468" y="4165265"/>
            <a:ext cx="40173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chemeClr val="bg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預測誤差 + 平滑懲罰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EB0CA6EE-3711-CEA5-91B9-5C137BCEAEEE}"/>
              </a:ext>
            </a:extLst>
          </p:cNvPr>
          <p:cNvSpPr>
            <a:spLocks noGrp="1"/>
          </p:cNvSpPr>
          <p:nvPr/>
        </p:nvSpPr>
        <p:spPr>
          <a:xfrm>
            <a:off x="2754051" y="5349406"/>
            <a:ext cx="44229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chemeClr val="bg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用很多小段平滑曲線接起來，形成一條完整曲線的方法。 β1B1，也就是說，它是由很多小段的 三次多項式 接起來的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8F61170-78C0-0BA3-AA10-C04700C047C2}"/>
              </a:ext>
            </a:extLst>
          </p:cNvPr>
          <p:cNvSpPr>
            <a:spLocks noGrp="1"/>
          </p:cNvSpPr>
          <p:nvPr/>
        </p:nvSpPr>
        <p:spPr>
          <a:xfrm>
            <a:off x="1292850" y="5973553"/>
            <a:ext cx="10434862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b="1">
                <a:latin typeface="Microsoft YaHei"/>
                <a:ea typeface="Microsoft YaHei"/>
                <a:cs typeface="Microsoft YaHei"/>
              </a:rPr>
              <a:t>程式根據資料矩陣，用數學方法直接算出讓總分最低的一組 β。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【說明】補充框">
            <a:extLst>
              <a:ext uri="{FF2B5EF4-FFF2-40B4-BE49-F238E27FC236}">
                <a16:creationId xmlns:a16="http://schemas.microsoft.com/office/drawing/2014/main" id="{FF16E7F3-AFF8-4197-830F-71ECAF1005E4}"/>
              </a:ext>
            </a:extLst>
          </p:cNvPr>
          <p:cNvSpPr>
            <a:spLocks noGrp="1"/>
          </p:cNvSpPr>
          <p:nvPr/>
        </p:nvSpPr>
        <p:spPr>
          <a:xfrm>
            <a:off x="6572250" y="819150"/>
            <a:ext cx="4333875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7144">
            <a:solidFill>
              <a:srgbClr val="C9CDD3"/>
            </a:solidFill>
            <a:prstDash val="solid"/>
          </a:ln>
        </p:spPr>
        <p:txBody>
          <a:bodyPr/>
          <a:lstStyle/>
          <a:p>
            <a:pPr>
              <a:defRPr sz="750">
                <a:solidFill>
                  <a:srgbClr val="4D4D4D"/>
                </a:solidFill>
              </a:defRPr>
            </a:pPr>
            <a:r>
              <a:rPr sz="750">
                <a:solidFill>
                  <a:srgbClr val="4D4D4D"/>
                </a:solidFill>
              </a:rPr>
              <a:t>【說明】 GAM 將氣象因子表示為平滑函數，透過預測誤差與平滑懲罰估計各因子和 MDA8 O3 的非線性關係。</a:t>
            </a:r>
          </a:p>
        </p:txBody>
      </p:sp>
    </p:spTree>
    <p:extLst>
      <p:ext uri="{BB962C8B-B14F-4D97-AF65-F5344CB8AC3E}">
        <p14:creationId xmlns:p14="http://schemas.microsoft.com/office/powerpoint/2010/main" val="36363610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0877FBF-4804-AC33-091A-D396B17904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9F68E2-31C2-4D90-A536-67698CDE3376}" type="slidenum">
              <a:rPr/>
              <a:t>17</a:t>
            </a:fld>
            <a:endParaRPr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1DC51B3-DAB6-7BB2-563B-C4E2DFE7BB90}"/>
              </a:ext>
            </a:extLst>
          </p:cNvPr>
          <p:cNvSpPr>
            <a:spLocks noGrp="1"/>
          </p:cNvSpPr>
          <p:nvPr/>
        </p:nvSpPr>
        <p:spPr>
          <a:xfrm>
            <a:off x="5402285" y="374392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chemeClr val="accent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結果產出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7553FA6-271B-7955-4DED-8EFBD48771F2}"/>
              </a:ext>
            </a:extLst>
          </p:cNvPr>
          <p:cNvSpPr>
            <a:spLocks noGrp="1"/>
          </p:cNvSpPr>
          <p:nvPr/>
        </p:nvSpPr>
        <p:spPr>
          <a:xfrm>
            <a:off x="1292850" y="1586196"/>
            <a:ext cx="10434862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b="1">
                <a:latin typeface="Microsoft YaHei"/>
                <a:ea typeface="Microsoft YaHei"/>
                <a:cs typeface="Microsoft YaHei"/>
              </a:rPr>
              <a:t>1. Model performance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24D48EE-17E5-F582-70B0-729E33FEB9D6}"/>
              </a:ext>
            </a:extLst>
          </p:cNvPr>
          <p:cNvSpPr>
            <a:spLocks noGrp="1"/>
          </p:cNvSpPr>
          <p:nvPr/>
        </p:nvSpPr>
        <p:spPr>
          <a:xfrm>
            <a:off x="1303473" y="2215419"/>
            <a:ext cx="109204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600">
                <a:latin typeface="Microsoft YaHei"/>
                <a:ea typeface="Microsoft YaHei"/>
                <a:cs typeface="Microsoft YaHei"/>
              </a:rPr>
              <a:t>R2、RMS、EMAE，看 GAM 對 2024–2025 年 MDA8 O3 的解釋能力。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0161F4D-AA5D-E8BB-53E0-940C1CE07783}"/>
              </a:ext>
            </a:extLst>
          </p:cNvPr>
          <p:cNvSpPr>
            <a:spLocks noGrp="1"/>
          </p:cNvSpPr>
          <p:nvPr/>
        </p:nvSpPr>
        <p:spPr>
          <a:xfrm>
            <a:off x="1292850" y="3041530"/>
            <a:ext cx="10434862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b="1">
                <a:latin typeface="Microsoft YaHei"/>
                <a:ea typeface="Microsoft YaHei"/>
                <a:cs typeface="Microsoft YaHei"/>
              </a:rPr>
              <a:t>2. Smooth effect curves  </a:t>
            </a:r>
            <a:endParaRPr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4E8FEB55-B040-9F7A-D870-1990D0F9D146}"/>
              </a:ext>
            </a:extLst>
          </p:cNvPr>
          <p:cNvSpPr>
            <a:spLocks noGrp="1"/>
          </p:cNvSpPr>
          <p:nvPr/>
        </p:nvSpPr>
        <p:spPr>
          <a:xfrm>
            <a:off x="1303473" y="3670753"/>
            <a:ext cx="109204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600">
                <a:latin typeface="Microsoft YaHei"/>
                <a:ea typeface="Microsoft YaHei"/>
                <a:cs typeface="Microsoft YaHei"/>
              </a:rPr>
              <a:t>各氣象變數的平滑效果曲線，例如</a:t>
            </a:r>
            <a:r>
              <a:rPr sz="1600">
                <a:latin typeface="PMingLiU"/>
                <a:ea typeface="PMingLiU"/>
                <a:cs typeface="PMingLiU"/>
              </a:rPr>
              <a:t>：</a:t>
            </a:r>
            <a:r>
              <a:rPr sz="1600">
                <a:latin typeface="Microsoft YaHei"/>
                <a:ea typeface="Microsoft YaHei"/>
                <a:cs typeface="Microsoft YaHei"/>
              </a:rPr>
              <a:t>temp_max 對 MDA8 O3 的平滑曲線、rh_mean 對 MDA8 O3 的平滑曲線</a:t>
            </a:r>
          </a:p>
        </p:txBody>
      </p:sp>
      <p:sp>
        <p:nvSpPr>
          <p:cNvPr id="17" name="【說明】補充框">
            <a:extLst>
              <a:ext uri="{FF2B5EF4-FFF2-40B4-BE49-F238E27FC236}">
                <a16:creationId xmlns:a16="http://schemas.microsoft.com/office/drawing/2014/main" id="{85BAEC9B-F4CF-46DC-81C1-E84B6945FDBC}"/>
              </a:ext>
            </a:extLst>
          </p:cNvPr>
          <p:cNvSpPr>
            <a:spLocks noGrp="1"/>
          </p:cNvSpPr>
          <p:nvPr/>
        </p:nvSpPr>
        <p:spPr>
          <a:xfrm>
            <a:off x="952500" y="4495800"/>
            <a:ext cx="59055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144">
            <a:solidFill>
              <a:srgbClr val="C9CDD3"/>
            </a:solidFill>
            <a:prstDash val="solid"/>
          </a:ln>
        </p:spPr>
        <p:txBody>
          <a:bodyPr/>
          <a:lstStyle/>
          <a:p>
            <a:pPr>
              <a:defRPr sz="750">
                <a:solidFill>
                  <a:srgbClr val="4D4D4D"/>
                </a:solidFill>
              </a:defRPr>
            </a:pPr>
            <a:r>
              <a:rPr sz="750">
                <a:solidFill>
                  <a:srgbClr val="4D4D4D"/>
                </a:solidFill>
              </a:rPr>
              <a:t>【說明】 GAM 主要輸出模型表現與平滑效果曲線，用來判斷各氣象因子對 MDA8 O3 的影響方向與非線性形狀。</a:t>
            </a:r>
          </a:p>
        </p:txBody>
      </p:sp>
    </p:spTree>
    <p:extLst>
      <p:ext uri="{BB962C8B-B14F-4D97-AF65-F5344CB8AC3E}">
        <p14:creationId xmlns:p14="http://schemas.microsoft.com/office/powerpoint/2010/main" val="3677847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文字方塊 49">
            <a:extLst>
              <a:ext uri="{FF2B5EF4-FFF2-40B4-BE49-F238E27FC236}">
                <a16:creationId xmlns:a16="http://schemas.microsoft.com/office/drawing/2014/main" id="{48A80998-FBB2-65B1-B84E-C53166DE8364}"/>
              </a:ext>
            </a:extLst>
          </p:cNvPr>
          <p:cNvSpPr>
            <a:spLocks noGrp="1"/>
          </p:cNvSpPr>
          <p:nvPr/>
        </p:nvSpPr>
        <p:spPr>
          <a:xfrm>
            <a:off x="86360" y="299169"/>
            <a:ext cx="1203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sz="1600" b="1" i="0">
                <a:solidFill>
                  <a:srgbClr val="2F3C72"/>
                </a:solidFill>
                <a:latin typeface="Microsoft YaHei"/>
                <a:ea typeface="Microsoft YaHei"/>
                <a:cs typeface="Microsoft YaHei"/>
              </a:rPr>
              <a:t> Method3 How we identify the drivers</a:t>
            </a:r>
          </a:p>
        </p:txBody>
      </p:sp>
      <p:sp>
        <p:nvSpPr>
          <p:cNvPr id="43" name="矩形: 圓角 42">
            <a:extLst>
              <a:ext uri="{FF2B5EF4-FFF2-40B4-BE49-F238E27FC236}">
                <a16:creationId xmlns:a16="http://schemas.microsoft.com/office/drawing/2014/main" id="{A6AE44F9-F3A7-60F0-CD84-461F50EC7B7A}"/>
              </a:ext>
            </a:extLst>
          </p:cNvPr>
          <p:cNvSpPr>
            <a:spLocks noGrp="1"/>
          </p:cNvSpPr>
          <p:nvPr/>
        </p:nvSpPr>
        <p:spPr>
          <a:xfrm>
            <a:off x="2218044" y="5224534"/>
            <a:ext cx="8220777" cy="1188251"/>
          </a:xfrm>
          <a:prstGeom prst="roundRect">
            <a:avLst>
              <a:gd name="adj" fmla="val 10630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216D7C0-917D-EADE-4C02-EEC416720FE6}"/>
              </a:ext>
            </a:extLst>
          </p:cNvPr>
          <p:cNvSpPr>
            <a:spLocks noGrp="1"/>
          </p:cNvSpPr>
          <p:nvPr/>
        </p:nvSpPr>
        <p:spPr>
          <a:xfrm>
            <a:off x="737938" y="1648639"/>
            <a:ext cx="35453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sz="3200" b="1">
                <a:solidFill>
                  <a:schemeClr val="accent5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Random Forest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1A30B0C-CA26-9A85-F025-C8AFE86802BC}"/>
              </a:ext>
            </a:extLst>
          </p:cNvPr>
          <p:cNvSpPr>
            <a:spLocks noGrp="1"/>
          </p:cNvSpPr>
          <p:nvPr/>
        </p:nvSpPr>
        <p:spPr>
          <a:xfrm>
            <a:off x="1604211" y="2233414"/>
            <a:ext cx="98498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chemeClr val="bg2">
                    <a:lumMod val="10000"/>
                  </a:schemeClr>
                </a:solidFill>
                <a:latin typeface="Microsoft YaHei"/>
                <a:ea typeface="Microsoft YaHei"/>
                <a:cs typeface="Microsoft YaHei"/>
              </a:rPr>
              <a:t>請很多棵決策樹各自依天氣猜當天臭氧、再平均</a:t>
            </a:r>
            <a:endParaRPr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79D310F-89CA-8F2B-6921-57045E80554E}"/>
              </a:ext>
            </a:extLst>
          </p:cNvPr>
          <p:cNvSpPr>
            <a:spLocks noGrp="1"/>
          </p:cNvSpPr>
          <p:nvPr/>
        </p:nvSpPr>
        <p:spPr>
          <a:xfrm>
            <a:off x="930443" y="3838820"/>
            <a:ext cx="123524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sz="3200" b="1">
                <a:solidFill>
                  <a:schemeClr val="accent5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GAM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C283C65-F2A2-A5F7-C62B-F48DBCE2D680}"/>
              </a:ext>
            </a:extLst>
          </p:cNvPr>
          <p:cNvSpPr>
            <a:spLocks noGrp="1"/>
          </p:cNvSpPr>
          <p:nvPr/>
        </p:nvSpPr>
        <p:spPr>
          <a:xfrm>
            <a:off x="1796716" y="4423595"/>
            <a:ext cx="98498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chemeClr val="bg2">
                    <a:lumMod val="10000"/>
                  </a:schemeClr>
                </a:solidFill>
                <a:latin typeface="Microsoft YaHei"/>
                <a:ea typeface="Microsoft YaHei"/>
                <a:cs typeface="Microsoft YaHei"/>
              </a:rPr>
              <a:t>一種「會彎的迴歸」,能畫出每個因子跟臭氧的關係曲線。</a:t>
            </a:r>
            <a:endParaRPr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D2D543FD-1C7A-C716-8D65-641409007DDE}"/>
              </a:ext>
            </a:extLst>
          </p:cNvPr>
          <p:cNvSpPr>
            <a:spLocks noGrp="1"/>
          </p:cNvSpPr>
          <p:nvPr/>
        </p:nvSpPr>
        <p:spPr>
          <a:xfrm>
            <a:off x="8351520" y="152401"/>
            <a:ext cx="3702518" cy="3931920"/>
          </a:xfrm>
          <a:prstGeom prst="roundRect">
            <a:avLst>
              <a:gd name="adj" fmla="val 10630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494ACC01-7BBA-A234-BB85-600E60B246B2}"/>
              </a:ext>
            </a:extLst>
          </p:cNvPr>
          <p:cNvSpPr>
            <a:spLocks noGrp="1"/>
          </p:cNvSpPr>
          <p:nvPr/>
        </p:nvSpPr>
        <p:spPr>
          <a:xfrm>
            <a:off x="8351520" y="376776"/>
            <a:ext cx="370251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buNone/>
            </a:pPr>
            <a:r>
              <a:rPr sz="2400" b="0" i="0">
                <a:solidFill>
                  <a:srgbClr val="0D0D0D"/>
                </a:solidFill>
                <a:latin typeface="ui-monospace"/>
                <a:ea typeface="ui-monospace"/>
                <a:cs typeface="ui-monospace"/>
              </a:rPr>
              <a:t>Meteorological variables</a:t>
            </a:r>
            <a:endParaRPr b="0" i="0">
              <a:solidFill>
                <a:srgbClr val="0D0D0D"/>
              </a:solidFill>
              <a:latin typeface="ui-monospace"/>
              <a:ea typeface="ui-monospace"/>
              <a:cs typeface="ui-monospace"/>
            </a:endParaRPr>
          </a:p>
          <a:p>
            <a:pPr marL="0" marR="0" indent="0" algn="ctr">
              <a:buNone/>
            </a:pPr>
            <a:r>
              <a:rPr b="0" i="0">
                <a:solidFill>
                  <a:srgbClr val="0D0D0D"/>
                </a:solidFill>
                <a:latin typeface="ui-monospace"/>
                <a:ea typeface="ui-monospace"/>
                <a:cs typeface="ui-monospace"/>
              </a:rPr>
              <a:t>(T, RH, WS, Sunshine, Rainfall)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7F16BC4D-DB47-5DA6-6BE2-60BE2BA90250}"/>
              </a:ext>
            </a:extLst>
          </p:cNvPr>
          <p:cNvSpPr>
            <a:spLocks noGrp="1"/>
          </p:cNvSpPr>
          <p:nvPr/>
        </p:nvSpPr>
        <p:spPr>
          <a:xfrm>
            <a:off x="8921847" y="1407073"/>
            <a:ext cx="2561864" cy="794647"/>
          </a:xfrm>
          <a:prstGeom prst="round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028E43CE-C883-13A0-4990-1B3070668112}"/>
              </a:ext>
            </a:extLst>
          </p:cNvPr>
          <p:cNvSpPr>
            <a:spLocks noGrp="1"/>
          </p:cNvSpPr>
          <p:nvPr/>
        </p:nvSpPr>
        <p:spPr>
          <a:xfrm>
            <a:off x="8632480" y="1448480"/>
            <a:ext cx="3140598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lnSpc>
                <a:spcPct val="150000"/>
              </a:lnSpc>
              <a:buNone/>
            </a:pPr>
            <a:r>
              <a:rPr sz="2400" b="0" i="0">
                <a:solidFill>
                  <a:srgbClr val="0D0D0D"/>
                </a:solidFill>
                <a:latin typeface="ui-monospace"/>
                <a:ea typeface="ui-monospace"/>
                <a:cs typeface="ui-monospace"/>
              </a:rPr>
              <a:t>Decision trees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A3DD5D6D-7BC8-0A44-408B-F2B84C2D8265}"/>
              </a:ext>
            </a:extLst>
          </p:cNvPr>
          <p:cNvSpPr>
            <a:spLocks noGrp="1"/>
          </p:cNvSpPr>
          <p:nvPr/>
        </p:nvSpPr>
        <p:spPr>
          <a:xfrm>
            <a:off x="8803531" y="2564478"/>
            <a:ext cx="829376" cy="48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lnSpc>
                <a:spcPts val="1500"/>
              </a:lnSpc>
              <a:buNone/>
            </a:pPr>
            <a:r>
              <a:rPr b="0" i="0">
                <a:solidFill>
                  <a:srgbClr val="0D0D0D"/>
                </a:solidFill>
                <a:latin typeface="ui-monospace"/>
                <a:ea typeface="ui-monospace"/>
                <a:cs typeface="ui-monospace"/>
              </a:rPr>
              <a:t> Tree1     </a:t>
            </a:r>
          </a:p>
          <a:p>
            <a:pPr marL="0" marR="0" indent="0" algn="ctr">
              <a:lnSpc>
                <a:spcPts val="1500"/>
              </a:lnSpc>
              <a:buNone/>
            </a:pPr>
            <a:r>
              <a:rPr b="0" i="0">
                <a:solidFill>
                  <a:srgbClr val="0D0D0D"/>
                </a:solidFill>
                <a:latin typeface="ui-monospace"/>
                <a:ea typeface="ui-monospace"/>
                <a:cs typeface="ui-monospace"/>
              </a:rPr>
              <a:t>58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BACEB46C-B786-F2CC-B529-90BD58250F6F}"/>
              </a:ext>
            </a:extLst>
          </p:cNvPr>
          <p:cNvSpPr>
            <a:spLocks noGrp="1"/>
          </p:cNvSpPr>
          <p:nvPr/>
        </p:nvSpPr>
        <p:spPr>
          <a:xfrm>
            <a:off x="9474751" y="2564478"/>
            <a:ext cx="829376" cy="48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lnSpc>
                <a:spcPts val="1500"/>
              </a:lnSpc>
              <a:buNone/>
            </a:pPr>
            <a:r>
              <a:rPr b="0" i="0">
                <a:solidFill>
                  <a:srgbClr val="0D0D0D"/>
                </a:solidFill>
                <a:latin typeface="ui-monospace"/>
                <a:ea typeface="ui-monospace"/>
                <a:cs typeface="ui-monospace"/>
              </a:rPr>
              <a:t> Tree</a:t>
            </a:r>
            <a:r>
              <a:rPr>
                <a:solidFill>
                  <a:srgbClr val="0D0D0D"/>
                </a:solidFill>
                <a:latin typeface="ui-monospace"/>
                <a:ea typeface="ui-monospace"/>
                <a:cs typeface="ui-monospace"/>
              </a:rPr>
              <a:t>2</a:t>
            </a:r>
            <a:r>
              <a:rPr b="0" i="0">
                <a:solidFill>
                  <a:srgbClr val="0D0D0D"/>
                </a:solidFill>
                <a:latin typeface="ui-monospace"/>
                <a:ea typeface="ui-monospace"/>
                <a:cs typeface="ui-monospace"/>
              </a:rPr>
              <a:t>     </a:t>
            </a:r>
          </a:p>
          <a:p>
            <a:pPr marL="0" marR="0" indent="0" algn="ctr">
              <a:lnSpc>
                <a:spcPts val="1500"/>
              </a:lnSpc>
              <a:buNone/>
            </a:pPr>
            <a:r>
              <a:rPr>
                <a:solidFill>
                  <a:srgbClr val="0D0D0D"/>
                </a:solidFill>
                <a:latin typeface="ui-monospace"/>
                <a:ea typeface="ui-monospace"/>
                <a:cs typeface="ui-monospace"/>
              </a:rPr>
              <a:t>61</a:t>
            </a:r>
            <a:endParaRPr b="0" i="0">
              <a:solidFill>
                <a:srgbClr val="0D0D0D"/>
              </a:solidFill>
              <a:latin typeface="ui-monospace"/>
              <a:ea typeface="ui-monospace"/>
              <a:cs typeface="ui-monospace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551D67B8-4764-6A92-FEA3-1C5C426AF8D6}"/>
              </a:ext>
            </a:extLst>
          </p:cNvPr>
          <p:cNvSpPr>
            <a:spLocks noGrp="1"/>
          </p:cNvSpPr>
          <p:nvPr/>
        </p:nvSpPr>
        <p:spPr>
          <a:xfrm>
            <a:off x="10145971" y="2564478"/>
            <a:ext cx="829376" cy="48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lnSpc>
                <a:spcPts val="1500"/>
              </a:lnSpc>
              <a:buNone/>
            </a:pPr>
            <a:r>
              <a:rPr b="0" i="0">
                <a:solidFill>
                  <a:srgbClr val="0D0D0D"/>
                </a:solidFill>
                <a:latin typeface="ui-monospace"/>
                <a:ea typeface="ui-monospace"/>
                <a:cs typeface="ui-monospace"/>
              </a:rPr>
              <a:t> Tree3     </a:t>
            </a:r>
          </a:p>
          <a:p>
            <a:pPr marL="0" marR="0" indent="0" algn="ctr">
              <a:lnSpc>
                <a:spcPts val="1500"/>
              </a:lnSpc>
              <a:buNone/>
            </a:pPr>
            <a:r>
              <a:rPr>
                <a:solidFill>
                  <a:srgbClr val="0D0D0D"/>
                </a:solidFill>
                <a:latin typeface="ui-monospace"/>
                <a:ea typeface="ui-monospace"/>
                <a:cs typeface="ui-monospace"/>
              </a:rPr>
              <a:t>63</a:t>
            </a:r>
            <a:endParaRPr b="0" i="0">
              <a:solidFill>
                <a:srgbClr val="0D0D0D"/>
              </a:solidFill>
              <a:latin typeface="ui-monospace"/>
              <a:ea typeface="ui-monospace"/>
              <a:cs typeface="ui-monospace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812EC60D-195E-8449-BA3A-192C15896DE8}"/>
              </a:ext>
            </a:extLst>
          </p:cNvPr>
          <p:cNvSpPr>
            <a:spLocks noGrp="1"/>
          </p:cNvSpPr>
          <p:nvPr/>
        </p:nvSpPr>
        <p:spPr>
          <a:xfrm>
            <a:off x="10817192" y="2564478"/>
            <a:ext cx="829376" cy="48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lnSpc>
                <a:spcPts val="1500"/>
              </a:lnSpc>
              <a:buNone/>
            </a:pPr>
            <a:r>
              <a:rPr b="0" i="0">
                <a:solidFill>
                  <a:srgbClr val="0D0D0D"/>
                </a:solidFill>
                <a:latin typeface="ui-monospace"/>
                <a:ea typeface="ui-monospace"/>
                <a:cs typeface="ui-monospace"/>
              </a:rPr>
              <a:t> Tree4     </a:t>
            </a:r>
          </a:p>
          <a:p>
            <a:pPr marL="0" marR="0" indent="0" algn="ctr">
              <a:lnSpc>
                <a:spcPts val="1500"/>
              </a:lnSpc>
              <a:buNone/>
            </a:pPr>
            <a:r>
              <a:rPr b="0" i="0">
                <a:solidFill>
                  <a:srgbClr val="0D0D0D"/>
                </a:solidFill>
                <a:latin typeface="ui-monospace"/>
                <a:ea typeface="ui-monospace"/>
                <a:cs typeface="ui-monospace"/>
              </a:rPr>
              <a:t>59</a:t>
            </a:r>
          </a:p>
        </p:txBody>
      </p:sp>
      <p:sp>
        <p:nvSpPr>
          <p:cNvPr id="33" name="箭號: 向下 32">
            <a:extLst>
              <a:ext uri="{FF2B5EF4-FFF2-40B4-BE49-F238E27FC236}">
                <a16:creationId xmlns:a16="http://schemas.microsoft.com/office/drawing/2014/main" id="{2759F9F8-CE0B-50BC-332C-30FE23B19AFD}"/>
              </a:ext>
            </a:extLst>
          </p:cNvPr>
          <p:cNvSpPr>
            <a:spLocks noGrp="1"/>
          </p:cNvSpPr>
          <p:nvPr/>
        </p:nvSpPr>
        <p:spPr>
          <a:xfrm>
            <a:off x="10116671" y="2241220"/>
            <a:ext cx="187456" cy="244257"/>
          </a:xfrm>
          <a:prstGeom prst="downArrow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箭號: 向下 34">
            <a:extLst>
              <a:ext uri="{FF2B5EF4-FFF2-40B4-BE49-F238E27FC236}">
                <a16:creationId xmlns:a16="http://schemas.microsoft.com/office/drawing/2014/main" id="{4B9624B8-20F1-4CBB-0D46-06AC248D0F76}"/>
              </a:ext>
            </a:extLst>
          </p:cNvPr>
          <p:cNvSpPr>
            <a:spLocks noGrp="1"/>
          </p:cNvSpPr>
          <p:nvPr/>
        </p:nvSpPr>
        <p:spPr>
          <a:xfrm>
            <a:off x="10116671" y="1122537"/>
            <a:ext cx="187456" cy="244257"/>
          </a:xfrm>
          <a:prstGeom prst="downArrow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箭號: 向下 35">
            <a:extLst>
              <a:ext uri="{FF2B5EF4-FFF2-40B4-BE49-F238E27FC236}">
                <a16:creationId xmlns:a16="http://schemas.microsoft.com/office/drawing/2014/main" id="{C5CAE12D-8740-7E67-B638-4C3DEECE0241}"/>
              </a:ext>
            </a:extLst>
          </p:cNvPr>
          <p:cNvSpPr>
            <a:spLocks noGrp="1"/>
          </p:cNvSpPr>
          <p:nvPr/>
        </p:nvSpPr>
        <p:spPr>
          <a:xfrm>
            <a:off x="10116671" y="3096036"/>
            <a:ext cx="187456" cy="244257"/>
          </a:xfrm>
          <a:prstGeom prst="downArrow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38BA8691-68BE-0E57-4E6A-1BC938016F11}"/>
              </a:ext>
            </a:extLst>
          </p:cNvPr>
          <p:cNvSpPr>
            <a:spLocks noGrp="1"/>
          </p:cNvSpPr>
          <p:nvPr/>
        </p:nvSpPr>
        <p:spPr>
          <a:xfrm>
            <a:off x="8737600" y="3417114"/>
            <a:ext cx="29303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buNone/>
            </a:pPr>
            <a:r>
              <a:rPr b="0" i="0">
                <a:solidFill>
                  <a:srgbClr val="0D0D0D"/>
                </a:solidFill>
                <a:latin typeface="ui-monospace"/>
                <a:ea typeface="ui-monospace"/>
                <a:cs typeface="ui-monospace"/>
              </a:rPr>
              <a:t> Final O₃ prediction = average</a:t>
            </a:r>
            <a:endParaRPr sz="1400" b="0" i="0">
              <a:solidFill>
                <a:srgbClr val="0D0D0D"/>
              </a:solidFill>
              <a:latin typeface="ui-monospace"/>
              <a:ea typeface="ui-monospace"/>
              <a:cs typeface="ui-monospace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15333D54-EDC4-73A6-E4E8-146582AE9ED3}"/>
              </a:ext>
            </a:extLst>
          </p:cNvPr>
          <p:cNvSpPr>
            <a:spLocks noGrp="1"/>
          </p:cNvSpPr>
          <p:nvPr/>
        </p:nvSpPr>
        <p:spPr>
          <a:xfrm>
            <a:off x="2489415" y="5495494"/>
            <a:ext cx="76780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>
                <a:latin typeface="Microsoft YaHei"/>
                <a:ea typeface="Microsoft YaHei"/>
                <a:cs typeface="Microsoft YaHei"/>
              </a:rPr>
              <a:t>把每條「直線」換成一條平滑曲線:臭氧 ≈ f₁(氣溫) + f₂(濕度) + f₃(日照) + …,每個 f 都是會彎的曲線。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BC3A9DF-4218-A755-6F97-6439BF4800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4705DE5D-084B-7945-317B-F747A1E9FF84}"/>
              </a:ext>
            </a:extLst>
          </p:cNvPr>
          <p:cNvSpPr>
            <a:spLocks noGrp="1"/>
          </p:cNvSpPr>
          <p:nvPr/>
        </p:nvSpPr>
        <p:spPr>
          <a:xfrm>
            <a:off x="1883004" y="2660821"/>
            <a:ext cx="7138022" cy="1656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sz="3600" b="1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cs typeface="Microsoft YaHei"/>
              </a:rPr>
              <a:t>為什麼兩個都用</a:t>
            </a:r>
            <a:r>
              <a: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cs typeface="Microsoft YaHei"/>
              </a:rPr>
              <a:t> : RF </a:t>
            </a:r>
            <a:r>
              <a:rPr sz="3600" b="1" u="sng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cs typeface="Microsoft YaHei"/>
              </a:rPr>
              <a:t>準但像黑盒</a:t>
            </a:r>
            <a:r>
              <a:rPr sz="3600" b="1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cs typeface="Microsoft YaHei"/>
              </a:rPr>
              <a:t>、GAM</a:t>
            </a:r>
            <a:r>
              <a: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cs typeface="Microsoft YaHei"/>
              </a:rPr>
              <a:t> </a:t>
            </a:r>
            <a:r>
              <a:rPr sz="3600" b="1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cs typeface="Microsoft YaHei"/>
              </a:rPr>
              <a:t>透明</a:t>
            </a:r>
            <a:r>
              <a:rPr sz="3600" b="1" u="sng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cs typeface="Microsoft YaHei"/>
              </a:rPr>
              <a:t>看得到形狀</a:t>
            </a:r>
            <a:r>
              <a:rPr sz="3600" b="1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cs typeface="Microsoft YaHei"/>
              </a:rPr>
              <a:t>,</a:t>
            </a:r>
            <a:r>
              <a:rPr sz="3600" b="1" u="sng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cs typeface="Microsoft YaHei"/>
              </a:rPr>
              <a:t>互相印證</a:t>
            </a:r>
            <a:endParaRPr sz="3600" b="1" u="sng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0BE0541-A927-93EE-DE0D-79A6BF91D6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9F68E2-31C2-4D90-A536-67698CDE3376}" type="slidenum">
              <a:rPr/>
              <a:t>18</a:t>
            </a:fld>
            <a:endParaRPr/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819913EC-F492-452F-8306-F4DAB15383DA}"/>
              </a:ext>
            </a:extLst>
          </p:cNvPr>
          <p:cNvSpPr>
            <a:spLocks noGrp="1"/>
          </p:cNvSpPr>
          <p:nvPr/>
        </p:nvSpPr>
        <p:spPr>
          <a:xfrm>
            <a:off x="411480" y="6464808"/>
            <a:ext cx="7863840" cy="3749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anchor="ctr">
            <a:normAutofit/>
          </a:bodyPr>
          <a:lstStyle/>
          <a:p>
            <a:pPr algn="l">
              <a:buNone/>
            </a:pPr>
            <a:r>
              <a:rPr sz="1100" b="1">
                <a:solidFill>
                  <a:srgbClr val="1F5C9E"/>
                </a:solidFill>
                <a:latin typeface="Microsoft JhengHei"/>
                <a:ea typeface="Microsoft JhengHei"/>
                <a:cs typeface="Microsoft JhengHei"/>
              </a:rPr>
              <a:t>【說明】</a:t>
            </a:r>
            <a:r>
              <a:rPr sz="11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隨機森林預測力強但如黑盒、難解釋;GAM 透明可看關係形狀但彈性較低;兩者並用、結論一致以提高可信度。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26194C4-CBC9-E33E-823E-3B0028D526AC}"/>
              </a:ext>
            </a:extLst>
          </p:cNvPr>
          <p:cNvSpPr>
            <a:spLocks noGrp="1"/>
          </p:cNvSpPr>
          <p:nvPr/>
        </p:nvSpPr>
        <p:spPr>
          <a:xfrm>
            <a:off x="3609534" y="4266256"/>
            <a:ext cx="44229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600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它會直接畫出每個變數和 O3 的關係曲線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374D5BC-85F7-FF9C-4537-BD9D498FE626}"/>
              </a:ext>
            </a:extLst>
          </p:cNvPr>
          <p:cNvSpPr>
            <a:spLocks noGrp="1"/>
          </p:cNvSpPr>
          <p:nvPr/>
        </p:nvSpPr>
        <p:spPr>
          <a:xfrm>
            <a:off x="3359888" y="2543850"/>
            <a:ext cx="79875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600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Random Forest </a:t>
            </a:r>
            <a:r>
              <a:rPr sz="1600" err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由很多棵決策樹組成，可以抓到很複雜的關係，通常預測比GAM準</a:t>
            </a:r>
            <a:endParaRPr sz="1600">
              <a:solidFill>
                <a:schemeClr val="bg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FA9625A-A1C1-A90E-D28C-438F29A3B5F7}"/>
              </a:ext>
            </a:extLst>
          </p:cNvPr>
          <p:cNvSpPr>
            <a:spLocks noGrp="1"/>
          </p:cNvSpPr>
          <p:nvPr/>
        </p:nvSpPr>
        <p:spPr>
          <a:xfrm>
            <a:off x="8939910" y="3712616"/>
            <a:ext cx="276146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err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如果兩個模型得到類似結果，就會讓結論更有說服力</a:t>
            </a:r>
            <a:r>
              <a:rPr sz="1600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012830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B46A1A8A-2083-1F88-00E6-4370216EFF63}"/>
              </a:ext>
            </a:extLst>
          </p:cNvPr>
          <p:cNvSpPr>
            <a:spLocks noGrp="1"/>
          </p:cNvSpPr>
          <p:nvPr/>
        </p:nvSpPr>
        <p:spPr>
          <a:xfrm>
            <a:off x="86360" y="309001"/>
            <a:ext cx="1203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sz="2800" b="1" i="0">
                <a:solidFill>
                  <a:srgbClr val="2F3C72"/>
                </a:solidFill>
                <a:latin typeface="Microsoft YaHei"/>
                <a:ea typeface="Microsoft YaHei"/>
                <a:cs typeface="Microsoft YaHei"/>
              </a:rPr>
              <a:t>Method4 How we judge the long-term trend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2380CA8-4050-2A93-7CB4-B7419894BDD0}"/>
              </a:ext>
            </a:extLst>
          </p:cNvPr>
          <p:cNvSpPr>
            <a:spLocks noGrp="1"/>
          </p:cNvSpPr>
          <p:nvPr/>
        </p:nvSpPr>
        <p:spPr>
          <a:xfrm>
            <a:off x="737938" y="1115440"/>
            <a:ext cx="35453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sz="3200" b="1">
                <a:solidFill>
                  <a:schemeClr val="accent5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Mann–Kendall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1644B81-CD8C-6500-6C73-2884082A740C}"/>
              </a:ext>
            </a:extLst>
          </p:cNvPr>
          <p:cNvSpPr>
            <a:spLocks noGrp="1"/>
          </p:cNvSpPr>
          <p:nvPr/>
        </p:nvSpPr>
        <p:spPr>
          <a:xfrm>
            <a:off x="1604211" y="1700215"/>
            <a:ext cx="9849852" cy="4285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/>
              <a:buChar char="l"/>
            </a:pPr>
            <a:r>
              <a:rPr sz="2000">
                <a:solidFill>
                  <a:schemeClr val="bg2">
                    <a:lumMod val="10000"/>
                  </a:schemeClr>
                </a:solidFill>
                <a:latin typeface="Microsoft YaHei"/>
                <a:ea typeface="Microsoft YaHei"/>
                <a:cs typeface="Microsoft YaHei"/>
              </a:rPr>
              <a:t>把序列裡每一個點跟它之前的每一個點兩兩比較，只看「後面的比前面高還是低」:高 +1、低 −1、平手 0。</a:t>
            </a:r>
          </a:p>
          <a:p>
            <a:pPr marL="342900" indent="-342900">
              <a:lnSpc>
                <a:spcPct val="150000"/>
              </a:lnSpc>
              <a:buFont typeface="Wingdings"/>
              <a:buChar char="l"/>
            </a:pPr>
            <a:r>
              <a:rPr sz="2400" b="1" u="sng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cs typeface="Microsoft YaHei"/>
              </a:rPr>
              <a:t>把所有 + 和 − 加總</a:t>
            </a:r>
            <a:r>
              <a:rPr sz="2000" b="1">
                <a:solidFill>
                  <a:schemeClr val="bg2">
                    <a:lumMod val="10000"/>
                  </a:scheme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>
                <a:solidFill>
                  <a:schemeClr val="bg2">
                    <a:lumMod val="10000"/>
                  </a:schemeClr>
                </a:solidFill>
                <a:latin typeface="Microsoft YaHei"/>
                <a:ea typeface="Microsoft YaHei"/>
                <a:cs typeface="Microsoft YaHei"/>
              </a:rPr>
              <a:t>→ S 統計量 :</a:t>
            </a:r>
          </a:p>
          <a:p>
            <a:pPr lvl="1">
              <a:lnSpc>
                <a:spcPct val="150000"/>
              </a:lnSpc>
              <a:buNone/>
            </a:pPr>
            <a:r>
              <a:rPr sz="2000">
                <a:solidFill>
                  <a:schemeClr val="bg2">
                    <a:lumMod val="10000"/>
                  </a:schemeClr>
                </a:solidFill>
                <a:latin typeface="Microsoft YaHei"/>
                <a:ea typeface="Microsoft YaHei"/>
                <a:cs typeface="Microsoft YaHei"/>
              </a:rPr>
              <a:t>S 很正 → 大多在上升 → 上升趨勢</a:t>
            </a:r>
          </a:p>
          <a:p>
            <a:pPr lvl="1">
              <a:lnSpc>
                <a:spcPct val="150000"/>
              </a:lnSpc>
              <a:buNone/>
            </a:pPr>
            <a:r>
              <a:rPr sz="2000">
                <a:solidFill>
                  <a:schemeClr val="bg2">
                    <a:lumMod val="10000"/>
                  </a:schemeClr>
                </a:solidFill>
                <a:latin typeface="Microsoft YaHei"/>
                <a:ea typeface="Microsoft YaHei"/>
                <a:cs typeface="Microsoft YaHei"/>
              </a:rPr>
              <a:t>S 很負 → 大多在下降 → 下降趨勢</a:t>
            </a:r>
          </a:p>
          <a:p>
            <a:pPr lvl="1">
              <a:lnSpc>
                <a:spcPct val="150000"/>
              </a:lnSpc>
              <a:spcAft>
                <a:spcPts val="1800"/>
              </a:spcAft>
              <a:buNone/>
            </a:pPr>
            <a:r>
              <a:rPr sz="2000">
                <a:solidFill>
                  <a:schemeClr val="bg2">
                    <a:lumMod val="10000"/>
                  </a:schemeClr>
                </a:solidFill>
                <a:latin typeface="Microsoft YaHei"/>
                <a:ea typeface="Microsoft YaHei"/>
                <a:cs typeface="Microsoft YaHei"/>
              </a:rPr>
              <a:t>S 接近 0 → 沒有一致方向</a:t>
            </a:r>
          </a:p>
          <a:p>
            <a:pPr marL="342900" indent="-342900">
              <a:lnSpc>
                <a:spcPct val="150000"/>
              </a:lnSpc>
              <a:buFont typeface="Wingdings"/>
              <a:buChar char="l"/>
            </a:pPr>
            <a:r>
              <a:rPr sz="2000">
                <a:solidFill>
                  <a:schemeClr val="bg2">
                    <a:lumMod val="10000"/>
                  </a:schemeClr>
                </a:solidFill>
                <a:latin typeface="Microsoft YaHei"/>
                <a:ea typeface="Microsoft YaHei"/>
                <a:cs typeface="Microsoft YaHei"/>
              </a:rPr>
              <a:t>再判斷這個 S「大到不像隨機」嗎 → 給出 p 值(顯不顯著) ; 另有 Kendall's τ(−1~+1)表示趨勢強度與方向</a:t>
            </a:r>
            <a:endParaRPr sz="1600">
              <a:solidFill>
                <a:schemeClr val="bg2">
                  <a:lumMod val="1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9E6F5A9-2340-806E-C9CB-93196A675A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9F68E2-31C2-4D90-A536-67698CDE3376}" type="slidenum">
              <a:t>19</a:t>
            </a:fld>
            <a:endParaRPr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30B556D-3F25-4635-9F51-8EC0CFBAC95E}"/>
              </a:ext>
            </a:extLst>
          </p:cNvPr>
          <p:cNvSpPr>
            <a:spLocks noGrp="1"/>
          </p:cNvSpPr>
          <p:nvPr/>
        </p:nvSpPr>
        <p:spPr>
          <a:xfrm>
            <a:off x="411480" y="6272784"/>
            <a:ext cx="7863840" cy="5120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anchor="ctr">
            <a:normAutofit/>
          </a:bodyPr>
          <a:lstStyle/>
          <a:p>
            <a:pPr algn="l">
              <a:buNone/>
            </a:pPr>
            <a:r>
              <a:rPr sz="1100" b="1">
                <a:solidFill>
                  <a:srgbClr val="1F5C9E"/>
                </a:solidFill>
                <a:latin typeface="Microsoft JhengHei"/>
                <a:ea typeface="Microsoft JhengHei"/>
                <a:cs typeface="Microsoft JhengHei"/>
              </a:rPr>
              <a:t>【說明】</a:t>
            </a:r>
            <a:r>
              <a:rPr sz="11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Mann-Kendall 為無母數趨勢檢定,依數值升降方向判斷是否單調升降,對極端值穩健,並以 p 值判斷顯著性。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8B766BE-BE2F-4A07-DD97-64ACFF7A8772}"/>
              </a:ext>
            </a:extLst>
          </p:cNvPr>
          <p:cNvSpPr>
            <a:spLocks noGrp="1"/>
          </p:cNvSpPr>
          <p:nvPr/>
        </p:nvSpPr>
        <p:spPr>
          <a:xfrm>
            <a:off x="3802122" y="1255334"/>
            <a:ext cx="109204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600">
                <a:latin typeface="Microsoft YaHei"/>
                <a:ea typeface="Microsoft YaHei"/>
                <a:cs typeface="Microsoft YaHei"/>
              </a:rPr>
              <a:t>判斷有沒有趨勢</a:t>
            </a:r>
          </a:p>
        </p:txBody>
      </p:sp>
    </p:spTree>
    <p:extLst>
      <p:ext uri="{BB962C8B-B14F-4D97-AF65-F5344CB8AC3E}">
        <p14:creationId xmlns:p14="http://schemas.microsoft.com/office/powerpoint/2010/main" val="21544199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D4A3F7E1-67E9-BE50-51AB-29AFD8CDE870}"/>
              </a:ext>
            </a:extLst>
          </p:cNvPr>
          <p:cNvSpPr>
            <a:spLocks noGrp="1"/>
          </p:cNvSpPr>
          <p:nvPr/>
        </p:nvSpPr>
        <p:spPr>
          <a:xfrm>
            <a:off x="96192" y="309001"/>
            <a:ext cx="1203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sz="2800" b="1" i="0">
                <a:solidFill>
                  <a:srgbClr val="2F3C72"/>
                </a:solidFill>
                <a:latin typeface="Microsoft YaHei"/>
                <a:ea typeface="Microsoft YaHei"/>
                <a:cs typeface="Microsoft YaHei"/>
              </a:rPr>
              <a:t>Method4 How we judge the long-term trend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117717E-31E4-4C5F-E55E-AFFA9F33DF18}"/>
              </a:ext>
            </a:extLst>
          </p:cNvPr>
          <p:cNvSpPr>
            <a:spLocks noGrp="1"/>
          </p:cNvSpPr>
          <p:nvPr/>
        </p:nvSpPr>
        <p:spPr>
          <a:xfrm>
            <a:off x="737938" y="1115440"/>
            <a:ext cx="35453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sz="3200" b="1">
                <a:solidFill>
                  <a:schemeClr val="accent5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Sen's slope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6A04D46-F85B-E983-4899-C13A42D66451}"/>
              </a:ext>
            </a:extLst>
          </p:cNvPr>
          <p:cNvSpPr>
            <a:spLocks noGrp="1"/>
          </p:cNvSpPr>
          <p:nvPr/>
        </p:nvSpPr>
        <p:spPr>
          <a:xfrm>
            <a:off x="1604211" y="2145293"/>
            <a:ext cx="9849852" cy="30541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2400"/>
              </a:spcAft>
              <a:buFont typeface="+mj-lt"/>
              <a:buAutoNum type="arabicPeriod"/>
            </a:pPr>
            <a:r>
              <a:rPr sz="2000" dirty="0" err="1">
                <a:solidFill>
                  <a:schemeClr val="bg2">
                    <a:lumMod val="10000"/>
                  </a:schemeClr>
                </a:solidFill>
                <a:latin typeface="Microsoft YaHei"/>
                <a:ea typeface="Microsoft YaHei"/>
                <a:cs typeface="Microsoft YaHei"/>
              </a:rPr>
              <a:t>把序列裡每一對點都拿出來,算它們之間的斜率</a:t>
            </a:r>
            <a:r>
              <a:rPr sz="2000" dirty="0">
                <a:solidFill>
                  <a:schemeClr val="bg2">
                    <a:lumMod val="10000"/>
                  </a:schemeClr>
                </a:solidFill>
                <a:latin typeface="Microsoft YaHei"/>
                <a:ea typeface="Microsoft YaHei"/>
                <a:cs typeface="Microsoft YaHei"/>
              </a:rPr>
              <a:t>:(</a:t>
            </a:r>
            <a:r>
              <a:rPr sz="2000" dirty="0" err="1">
                <a:solidFill>
                  <a:schemeClr val="bg2">
                    <a:lumMod val="10000"/>
                  </a:schemeClr>
                </a:solidFill>
                <a:latin typeface="Microsoft YaHei"/>
                <a:ea typeface="Microsoft YaHei"/>
                <a:cs typeface="Microsoft YaHei"/>
              </a:rPr>
              <a:t>後值</a:t>
            </a:r>
            <a:r>
              <a:rPr sz="2000" dirty="0">
                <a:solidFill>
                  <a:schemeClr val="bg2">
                    <a:lumMod val="10000"/>
                  </a:schemeClr>
                </a:solidFill>
                <a:latin typeface="Microsoft YaHei"/>
                <a:ea typeface="Microsoft YaHei"/>
                <a:cs typeface="Microsoft YaHei"/>
              </a:rPr>
              <a:t> − </a:t>
            </a:r>
            <a:r>
              <a:rPr sz="2000" dirty="0" err="1">
                <a:solidFill>
                  <a:schemeClr val="bg2">
                    <a:lumMod val="10000"/>
                  </a:schemeClr>
                </a:solidFill>
                <a:latin typeface="Microsoft YaHei"/>
                <a:ea typeface="Microsoft YaHei"/>
                <a:cs typeface="Microsoft YaHei"/>
              </a:rPr>
              <a:t>前值</a:t>
            </a:r>
            <a:r>
              <a:rPr sz="2000" dirty="0">
                <a:solidFill>
                  <a:schemeClr val="bg2">
                    <a:lumMod val="10000"/>
                  </a:schemeClr>
                </a:solidFill>
                <a:latin typeface="Microsoft YaHei"/>
                <a:ea typeface="Microsoft YaHei"/>
                <a:cs typeface="Microsoft YaHei"/>
              </a:rPr>
              <a:t>) ÷ (</a:t>
            </a:r>
            <a:r>
              <a:rPr sz="2000" dirty="0" err="1">
                <a:solidFill>
                  <a:schemeClr val="bg2">
                    <a:lumMod val="10000"/>
                  </a:schemeClr>
                </a:solidFill>
                <a:latin typeface="Microsoft YaHei"/>
                <a:ea typeface="Microsoft YaHei"/>
                <a:cs typeface="Microsoft YaHei"/>
              </a:rPr>
              <a:t>後時間</a:t>
            </a:r>
            <a:r>
              <a:rPr sz="2000" dirty="0">
                <a:solidFill>
                  <a:schemeClr val="bg2">
                    <a:lumMod val="10000"/>
                  </a:schemeClr>
                </a:solidFill>
                <a:latin typeface="Microsoft YaHei"/>
                <a:ea typeface="Microsoft YaHei"/>
                <a:cs typeface="Microsoft YaHei"/>
              </a:rPr>
              <a:t> − </a:t>
            </a:r>
            <a:r>
              <a:rPr sz="2000" dirty="0" err="1">
                <a:solidFill>
                  <a:schemeClr val="bg2">
                    <a:lumMod val="10000"/>
                  </a:schemeClr>
                </a:solidFill>
                <a:latin typeface="Microsoft YaHei"/>
                <a:ea typeface="Microsoft YaHei"/>
                <a:cs typeface="Microsoft YaHei"/>
              </a:rPr>
              <a:t>前時間</a:t>
            </a:r>
            <a:r>
              <a:rPr sz="2000" dirty="0">
                <a:solidFill>
                  <a:schemeClr val="bg2">
                    <a:lumMod val="10000"/>
                  </a:schemeClr>
                </a:solidFill>
                <a:latin typeface="Microsoft YaHei"/>
                <a:ea typeface="Microsoft YaHei"/>
                <a:cs typeface="Microsoft YaHei"/>
              </a:rPr>
              <a:t>),</a:t>
            </a:r>
            <a:r>
              <a:rPr sz="2000" dirty="0" err="1">
                <a:solidFill>
                  <a:schemeClr val="bg2">
                    <a:lumMod val="10000"/>
                  </a:schemeClr>
                </a:solidFill>
                <a:latin typeface="Microsoft YaHei"/>
                <a:ea typeface="Microsoft YaHei"/>
                <a:cs typeface="Microsoft YaHei"/>
              </a:rPr>
              <a:t>也就是「兩點連線的斜率</a:t>
            </a:r>
            <a:r>
              <a:rPr sz="2000" dirty="0">
                <a:solidFill>
                  <a:schemeClr val="bg2">
                    <a:lumMod val="10000"/>
                  </a:schemeClr>
                </a:solidFill>
                <a:latin typeface="Microsoft YaHei"/>
                <a:ea typeface="Microsoft YaHei"/>
                <a:cs typeface="Microsoft YaHei"/>
              </a:rPr>
              <a:t>」。</a:t>
            </a:r>
          </a:p>
          <a:p>
            <a:pPr marL="457200" indent="-457200">
              <a:lnSpc>
                <a:spcPct val="150000"/>
              </a:lnSpc>
              <a:spcAft>
                <a:spcPts val="2400"/>
              </a:spcAft>
              <a:buFont typeface="+mj-lt"/>
              <a:buAutoNum type="arabicPeriod"/>
            </a:pPr>
            <a:r>
              <a:rPr sz="2000" dirty="0">
                <a:solidFill>
                  <a:schemeClr val="bg2">
                    <a:lumMod val="10000"/>
                  </a:schemeClr>
                </a:solidFill>
                <a:latin typeface="Microsoft YaHei"/>
                <a:ea typeface="Microsoft YaHei"/>
                <a:cs typeface="Microsoft YaHei"/>
              </a:rPr>
              <a:t>n </a:t>
            </a:r>
            <a:r>
              <a:rPr sz="2000" dirty="0" err="1">
                <a:solidFill>
                  <a:schemeClr val="bg2">
                    <a:lumMod val="10000"/>
                  </a:schemeClr>
                </a:solidFill>
                <a:latin typeface="Microsoft YaHei"/>
                <a:ea typeface="Microsoft YaHei"/>
                <a:cs typeface="Microsoft YaHei"/>
              </a:rPr>
              <a:t>個點會得到一大堆</a:t>
            </a:r>
            <a:r>
              <a:rPr sz="2000" dirty="0">
                <a:solidFill>
                  <a:schemeClr val="bg2">
                    <a:lumMod val="10000"/>
                  </a:schemeClr>
                </a:solidFill>
                <a:latin typeface="Microsoft YaHei"/>
                <a:ea typeface="Microsoft YaHei"/>
                <a:cs typeface="Microsoft YaHei"/>
              </a:rPr>
              <a:t>(約 n(n−1)/2 條)</a:t>
            </a:r>
            <a:r>
              <a:rPr sz="2000" dirty="0" err="1">
                <a:solidFill>
                  <a:schemeClr val="bg2">
                    <a:lumMod val="10000"/>
                  </a:schemeClr>
                </a:solidFill>
                <a:latin typeface="Microsoft YaHei"/>
                <a:ea typeface="Microsoft YaHei"/>
                <a:cs typeface="Microsoft YaHei"/>
              </a:rPr>
              <a:t>斜率</a:t>
            </a:r>
            <a:r>
              <a:rPr sz="2000" dirty="0">
                <a:solidFill>
                  <a:schemeClr val="bg2">
                    <a:lumMod val="10000"/>
                  </a:schemeClr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sz="2000" dirty="0">
                <a:solidFill>
                  <a:schemeClr val="bg2">
                    <a:lumMod val="10000"/>
                  </a:schemeClr>
                </a:solidFill>
                <a:latin typeface="Microsoft YaHei"/>
                <a:ea typeface="Microsoft YaHei"/>
                <a:cs typeface="Microsoft YaHei"/>
              </a:rPr>
              <a:t>Sen's slope = </a:t>
            </a:r>
            <a:r>
              <a:rPr sz="2400" b="1" u="sng" dirty="0" err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cs typeface="Microsoft YaHei"/>
              </a:rPr>
              <a:t>這堆斜率的「中位數</a:t>
            </a:r>
            <a:r>
              <a:rPr sz="2400" b="1" u="sng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cs typeface="Microsoft YaHei"/>
              </a:rPr>
              <a:t>」</a:t>
            </a:r>
            <a:r>
              <a:rPr sz="2000" dirty="0">
                <a:solidFill>
                  <a:schemeClr val="bg2">
                    <a:lumMod val="10000"/>
                  </a:schemeClr>
                </a:solidFill>
                <a:latin typeface="Microsoft YaHei"/>
                <a:ea typeface="Microsoft YaHei"/>
                <a:cs typeface="Microsoft YaHei"/>
              </a:rPr>
              <a:t>。 </a:t>
            </a:r>
            <a:r>
              <a:rPr sz="2000" dirty="0" err="1">
                <a:solidFill>
                  <a:schemeClr val="bg2">
                    <a:lumMod val="10000"/>
                  </a:schemeClr>
                </a:solidFill>
                <a:latin typeface="Microsoft YaHei"/>
                <a:ea typeface="Microsoft YaHei"/>
                <a:cs typeface="Microsoft YaHei"/>
              </a:rPr>
              <a:t>關鍵就在取中位數</a:t>
            </a:r>
            <a:r>
              <a:rPr sz="2000" dirty="0">
                <a:solidFill>
                  <a:schemeClr val="bg2">
                    <a:lumMod val="10000"/>
                  </a:schemeClr>
                </a:solidFill>
                <a:latin typeface="Microsoft YaHei"/>
                <a:ea typeface="Microsoft YaHei"/>
                <a:cs typeface="Microsoft YaHei"/>
              </a:rPr>
              <a:t>——</a:t>
            </a:r>
            <a:r>
              <a:rPr sz="2000" dirty="0" err="1">
                <a:solidFill>
                  <a:schemeClr val="bg2">
                    <a:lumMod val="10000"/>
                  </a:schemeClr>
                </a:solidFill>
                <a:latin typeface="Microsoft YaHei"/>
                <a:ea typeface="Microsoft YaHei"/>
                <a:cs typeface="Microsoft YaHei"/>
              </a:rPr>
              <a:t>所以幾條極端的連線帶不動它</a:t>
            </a:r>
            <a:r>
              <a:rPr sz="2000" dirty="0">
                <a:solidFill>
                  <a:schemeClr val="bg2">
                    <a:lumMod val="10000"/>
                  </a:scheme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600" dirty="0">
              <a:solidFill>
                <a:schemeClr val="bg2">
                  <a:lumMod val="1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0197B04-D6C9-E97C-0568-B9CEE25EBA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9F68E2-31C2-4D90-A536-67698CDE3376}" type="slidenum">
              <a:rPr/>
              <a:t>20</a:t>
            </a:fld>
            <a:endParaRPr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FA8D78C-08B4-4577-9787-C212635F5A81}"/>
              </a:ext>
            </a:extLst>
          </p:cNvPr>
          <p:cNvSpPr>
            <a:spLocks noGrp="1"/>
          </p:cNvSpPr>
          <p:nvPr/>
        </p:nvSpPr>
        <p:spPr>
          <a:xfrm>
            <a:off x="411480" y="6272784"/>
            <a:ext cx="7863840" cy="5120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anchor="ctr">
            <a:normAutofit/>
          </a:bodyPr>
          <a:lstStyle/>
          <a:p>
            <a:pPr algn="l">
              <a:buNone/>
            </a:pPr>
            <a:r>
              <a:rPr sz="1100" b="1">
                <a:solidFill>
                  <a:srgbClr val="1F5C9E"/>
                </a:solidFill>
                <a:latin typeface="Microsoft JhengHei"/>
                <a:ea typeface="Microsoft JhengHei"/>
                <a:cs typeface="Microsoft JhengHei"/>
              </a:rPr>
              <a:t>【說明】</a:t>
            </a:r>
            <a:r>
              <a:rPr sz="11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Sen's slope 搭配 MK,取所有兩點斜率的中位數估計趨勢幅度(每年變化量),因取中位數而對極端值穩健。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69EBDB4-F1CE-E274-3003-7208A0D86284}"/>
              </a:ext>
            </a:extLst>
          </p:cNvPr>
          <p:cNvSpPr>
            <a:spLocks noGrp="1"/>
          </p:cNvSpPr>
          <p:nvPr/>
        </p:nvSpPr>
        <p:spPr>
          <a:xfrm>
            <a:off x="3150394" y="1297866"/>
            <a:ext cx="109204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600">
                <a:latin typeface="Microsoft YaHei"/>
                <a:ea typeface="Microsoft YaHei"/>
                <a:cs typeface="Microsoft YaHei"/>
              </a:rPr>
              <a:t>估計趨勢大小</a:t>
            </a:r>
          </a:p>
        </p:txBody>
      </p:sp>
    </p:spTree>
    <p:extLst>
      <p:ext uri="{BB962C8B-B14F-4D97-AF65-F5344CB8AC3E}">
        <p14:creationId xmlns:p14="http://schemas.microsoft.com/office/powerpoint/2010/main" val="4025185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98CC2D91-DC96-67A3-7A61-5A97F18114A1}"/>
              </a:ext>
            </a:extLst>
          </p:cNvPr>
          <p:cNvSpPr>
            <a:spLocks noGrp="1"/>
          </p:cNvSpPr>
          <p:nvPr/>
        </p:nvSpPr>
        <p:spPr>
          <a:xfrm>
            <a:off x="86360" y="299169"/>
            <a:ext cx="12034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sz="3200" b="1" i="0">
                <a:solidFill>
                  <a:srgbClr val="2F3C72"/>
                </a:solidFill>
                <a:latin typeface="Microsoft YaHei"/>
                <a:ea typeface="Microsoft YaHei"/>
                <a:cs typeface="Microsoft YaHei"/>
              </a:rPr>
              <a:t>04 How we judge the long-term trend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53EE428-6B98-2011-49B4-ED5178AFECB6}"/>
              </a:ext>
            </a:extLst>
          </p:cNvPr>
          <p:cNvSpPr>
            <a:spLocks noGrp="1"/>
          </p:cNvSpPr>
          <p:nvPr/>
        </p:nvSpPr>
        <p:spPr>
          <a:xfrm>
            <a:off x="737938" y="1115440"/>
            <a:ext cx="35453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sz="3200" b="1">
                <a:solidFill>
                  <a:schemeClr val="accent5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Sen's slope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B39D4B1-4E06-7C0E-60AC-FA58F5F8B402}"/>
              </a:ext>
            </a:extLst>
          </p:cNvPr>
          <p:cNvSpPr>
            <a:spLocks noGrp="1"/>
          </p:cNvSpPr>
          <p:nvPr/>
        </p:nvSpPr>
        <p:spPr>
          <a:xfrm>
            <a:off x="1604211" y="2145293"/>
            <a:ext cx="9849852" cy="3597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2400"/>
              </a:spcAft>
              <a:buFont typeface="+mj-lt"/>
              <a:buAutoNum type="arabicPeriod"/>
            </a:pPr>
            <a:r>
              <a:rPr sz="2400" b="1">
                <a:solidFill>
                  <a:schemeClr val="bg2">
                    <a:lumMod val="10000"/>
                  </a:schemeClr>
                </a:solidFill>
                <a:latin typeface="Microsoft YaHei"/>
                <a:ea typeface="Microsoft YaHei"/>
                <a:cs typeface="Microsoft YaHei"/>
              </a:rPr>
              <a:t>把序列裡每一對點都拿出來,算它們之間的斜率:(後值 − 前值) ÷ (後時間 − 前時間),也就是「兩點連線的斜率」。</a:t>
            </a:r>
          </a:p>
          <a:p>
            <a:pPr marL="457200" indent="-457200">
              <a:lnSpc>
                <a:spcPct val="150000"/>
              </a:lnSpc>
              <a:spcAft>
                <a:spcPts val="2400"/>
              </a:spcAft>
              <a:buFont typeface="+mj-lt"/>
              <a:buAutoNum type="arabicPeriod"/>
            </a:pPr>
            <a:r>
              <a:rPr sz="2400" b="1">
                <a:solidFill>
                  <a:schemeClr val="bg2">
                    <a:lumMod val="10000"/>
                  </a:schemeClr>
                </a:solidFill>
                <a:latin typeface="Microsoft YaHei"/>
                <a:ea typeface="Microsoft YaHei"/>
                <a:cs typeface="Microsoft YaHei"/>
              </a:rPr>
              <a:t>n 個點會得到一大堆(約 n(n−1)/2 條)斜率。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sz="2400" b="1">
                <a:solidFill>
                  <a:schemeClr val="bg2">
                    <a:lumMod val="10000"/>
                  </a:schemeClr>
                </a:solidFill>
                <a:latin typeface="Microsoft YaHei"/>
                <a:ea typeface="Microsoft YaHei"/>
                <a:cs typeface="Microsoft YaHei"/>
              </a:rPr>
              <a:t>Sen's slope = </a:t>
            </a:r>
            <a:r>
              <a:rPr sz="2800" b="1" u="sng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cs typeface="Microsoft YaHei"/>
              </a:rPr>
              <a:t>這堆斜率的「中位數」</a:t>
            </a:r>
            <a:r>
              <a:rPr sz="2400" b="1">
                <a:solidFill>
                  <a:schemeClr val="bg2">
                    <a:lumMod val="10000"/>
                  </a:schemeClr>
                </a:solidFill>
                <a:latin typeface="Microsoft YaHei"/>
                <a:ea typeface="Microsoft YaHei"/>
                <a:cs typeface="Microsoft YaHei"/>
              </a:rPr>
              <a:t>。 關鍵就在取中位數——所以幾條極端的連線帶不動它。</a:t>
            </a:r>
            <a:endParaRPr>
              <a:solidFill>
                <a:schemeClr val="bg2">
                  <a:lumMod val="1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19263D-062F-7A00-ED4F-FD03689F5A29}"/>
              </a:ext>
            </a:extLst>
          </p:cNvPr>
          <p:cNvSpPr>
            <a:spLocks noGrp="1"/>
          </p:cNvSpPr>
          <p:nvPr/>
        </p:nvSpPr>
        <p:spPr>
          <a:xfrm>
            <a:off x="0" y="-11886"/>
            <a:ext cx="12192000" cy="6858000"/>
          </a:xfrm>
          <a:prstGeom prst="rect">
            <a:avLst/>
          </a:prstGeom>
          <a:solidFill>
            <a:srgbClr val="000000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ED77002-95C7-6083-9116-FFF4E608A349}"/>
              </a:ext>
            </a:extLst>
          </p:cNvPr>
          <p:cNvSpPr>
            <a:spLocks noGrp="1"/>
          </p:cNvSpPr>
          <p:nvPr/>
        </p:nvSpPr>
        <p:spPr>
          <a:xfrm>
            <a:off x="853366" y="1030141"/>
            <a:ext cx="10149914" cy="4149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cs typeface="Microsoft YaHei"/>
              </a:rPr>
              <a:t>Mann–Kendall = 靠「數上升比下降多多少」來判斷有沒有一致趨勢的穩健檢定</a:t>
            </a:r>
          </a:p>
          <a:p>
            <a:pPr>
              <a:lnSpc>
                <a:spcPct val="150000"/>
              </a:lnSpc>
              <a:buNone/>
            </a:pPr>
            <a:endParaRPr sz="36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50000"/>
              </a:lnSpc>
              <a:buNone/>
            </a:pPr>
            <a:r>
              <a: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cs typeface="Microsoft YaHei"/>
              </a:rPr>
              <a:t>幅度交給 Sen‘s slope，季節性版本再把季節干擾扣掉。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984CBCB-18BD-3842-B509-4907F4580D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9F68E2-31C2-4D90-A536-67698CDE3376}" type="slidenum">
              <a:rPr/>
              <a:t>21</a:t>
            </a:fld>
            <a:endParaRPr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CB84A61-5A83-456A-9F17-DE89ACCD4DDD}"/>
              </a:ext>
            </a:extLst>
          </p:cNvPr>
          <p:cNvSpPr>
            <a:spLocks noGrp="1"/>
          </p:cNvSpPr>
          <p:nvPr/>
        </p:nvSpPr>
        <p:spPr>
          <a:xfrm>
            <a:off x="411480" y="6272784"/>
            <a:ext cx="7863840" cy="5120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anchor="ctr">
            <a:normAutofit/>
          </a:bodyPr>
          <a:lstStyle/>
          <a:p>
            <a:pPr algn="l">
              <a:buNone/>
            </a:pPr>
            <a:r>
              <a:rPr sz="1100" b="1">
                <a:solidFill>
                  <a:srgbClr val="1F5C9E"/>
                </a:solidFill>
                <a:latin typeface="Microsoft JhengHei"/>
                <a:ea typeface="Microsoft JhengHei"/>
                <a:cs typeface="Microsoft JhengHei"/>
              </a:rPr>
              <a:t>【說明】</a:t>
            </a:r>
            <a:r>
              <a:rPr sz="11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Mann-Kendall 判斷趨勢有無與是否顯著,Sen's slope 提供變化幅度;兩者搭配方能完整描述長期變化。</a:t>
            </a:r>
          </a:p>
        </p:txBody>
      </p:sp>
    </p:spTree>
    <p:extLst>
      <p:ext uri="{BB962C8B-B14F-4D97-AF65-F5344CB8AC3E}">
        <p14:creationId xmlns:p14="http://schemas.microsoft.com/office/powerpoint/2010/main" val="40437335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1C3966C1-8A5E-73E3-E498-1573E4B532F3}"/>
              </a:ext>
            </a:extLst>
          </p:cNvPr>
          <p:cNvSpPr>
            <a:spLocks noGrp="1"/>
          </p:cNvSpPr>
          <p:nvPr/>
        </p:nvSpPr>
        <p:spPr>
          <a:xfrm>
            <a:off x="0" y="3089802"/>
            <a:ext cx="12192000" cy="1414821"/>
          </a:xfrm>
          <a:prstGeom prst="rect">
            <a:avLst/>
          </a:prstGeom>
          <a:gradFill>
            <a:gsLst>
              <a:gs pos="0">
                <a:srgbClr val="2F3871">
                  <a:alpha val="0"/>
                </a:srgbClr>
              </a:gs>
              <a:gs pos="56000">
                <a:srgbClr val="2F3871">
                  <a:alpha val="76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EF3860E-40FC-8DD9-3109-CB8B273FA92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47782"/>
          </a:xfrm>
          <a:prstGeom prst="rect">
            <a:avLst/>
          </a:prstGeom>
          <a:solidFill>
            <a:srgbClr val="2F3D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2FA4AFBE-F36E-C036-E9E3-006A83D2EA8F}"/>
              </a:ext>
            </a:extLst>
          </p:cNvPr>
          <p:cNvSpPr>
            <a:spLocks noGrp="1"/>
          </p:cNvSpPr>
          <p:nvPr/>
        </p:nvSpPr>
        <p:spPr>
          <a:xfrm>
            <a:off x="5048701" y="464033"/>
            <a:ext cx="3269389" cy="3269389"/>
          </a:xfrm>
          <a:prstGeom prst="ellipse">
            <a:avLst/>
          </a:prstGeom>
          <a:solidFill>
            <a:schemeClr val="accent5">
              <a:lumMod val="50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D8A9BB10-CEAD-E807-383C-C33FFA0CC47B}"/>
              </a:ext>
            </a:extLst>
          </p:cNvPr>
          <p:cNvSpPr>
            <a:spLocks noGrp="1"/>
          </p:cNvSpPr>
          <p:nvPr/>
        </p:nvSpPr>
        <p:spPr>
          <a:xfrm>
            <a:off x="-1209367" y="1904999"/>
            <a:ext cx="3048000" cy="3048000"/>
          </a:xfrm>
          <a:prstGeom prst="ellipse">
            <a:avLst/>
          </a:prstGeom>
          <a:solidFill>
            <a:schemeClr val="accent5">
              <a:lumMod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3C7E1A5D-58B8-741F-F368-71029830EFCB}"/>
              </a:ext>
            </a:extLst>
          </p:cNvPr>
          <p:cNvSpPr>
            <a:spLocks noGrp="1"/>
          </p:cNvSpPr>
          <p:nvPr/>
        </p:nvSpPr>
        <p:spPr>
          <a:xfrm>
            <a:off x="9906000" y="1219775"/>
            <a:ext cx="3048000" cy="3048000"/>
          </a:xfrm>
          <a:prstGeom prst="ellipse">
            <a:avLst/>
          </a:prstGeom>
          <a:solidFill>
            <a:schemeClr val="accent5">
              <a:lumMod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CD17C11-44C5-6716-D9EE-3F6C2F8FA147}"/>
              </a:ext>
            </a:extLst>
          </p:cNvPr>
          <p:cNvSpPr>
            <a:spLocks noGrp="1"/>
          </p:cNvSpPr>
          <p:nvPr/>
        </p:nvSpPr>
        <p:spPr>
          <a:xfrm>
            <a:off x="314633" y="3217338"/>
            <a:ext cx="70812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>
                <a:solidFill>
                  <a:schemeClr val="bg1"/>
                </a:solidFill>
              </a:rPr>
              <a:t>03 Result</a:t>
            </a:r>
          </a:p>
        </p:txBody>
      </p:sp>
    </p:spTree>
    <p:extLst>
      <p:ext uri="{BB962C8B-B14F-4D97-AF65-F5344CB8AC3E}">
        <p14:creationId xmlns:p14="http://schemas.microsoft.com/office/powerpoint/2010/main" val="5344563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09AA672-BB17-C569-5B16-38A2D3EDD5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9F68E2-31C2-4D90-A536-67698CDE3376}" type="slidenum">
              <a:rPr/>
              <a:t>23</a:t>
            </a:fld>
            <a:endParaRPr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E616B3E-4900-BB31-1E8B-5FCA4CEBF90E}"/>
              </a:ext>
            </a:extLst>
          </p:cNvPr>
          <p:cNvSpPr>
            <a:spLocks noGrp="1"/>
          </p:cNvSpPr>
          <p:nvPr/>
        </p:nvSpPr>
        <p:spPr>
          <a:xfrm>
            <a:off x="96192" y="309001"/>
            <a:ext cx="52200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sz="2000" b="1" i="0">
                <a:solidFill>
                  <a:srgbClr val="2F3C72"/>
                </a:solidFill>
                <a:latin typeface="Microsoft YaHei"/>
                <a:ea typeface="Microsoft YaHei"/>
                <a:cs typeface="Microsoft YaHei"/>
              </a:rPr>
              <a:t>Results Overview: Five Main Findings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82DC937-CAC7-DC1C-8CA5-496DB4DD145D}"/>
              </a:ext>
            </a:extLst>
          </p:cNvPr>
          <p:cNvSpPr>
            <a:spLocks noGrp="1"/>
          </p:cNvSpPr>
          <p:nvPr/>
        </p:nvSpPr>
        <p:spPr>
          <a:xfrm>
            <a:off x="379494" y="739296"/>
            <a:ext cx="55885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chemeClr val="accent5">
                    <a:lumMod val="50000"/>
                  </a:schemeClr>
                </a:solidFill>
                <a:latin typeface="Anthropic Sans"/>
                <a:ea typeface="Anthropic Sans"/>
                <a:cs typeface="Anthropic Sans"/>
              </a:rPr>
              <a:t>1. Temporal variation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B13003D-2E82-D726-9968-454B1DD3E90B}"/>
              </a:ext>
            </a:extLst>
          </p:cNvPr>
          <p:cNvSpPr>
            <a:spLocks noGrp="1"/>
          </p:cNvSpPr>
          <p:nvPr/>
        </p:nvSpPr>
        <p:spPr>
          <a:xfrm>
            <a:off x="1271588" y="1200961"/>
            <a:ext cx="96161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l">
              <a:buNone/>
            </a:pPr>
            <a:r>
              <a:rPr sz="2000" b="0" i="0">
                <a:solidFill>
                  <a:srgbClr val="0B0B0B"/>
                </a:solidFill>
                <a:latin typeface="Anthropic Sans"/>
                <a:ea typeface="Anthropic Sans"/>
                <a:cs typeface="Anthropic Sans"/>
              </a:rPr>
              <a:t>MDA8 O3 showed clear annual, seasonal, and diurnal patterns, with higher levels in spring and autumn and afternoon peaks.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5D2A0B2-BA2D-7784-5501-D80AB36F701F}"/>
              </a:ext>
            </a:extLst>
          </p:cNvPr>
          <p:cNvSpPr>
            <a:spLocks noGrp="1"/>
          </p:cNvSpPr>
          <p:nvPr/>
        </p:nvSpPr>
        <p:spPr>
          <a:xfrm>
            <a:off x="379494" y="1916209"/>
            <a:ext cx="55885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chemeClr val="accent5">
                    <a:lumMod val="50000"/>
                  </a:schemeClr>
                </a:solidFill>
                <a:latin typeface="Anthropic Sans"/>
                <a:ea typeface="Anthropic Sans"/>
                <a:cs typeface="Anthropic Sans"/>
              </a:rPr>
              <a:t>2. Meteorological drivers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2BAA002-C5C8-56C3-B9B8-44A9BC0FFF87}"/>
              </a:ext>
            </a:extLst>
          </p:cNvPr>
          <p:cNvSpPr>
            <a:spLocks noGrp="1"/>
          </p:cNvSpPr>
          <p:nvPr/>
        </p:nvSpPr>
        <p:spPr>
          <a:xfrm>
            <a:off x="1271588" y="2377874"/>
            <a:ext cx="96161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l">
              <a:buNone/>
            </a:pPr>
            <a:r>
              <a:rPr sz="2000" b="0" i="0">
                <a:solidFill>
                  <a:srgbClr val="0B0B0B"/>
                </a:solidFill>
                <a:latin typeface="Anthropic Sans"/>
                <a:ea typeface="Anthropic Sans"/>
                <a:cs typeface="Anthropic Sans"/>
              </a:rPr>
              <a:t>Random Forest identified temperature, seasonality, sunshine, wind field, humidity, and rainfall as key predictors of O3 variability.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BE1078B-5669-80A2-653C-97D0235E3193}"/>
              </a:ext>
            </a:extLst>
          </p:cNvPr>
          <p:cNvSpPr>
            <a:spLocks noGrp="1"/>
          </p:cNvSpPr>
          <p:nvPr/>
        </p:nvSpPr>
        <p:spPr>
          <a:xfrm>
            <a:off x="379494" y="3085760"/>
            <a:ext cx="55885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chemeClr val="accent5">
                    <a:lumMod val="50000"/>
                  </a:schemeClr>
                </a:solidFill>
                <a:latin typeface="Anthropic Sans"/>
                <a:ea typeface="Anthropic Sans"/>
                <a:cs typeface="Anthropic Sans"/>
              </a:rPr>
              <a:t>3. Nonlinear responses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D2EEC1F-1F85-B2C4-6EFC-A6FA80DC60CB}"/>
              </a:ext>
            </a:extLst>
          </p:cNvPr>
          <p:cNvSpPr>
            <a:spLocks noGrp="1"/>
          </p:cNvSpPr>
          <p:nvPr/>
        </p:nvSpPr>
        <p:spPr>
          <a:xfrm>
            <a:off x="1271588" y="3547425"/>
            <a:ext cx="96161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l">
              <a:buNone/>
            </a:pPr>
            <a:r>
              <a:rPr sz="2000" b="0" i="0">
                <a:solidFill>
                  <a:srgbClr val="0B0B0B"/>
                </a:solidFill>
                <a:latin typeface="Anthropic Sans"/>
                <a:ea typeface="Anthropic Sans"/>
                <a:cs typeface="Anthropic Sans"/>
              </a:rPr>
              <a:t>GAM revealed nonlinear O3 responses to meteorological variables, showing that O3 favors warm, sunny, dry, and weak-wind conditions.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1A8BD57-8094-3199-D546-192A3079504C}"/>
              </a:ext>
            </a:extLst>
          </p:cNvPr>
          <p:cNvSpPr>
            <a:spLocks noGrp="1"/>
          </p:cNvSpPr>
          <p:nvPr/>
        </p:nvSpPr>
        <p:spPr>
          <a:xfrm>
            <a:off x="379494" y="4255311"/>
            <a:ext cx="55885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chemeClr val="accent5">
                    <a:lumMod val="50000"/>
                  </a:schemeClr>
                </a:solidFill>
                <a:latin typeface="Anthropic Sans"/>
                <a:ea typeface="Anthropic Sans"/>
                <a:cs typeface="Anthropic Sans"/>
              </a:rPr>
              <a:t>4. High-O3 events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36A0F77-79CA-E2F2-1F74-0C10242CE072}"/>
              </a:ext>
            </a:extLst>
          </p:cNvPr>
          <p:cNvSpPr>
            <a:spLocks noGrp="1"/>
          </p:cNvSpPr>
          <p:nvPr/>
        </p:nvSpPr>
        <p:spPr>
          <a:xfrm>
            <a:off x="1271588" y="4716976"/>
            <a:ext cx="96161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l">
              <a:buNone/>
            </a:pPr>
            <a:r>
              <a:rPr sz="2000" b="0" i="0">
                <a:solidFill>
                  <a:srgbClr val="0B0B0B"/>
                </a:solidFill>
                <a:latin typeface="Anthropic Sans"/>
                <a:ea typeface="Anthropic Sans"/>
                <a:cs typeface="Anthropic Sans"/>
              </a:rPr>
              <a:t>Extreme O3 events were concentrated in autumn and occurred under sunny, dry, low-rainfall, and stagnant meteorological conditions.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B29FEE1-D88C-C72E-87B4-277625EC383B}"/>
              </a:ext>
            </a:extLst>
          </p:cNvPr>
          <p:cNvSpPr>
            <a:spLocks noGrp="1"/>
          </p:cNvSpPr>
          <p:nvPr/>
        </p:nvSpPr>
        <p:spPr>
          <a:xfrm>
            <a:off x="379494" y="5424266"/>
            <a:ext cx="55885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chemeClr val="accent5">
                    <a:lumMod val="50000"/>
                  </a:schemeClr>
                </a:solidFill>
                <a:latin typeface="Anthropic Sans"/>
                <a:ea typeface="Anthropic Sans"/>
                <a:cs typeface="Anthropic Sans"/>
              </a:rPr>
              <a:t>5. Long-term trend after normalization 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D1188C13-E8F2-7F9A-41D4-6BBE7B69A320}"/>
              </a:ext>
            </a:extLst>
          </p:cNvPr>
          <p:cNvSpPr>
            <a:spLocks noGrp="1"/>
          </p:cNvSpPr>
          <p:nvPr/>
        </p:nvSpPr>
        <p:spPr>
          <a:xfrm>
            <a:off x="1271588" y="5885931"/>
            <a:ext cx="96161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l">
              <a:buNone/>
            </a:pPr>
            <a:r>
              <a:rPr sz="2000" b="0" i="0">
                <a:solidFill>
                  <a:srgbClr val="0B0B0B"/>
                </a:solidFill>
                <a:latin typeface="Anthropic Sans"/>
                <a:ea typeface="Anthropic Sans"/>
                <a:cs typeface="Anthropic Sans"/>
              </a:rPr>
              <a:t>Meteorological normalization reduced weather-driven variability and revealed a clearer declining trend in MDA8 O3.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EA98E9E9-5C1F-FCF5-4585-03E904D18980}"/>
              </a:ext>
            </a:extLst>
          </p:cNvPr>
          <p:cNvSpPr>
            <a:spLocks noGrp="1"/>
          </p:cNvSpPr>
          <p:nvPr/>
        </p:nvSpPr>
        <p:spPr>
          <a:xfrm>
            <a:off x="3173792" y="861282"/>
            <a:ext cx="82263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latin typeface="Microsoft YaHei"/>
                <a:ea typeface="Microsoft YaHei"/>
                <a:cs typeface="Microsoft YaHei"/>
              </a:rPr>
              <a:t>O3 </a:t>
            </a:r>
            <a:r>
              <a:rPr sz="1400" b="1" err="1">
                <a:latin typeface="Microsoft YaHei"/>
                <a:ea typeface="Microsoft YaHei"/>
                <a:cs typeface="Microsoft YaHei"/>
              </a:rPr>
              <a:t>怎麼變</a:t>
            </a:r>
            <a:r>
              <a:rPr sz="1400" b="1">
                <a:latin typeface="Microsoft YaHei"/>
                <a:ea typeface="Microsoft YaHei"/>
                <a:cs typeface="Microsoft YaHei"/>
              </a:rPr>
              <a:t> ？</a:t>
            </a:r>
            <a:r>
              <a:rPr sz="1400" b="1" err="1">
                <a:latin typeface="Microsoft YaHei"/>
                <a:ea typeface="Microsoft YaHei"/>
                <a:cs typeface="Microsoft YaHei"/>
              </a:rPr>
              <a:t>什麼時候高</a:t>
            </a:r>
            <a:r>
              <a:rPr sz="1400" b="1">
                <a:latin typeface="Microsoft YaHei"/>
                <a:ea typeface="Microsoft YaHei"/>
                <a:cs typeface="Microsoft YaHei"/>
              </a:rPr>
              <a:t> ？</a:t>
            </a:r>
            <a:endParaRPr b="1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F80F61C-FB64-A31E-A3E6-9B356F0212B7}"/>
              </a:ext>
            </a:extLst>
          </p:cNvPr>
          <p:cNvSpPr>
            <a:spLocks noGrp="1"/>
          </p:cNvSpPr>
          <p:nvPr/>
        </p:nvSpPr>
        <p:spPr>
          <a:xfrm>
            <a:off x="3726684" y="2026205"/>
            <a:ext cx="82263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latin typeface="Microsoft YaHei"/>
                <a:ea typeface="Microsoft YaHei"/>
                <a:cs typeface="Microsoft YaHei"/>
              </a:rPr>
              <a:t>哪些氣象因子重要 ？</a:t>
            </a:r>
            <a:endParaRPr b="1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829536A9-5A24-E8CF-197C-D5991017E1DE}"/>
              </a:ext>
            </a:extLst>
          </p:cNvPr>
          <p:cNvSpPr>
            <a:spLocks noGrp="1"/>
          </p:cNvSpPr>
          <p:nvPr/>
        </p:nvSpPr>
        <p:spPr>
          <a:xfrm>
            <a:off x="3397075" y="3216662"/>
            <a:ext cx="82263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latin typeface="Microsoft YaHei"/>
                <a:ea typeface="Microsoft YaHei"/>
                <a:cs typeface="Microsoft YaHei"/>
              </a:rPr>
              <a:t>這些因子怎麼影響 ？</a:t>
            </a:r>
            <a:endParaRPr b="1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0DCDD925-4E8D-73DC-2710-30FB3F4BE430}"/>
              </a:ext>
            </a:extLst>
          </p:cNvPr>
          <p:cNvSpPr>
            <a:spLocks noGrp="1"/>
          </p:cNvSpPr>
          <p:nvPr/>
        </p:nvSpPr>
        <p:spPr>
          <a:xfrm>
            <a:off x="2706235" y="4383921"/>
            <a:ext cx="82263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latin typeface="Microsoft YaHei"/>
                <a:ea typeface="Microsoft YaHei"/>
                <a:cs typeface="Microsoft YaHei"/>
              </a:rPr>
              <a:t>高 O3 事件發生在什麼條件 ？</a:t>
            </a:r>
            <a:endParaRPr b="1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71B1004C-F4F9-A899-2BDA-5637A5771935}"/>
              </a:ext>
            </a:extLst>
          </p:cNvPr>
          <p:cNvSpPr>
            <a:spLocks noGrp="1"/>
          </p:cNvSpPr>
          <p:nvPr/>
        </p:nvSpPr>
        <p:spPr>
          <a:xfrm>
            <a:off x="5417536" y="5537864"/>
            <a:ext cx="82263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latin typeface="Microsoft YaHei"/>
                <a:ea typeface="Microsoft YaHei"/>
                <a:cs typeface="Microsoft YaHei"/>
              </a:rPr>
              <a:t>校正氣象後長期趨勢如何 ?</a:t>
            </a:r>
            <a:endParaRPr b="1"/>
          </a:p>
        </p:txBody>
      </p:sp>
    </p:spTree>
    <p:extLst>
      <p:ext uri="{BB962C8B-B14F-4D97-AF65-F5344CB8AC3E}">
        <p14:creationId xmlns:p14="http://schemas.microsoft.com/office/powerpoint/2010/main" val="25862971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圖片 2"/>
          <p:cNvPicPr>
            <a:picLocks noChangeAspect="1"/>
          </p:cNvPicPr>
          <p:nvPr/>
        </p:nvPicPr>
        <p:blipFill>
          <a:blip r:embed="rId3"/>
          <a:srcRect t="-231" b="40891"/>
          <a:stretch>
            <a:fillRect/>
          </a:stretch>
        </p:blipFill>
        <p:spPr>
          <a:xfrm>
            <a:off x="467766" y="1278363"/>
            <a:ext cx="4057018" cy="3408744"/>
          </a:xfrm>
          <a:prstGeom prst="roundRect">
            <a:avLst>
              <a:gd name="adj" fmla="val 7564"/>
            </a:avLst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655AFCEA-327E-55AF-31C1-0928BBB4E9FB}"/>
              </a:ext>
            </a:extLst>
          </p:cNvPr>
          <p:cNvSpPr>
            <a:spLocks noGrp="1"/>
          </p:cNvSpPr>
          <p:nvPr/>
        </p:nvSpPr>
        <p:spPr>
          <a:xfrm>
            <a:off x="96192" y="309001"/>
            <a:ext cx="12034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sz="2000" b="1" i="0">
                <a:solidFill>
                  <a:srgbClr val="2F3C72"/>
                </a:solidFill>
                <a:latin typeface="Microsoft YaHei"/>
                <a:ea typeface="Microsoft YaHei"/>
                <a:cs typeface="Microsoft YaHei"/>
              </a:rPr>
              <a:t> Result1 Spatiotemporal Distribution of Ozone: Higher in Autumn, Afternoon &amp; Downwind</a:t>
            </a:r>
          </a:p>
        </p:txBody>
      </p:sp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6D983CFF-E46D-44C0-2BD6-4E3D5E24BE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9F68E2-31C2-4D90-A536-67698CDE3376}" type="slidenum">
              <a:rPr/>
              <a:t>24</a:t>
            </a:fld>
            <a:endParaRPr/>
          </a:p>
        </p:txBody>
      </p:sp>
      <p:pic>
        <p:nvPicPr>
          <p:cNvPr id="30" name="圖片 11"/>
          <p:cNvPicPr>
            <a:picLocks noChangeAspect="1"/>
          </p:cNvPicPr>
          <p:nvPr/>
        </p:nvPicPr>
        <p:blipFill>
          <a:blip r:embed="rId4"/>
          <a:srcRect b="4758"/>
          <a:stretch>
            <a:fillRect/>
          </a:stretch>
        </p:blipFill>
        <p:spPr>
          <a:xfrm>
            <a:off x="5532423" y="1278363"/>
            <a:ext cx="2625394" cy="1744376"/>
          </a:xfrm>
          <a:prstGeom prst="roundRect">
            <a:avLst>
              <a:gd name="adj" fmla="val 7338"/>
            </a:avLst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31" name="圖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1779" y="3755282"/>
            <a:ext cx="4197642" cy="2100618"/>
          </a:xfrm>
          <a:prstGeom prst="roundRect">
            <a:avLst>
              <a:gd name="adj" fmla="val 5217"/>
            </a:avLst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78FE6491-5207-AC14-17F3-FF7ABBEE5FEA}"/>
              </a:ext>
            </a:extLst>
          </p:cNvPr>
          <p:cNvSpPr>
            <a:spLocks noGrp="1"/>
          </p:cNvSpPr>
          <p:nvPr/>
        </p:nvSpPr>
        <p:spPr>
          <a:xfrm>
            <a:off x="1280594" y="722664"/>
            <a:ext cx="57489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sz="1400" b="1" i="0">
                <a:solidFill>
                  <a:schemeClr val="bg2">
                    <a:lumMod val="25000"/>
                  </a:schemeClr>
                </a:solidFill>
                <a:latin typeface="Microsoft YaHei"/>
                <a:ea typeface="Microsoft YaHei"/>
                <a:cs typeface="Microsoft YaHei"/>
              </a:rPr>
              <a:t>12 stations, Kaohsiung · 2018–2025 · Daily MDA8 O₃</a:t>
            </a:r>
          </a:p>
        </p:txBody>
      </p:sp>
      <p:pic>
        <p:nvPicPr>
          <p:cNvPr id="33" name="圖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0477" y="1284054"/>
            <a:ext cx="3031327" cy="1738685"/>
          </a:xfrm>
          <a:prstGeom prst="roundRect">
            <a:avLst>
              <a:gd name="adj" fmla="val 7338"/>
            </a:avLst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78CEF5DB-390B-1F7D-F1D6-E639F723A18C}"/>
              </a:ext>
            </a:extLst>
          </p:cNvPr>
          <p:cNvSpPr>
            <a:spLocks noGrp="1"/>
          </p:cNvSpPr>
          <p:nvPr/>
        </p:nvSpPr>
        <p:spPr>
          <a:xfrm>
            <a:off x="6618066" y="6156602"/>
            <a:ext cx="3985068" cy="617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indent="-171450" algn="l">
              <a:lnSpc>
                <a:spcPct val="150000"/>
              </a:lnSpc>
              <a:buFont typeface="Arial"/>
              <a:buChar char="•"/>
            </a:pPr>
            <a:r>
              <a:rPr sz="1200" b="0" i="0">
                <a:solidFill>
                  <a:srgbClr val="0B0B0B"/>
                </a:solidFill>
                <a:latin typeface="Anthropic Sans"/>
                <a:ea typeface="Anthropic Sans"/>
                <a:cs typeface="Anthropic Sans"/>
              </a:rPr>
              <a:t>Afternoon peak (12:00–14:00), photochemical</a:t>
            </a:r>
          </a:p>
          <a:p>
            <a:pPr marL="171450" marR="0" indent="-171450" algn="l">
              <a:lnSpc>
                <a:spcPct val="150000"/>
              </a:lnSpc>
              <a:buFont typeface="Arial"/>
              <a:buChar char="•"/>
            </a:pPr>
            <a:r>
              <a:rPr sz="1200" b="0" i="0">
                <a:solidFill>
                  <a:srgbClr val="0B0B0B"/>
                </a:solidFill>
                <a:latin typeface="Anthropic Sans"/>
                <a:ea typeface="Anthropic Sans"/>
                <a:cs typeface="Anthropic Sans"/>
              </a:rPr>
              <a:t>Largest amplitude in autumn, smallest in summer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516865CD-BDDF-6C99-72F5-78A62D181819}"/>
              </a:ext>
            </a:extLst>
          </p:cNvPr>
          <p:cNvSpPr>
            <a:spLocks noGrp="1"/>
          </p:cNvSpPr>
          <p:nvPr/>
        </p:nvSpPr>
        <p:spPr>
          <a:xfrm>
            <a:off x="5532423" y="3165825"/>
            <a:ext cx="5776108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indent="-171450" algn="ctr">
              <a:lnSpc>
                <a:spcPct val="150000"/>
              </a:lnSpc>
              <a:buFont typeface="Arial"/>
              <a:buChar char="•"/>
            </a:pPr>
            <a:r>
              <a:rPr sz="1200" b="0" i="0" dirty="0">
                <a:solidFill>
                  <a:srgbClr val="0B0B0B"/>
                </a:solidFill>
                <a:latin typeface="Anthropic Sans"/>
                <a:ea typeface="Anthropic Sans"/>
                <a:cs typeface="Anthropic Sans"/>
              </a:rPr>
              <a:t>High in </a:t>
            </a:r>
            <a:r>
              <a:rPr sz="2000" b="1" i="0" dirty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autumn &amp; spring</a:t>
            </a:r>
            <a:r>
              <a:rPr sz="1200" b="0" i="0" dirty="0">
                <a:solidFill>
                  <a:srgbClr val="0B0B0B"/>
                </a:solidFill>
                <a:latin typeface="Anthropic Sans"/>
                <a:ea typeface="Anthropic Sans"/>
                <a:cs typeface="Anthropic Sans"/>
              </a:rPr>
              <a:t>; lowest in summer (SW monsoon)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8D759BE7-373E-2157-5680-B69F4725B627}"/>
              </a:ext>
            </a:extLst>
          </p:cNvPr>
          <p:cNvSpPr>
            <a:spLocks noGrp="1"/>
          </p:cNvSpPr>
          <p:nvPr/>
        </p:nvSpPr>
        <p:spPr>
          <a:xfrm>
            <a:off x="392464" y="4815221"/>
            <a:ext cx="7367900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indent="-171450" algn="l">
              <a:lnSpc>
                <a:spcPct val="150000"/>
              </a:lnSpc>
              <a:buFont typeface="Arial"/>
              <a:buChar char="•"/>
            </a:pPr>
            <a:r>
              <a:rPr b="0" i="0">
                <a:solidFill>
                  <a:srgbClr val="0B0B0B"/>
                </a:solidFill>
                <a:latin typeface="Anthropic Sans"/>
                <a:ea typeface="Anthropic Sans"/>
                <a:cs typeface="Anthropic Sans"/>
              </a:rPr>
              <a:t>Highest: 林園, 美濃 (downwind / rural)</a:t>
            </a:r>
          </a:p>
          <a:p>
            <a:pPr marL="171450" marR="0" indent="-171450" algn="l">
              <a:lnSpc>
                <a:spcPct val="150000"/>
              </a:lnSpc>
              <a:buFont typeface="Arial"/>
              <a:buChar char="•"/>
            </a:pPr>
            <a:r>
              <a:rPr b="0" i="0">
                <a:solidFill>
                  <a:srgbClr val="0B0B0B"/>
                </a:solidFill>
                <a:latin typeface="Anthropic Sans"/>
                <a:ea typeface="Anthropic Sans"/>
                <a:cs typeface="Anthropic Sans"/>
              </a:rPr>
              <a:t>Lowest: </a:t>
            </a:r>
            <a:r>
              <a:rPr>
                <a:solidFill>
                  <a:srgbClr val="0B0B0B"/>
                </a:solidFill>
                <a:latin typeface="Anthropic Sans"/>
                <a:ea typeface="Anthropic Sans"/>
                <a:cs typeface="Anthropic Sans"/>
              </a:rPr>
              <a:t>前鎮</a:t>
            </a:r>
            <a:r>
              <a:rPr b="0" i="0">
                <a:solidFill>
                  <a:srgbClr val="0B0B0B"/>
                </a:solidFill>
                <a:latin typeface="Anthropic Sans"/>
                <a:ea typeface="Anthropic Sans"/>
                <a:cs typeface="Anthropic Sans"/>
              </a:rPr>
              <a:t> (industrial), </a:t>
            </a:r>
            <a:r>
              <a:rPr>
                <a:solidFill>
                  <a:srgbClr val="0B0B0B"/>
                </a:solidFill>
                <a:latin typeface="Anthropic Sans"/>
                <a:ea typeface="Anthropic Sans"/>
                <a:cs typeface="Anthropic Sans"/>
              </a:rPr>
              <a:t>鳳山</a:t>
            </a:r>
            <a:r>
              <a:rPr b="0" i="0">
                <a:solidFill>
                  <a:srgbClr val="0B0B0B"/>
                </a:solidFill>
                <a:latin typeface="Anthropic Sans"/>
                <a:ea typeface="Anthropic Sans"/>
                <a:cs typeface="Anthropic Sans"/>
              </a:rPr>
              <a:t> · 復興 (traffic), </a:t>
            </a:r>
            <a:r>
              <a:rPr>
                <a:solidFill>
                  <a:srgbClr val="0B0B0B"/>
                </a:solidFill>
                <a:latin typeface="Anthropic Sans"/>
                <a:ea typeface="Anthropic Sans"/>
                <a:cs typeface="Anthropic Sans"/>
              </a:rPr>
              <a:t>小港</a:t>
            </a:r>
            <a:endParaRPr b="0" i="0">
              <a:solidFill>
                <a:srgbClr val="0B0B0B"/>
              </a:solidFill>
              <a:latin typeface="Anthropic Sans"/>
              <a:ea typeface="Anthropic Sans"/>
              <a:cs typeface="Anthropic Sans"/>
            </a:endParaRPr>
          </a:p>
          <a:p>
            <a:pPr marL="171450" marR="0" indent="-171450" algn="l">
              <a:lnSpc>
                <a:spcPct val="150000"/>
              </a:lnSpc>
              <a:buFont typeface="Arial"/>
              <a:buChar char="•"/>
            </a:pPr>
            <a:r>
              <a:rPr b="0" i="0">
                <a:solidFill>
                  <a:srgbClr val="0B0B0B"/>
                </a:solidFill>
                <a:latin typeface="Anthropic Sans"/>
                <a:ea typeface="Anthropic Sans"/>
                <a:cs typeface="Anthropic Sans"/>
              </a:rPr>
              <a:t>Source areas are lower → NOx titration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FF4CA2B-7F83-48B8-A86B-CFC18FBEC83E}"/>
              </a:ext>
            </a:extLst>
          </p:cNvPr>
          <p:cNvSpPr>
            <a:spLocks noGrp="1"/>
          </p:cNvSpPr>
          <p:nvPr/>
        </p:nvSpPr>
        <p:spPr>
          <a:xfrm>
            <a:off x="411480" y="6291072"/>
            <a:ext cx="5760720" cy="52120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anchor="ctr">
            <a:normAutofit/>
          </a:bodyPr>
          <a:lstStyle/>
          <a:p>
            <a:pPr algn="l">
              <a:buNone/>
            </a:pPr>
            <a:r>
              <a:rPr sz="1100" b="1">
                <a:solidFill>
                  <a:srgbClr val="1F5C9E"/>
                </a:solidFill>
                <a:latin typeface="Microsoft JhengHei"/>
                <a:ea typeface="Microsoft JhengHei"/>
                <a:cs typeface="Microsoft JhengHei"/>
              </a:rPr>
              <a:t>【說明】</a:t>
            </a:r>
            <a:r>
              <a:rPr sz="11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臭氧於秋季、午後、下風處偏高;工業與交通測站因排放源附近 NOx 滴定反而較低,高值出現在下風的林園、美濃。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0AA68F9-38D8-4A47-C105-060FFA2AAD3B}"/>
              </a:ext>
            </a:extLst>
          </p:cNvPr>
          <p:cNvSpPr>
            <a:spLocks noGrp="1"/>
          </p:cNvSpPr>
          <p:nvPr/>
        </p:nvSpPr>
        <p:spPr>
          <a:xfrm>
            <a:off x="3796234" y="3028844"/>
            <a:ext cx="60977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200">
                <a:latin typeface="Microsoft YaHei"/>
                <a:ea typeface="Microsoft YaHei"/>
                <a:cs typeface="Microsoft YaHei"/>
              </a:rPr>
              <a:t>圖 (a)：2018–2025 年平均 MDA8 O3 變化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B47941E-02FF-1945-F976-4B85FF8795EB}"/>
              </a:ext>
            </a:extLst>
          </p:cNvPr>
          <p:cNvSpPr>
            <a:spLocks noGrp="1"/>
          </p:cNvSpPr>
          <p:nvPr/>
        </p:nvSpPr>
        <p:spPr>
          <a:xfrm>
            <a:off x="6887254" y="3028844"/>
            <a:ext cx="60977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200">
                <a:latin typeface="Microsoft YaHei"/>
                <a:ea typeface="Microsoft YaHei"/>
                <a:cs typeface="Microsoft YaHei"/>
              </a:rPr>
              <a:t>圖 (b)：各月份 MDA8 O3 分布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F8B07EA-FF01-EA13-5AB2-F82174E30811}"/>
              </a:ext>
            </a:extLst>
          </p:cNvPr>
          <p:cNvSpPr>
            <a:spLocks noGrp="1"/>
          </p:cNvSpPr>
          <p:nvPr/>
        </p:nvSpPr>
        <p:spPr>
          <a:xfrm>
            <a:off x="5561714" y="5857118"/>
            <a:ext cx="60977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200">
                <a:latin typeface="Microsoft YaHei"/>
                <a:ea typeface="Microsoft YaHei"/>
                <a:cs typeface="Microsoft YaHei"/>
              </a:rPr>
              <a:t>圖 (c)：季節日內 O3 變化</a:t>
            </a:r>
          </a:p>
        </p:txBody>
      </p:sp>
    </p:spTree>
    <p:extLst>
      <p:ext uri="{BB962C8B-B14F-4D97-AF65-F5344CB8AC3E}">
        <p14:creationId xmlns:p14="http://schemas.microsoft.com/office/powerpoint/2010/main" val="20922372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04D82227-8377-8F1C-AE45-87A8783A5B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9F68E2-31C2-4D90-A536-67698CDE3376}" type="slidenum">
              <a:rPr/>
              <a:t>25</a:t>
            </a:fld>
            <a:endParaRPr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8CF1F20-0230-34E2-19A2-4B81F9227AC8}"/>
              </a:ext>
            </a:extLst>
          </p:cNvPr>
          <p:cNvSpPr>
            <a:spLocks noGrp="1"/>
          </p:cNvSpPr>
          <p:nvPr/>
        </p:nvSpPr>
        <p:spPr>
          <a:xfrm>
            <a:off x="96192" y="309001"/>
            <a:ext cx="12034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sz="2000" b="1" i="0">
                <a:solidFill>
                  <a:srgbClr val="2F3C72"/>
                </a:solidFill>
                <a:latin typeface="Microsoft YaHei"/>
                <a:ea typeface="Microsoft YaHei"/>
                <a:cs typeface="Microsoft YaHei"/>
              </a:rPr>
              <a:t>Result2 Meteorological Drivers: What Controls Ozone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AED4663-3DFA-45BC-B910-3618D8FD1B18}"/>
              </a:ext>
            </a:extLst>
          </p:cNvPr>
          <p:cNvSpPr>
            <a:spLocks noGrp="1"/>
          </p:cNvSpPr>
          <p:nvPr/>
        </p:nvSpPr>
        <p:spPr>
          <a:xfrm>
            <a:off x="1276824" y="716379"/>
            <a:ext cx="7985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sz="1400" b="1" i="0">
                <a:solidFill>
                  <a:schemeClr val="bg2">
                    <a:lumMod val="25000"/>
                  </a:schemeClr>
                </a:solidFill>
                <a:latin typeface="Microsoft YaHei"/>
                <a:ea typeface="Microsoft YaHei"/>
                <a:cs typeface="Microsoft YaHei"/>
              </a:rPr>
              <a:t>Random Forest · city-day model · held-out 2024–2025 test · permutation importance</a:t>
            </a:r>
          </a:p>
        </p:txBody>
      </p:sp>
      <p:pic>
        <p:nvPicPr>
          <p:cNvPr id="28" name="圖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91" y="1520734"/>
            <a:ext cx="5381122" cy="2692864"/>
          </a:xfrm>
          <a:prstGeom prst="roundRect">
            <a:avLst>
              <a:gd name="adj" fmla="val 7564"/>
            </a:avLst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2D071AC6-E605-A2E5-C86C-B95B5D6A03F8}"/>
              </a:ext>
            </a:extLst>
          </p:cNvPr>
          <p:cNvSpPr>
            <a:spLocks noGrp="1"/>
          </p:cNvSpPr>
          <p:nvPr/>
        </p:nvSpPr>
        <p:spPr>
          <a:xfrm>
            <a:off x="6067913" y="3705766"/>
            <a:ext cx="528588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Model performance</a:t>
            </a:r>
          </a:p>
          <a:p>
            <a:pPr marL="285750" indent="-285750">
              <a:buFont typeface="Arial"/>
              <a:buChar char="•"/>
            </a:pPr>
            <a:r>
              <a:rPr>
                <a:solidFill>
                  <a:srgbClr val="0B0B0B"/>
                </a:solidFill>
                <a:latin typeface="Anthropic Sans"/>
                <a:ea typeface="Anthropic Sans"/>
                <a:cs typeface="Anthropic Sans"/>
              </a:rPr>
              <a:t>Random Forest, tested on held-out 2024–2025</a:t>
            </a:r>
          </a:p>
          <a:p>
            <a:pPr marL="285750" indent="-285750">
              <a:buFont typeface="Arial"/>
              <a:buChar char="•"/>
            </a:pPr>
            <a:r>
              <a:rPr>
                <a:solidFill>
                  <a:srgbClr val="0B0B0B"/>
                </a:solidFill>
                <a:latin typeface="Anthropic Sans"/>
                <a:ea typeface="Anthropic Sans"/>
                <a:cs typeface="Anthropic Sans"/>
              </a:rPr>
              <a:t>Clearly beats a linear baseline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AE61DC60-2419-0A56-B038-1260041E7A90}"/>
              </a:ext>
            </a:extLst>
          </p:cNvPr>
          <p:cNvSpPr>
            <a:spLocks noGrp="1"/>
          </p:cNvSpPr>
          <p:nvPr/>
        </p:nvSpPr>
        <p:spPr>
          <a:xfrm>
            <a:off x="6067913" y="4775432"/>
            <a:ext cx="528588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Interpretation</a:t>
            </a:r>
          </a:p>
          <a:p>
            <a:pPr marL="285750" indent="-285750">
              <a:buFont typeface="Arial"/>
              <a:buChar char="•"/>
            </a:pPr>
            <a:r>
              <a:rPr>
                <a:solidFill>
                  <a:srgbClr val="0B0B0B"/>
                </a:solidFill>
                <a:latin typeface="Anthropic Sans"/>
                <a:ea typeface="Anthropic Sans"/>
                <a:cs typeface="Anthropic Sans"/>
              </a:rPr>
              <a:t>Heat + sunlight + season → photochemistry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4DB6303B-6B2B-04EF-00CD-2839F374C2DB}"/>
              </a:ext>
            </a:extLst>
          </p:cNvPr>
          <p:cNvSpPr>
            <a:spLocks noGrp="1"/>
          </p:cNvSpPr>
          <p:nvPr/>
        </p:nvSpPr>
        <p:spPr>
          <a:xfrm>
            <a:off x="6067912" y="1787754"/>
            <a:ext cx="620205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 drivers (permutation importance)</a:t>
            </a:r>
          </a:p>
          <a:p>
            <a:pPr marL="285750" indent="-285750">
              <a:buFont typeface="Arial"/>
              <a:buChar char="•"/>
            </a:pPr>
            <a:r>
              <a:rPr b="1">
                <a:solidFill>
                  <a:srgbClr val="0B0B0B"/>
                </a:solidFill>
                <a:latin typeface="Anthropic Sans"/>
                <a:ea typeface="Anthropic Sans"/>
                <a:cs typeface="Anthropic Sans"/>
              </a:rPr>
              <a:t>Strongest</a:t>
            </a:r>
            <a:r>
              <a:rPr>
                <a:solidFill>
                  <a:srgbClr val="0B0B0B"/>
                </a:solidFill>
                <a:latin typeface="Anthropic Sans"/>
                <a:ea typeface="Anthropic Sans"/>
                <a:cs typeface="Anthropic Sans"/>
              </a:rPr>
              <a:t>: Max </a:t>
            </a:r>
            <a:r>
              <a:rPr sz="20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temperature ≈ Seasonality</a:t>
            </a:r>
            <a:r>
              <a:rPr sz="2000">
                <a:solidFill>
                  <a:srgbClr val="0B0B0B"/>
                </a:solidFill>
                <a:latin typeface="Anthropic Sans"/>
                <a:ea typeface="Anthropic Sans"/>
                <a:cs typeface="Anthropic Sans"/>
              </a:rPr>
              <a:t> </a:t>
            </a:r>
          </a:p>
          <a:p>
            <a:r>
              <a:rPr>
                <a:solidFill>
                  <a:srgbClr val="0B0B0B"/>
                </a:solidFill>
                <a:latin typeface="Anthropic Sans"/>
                <a:ea typeface="Anthropic Sans"/>
                <a:cs typeface="Anthropic Sans"/>
              </a:rPr>
              <a:t>(day-of-year)</a:t>
            </a:r>
          </a:p>
          <a:p>
            <a:pPr marL="285750" indent="-285750">
              <a:buFont typeface="Arial"/>
              <a:buChar char="•"/>
            </a:pPr>
            <a:r>
              <a:rPr b="1">
                <a:solidFill>
                  <a:srgbClr val="0B0B0B"/>
                </a:solidFill>
                <a:latin typeface="Anthropic Sans"/>
                <a:ea typeface="Anthropic Sans"/>
                <a:cs typeface="Anthropic Sans"/>
              </a:rPr>
              <a:t>Then</a:t>
            </a:r>
            <a:r>
              <a:rPr>
                <a:solidFill>
                  <a:srgbClr val="0B0B0B"/>
                </a:solidFill>
                <a:latin typeface="Anthropic Sans"/>
                <a:ea typeface="Anthropic Sans"/>
                <a:cs typeface="Anthropic Sans"/>
              </a:rPr>
              <a:t>: Sunshine · Wind direction</a:t>
            </a:r>
          </a:p>
          <a:p>
            <a:pPr marL="285750" indent="-285750">
              <a:buFont typeface="Arial"/>
              <a:buChar char="•"/>
            </a:pPr>
            <a:r>
              <a:rPr b="1">
                <a:solidFill>
                  <a:srgbClr val="0B0B0B"/>
                </a:solidFill>
                <a:latin typeface="Anthropic Sans"/>
                <a:ea typeface="Anthropic Sans"/>
                <a:cs typeface="Anthropic Sans"/>
              </a:rPr>
              <a:t>Then</a:t>
            </a:r>
            <a:r>
              <a:rPr>
                <a:solidFill>
                  <a:srgbClr val="0B0B0B"/>
                </a:solidFill>
                <a:latin typeface="Anthropic Sans"/>
                <a:ea typeface="Anthropic Sans"/>
                <a:cs typeface="Anthropic Sans"/>
              </a:rPr>
              <a:t>: Humidity · Rainfall</a:t>
            </a:r>
          </a:p>
          <a:p>
            <a:pPr marL="285750" indent="-285750">
              <a:buFont typeface="Arial"/>
              <a:buChar char="•"/>
            </a:pPr>
            <a:r>
              <a:rPr b="1">
                <a:solidFill>
                  <a:srgbClr val="0B0B0B"/>
                </a:solidFill>
                <a:latin typeface="Anthropic Sans"/>
                <a:ea typeface="Anthropic Sans"/>
                <a:cs typeface="Anthropic Sans"/>
              </a:rPr>
              <a:t>Station/location effects</a:t>
            </a:r>
            <a:r>
              <a:rPr>
                <a:solidFill>
                  <a:srgbClr val="0B0B0B"/>
                </a:solidFill>
                <a:latin typeface="Anthropic Sans"/>
                <a:ea typeface="Anthropic Sans"/>
                <a:cs typeface="Anthropic Sans"/>
              </a:rPr>
              <a:t>: minor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44704FC-50E7-46D3-8BE1-2B6AF66167C4}"/>
              </a:ext>
            </a:extLst>
          </p:cNvPr>
          <p:cNvSpPr>
            <a:spLocks noGrp="1"/>
          </p:cNvSpPr>
          <p:nvPr/>
        </p:nvSpPr>
        <p:spPr>
          <a:xfrm>
            <a:off x="411480" y="6272784"/>
            <a:ext cx="7863840" cy="5120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anchor="ctr">
            <a:normAutofit/>
          </a:bodyPr>
          <a:lstStyle/>
          <a:p>
            <a:pPr algn="l">
              <a:buNone/>
            </a:pPr>
            <a:r>
              <a:rPr sz="1100" b="1">
                <a:solidFill>
                  <a:srgbClr val="1F5C9E"/>
                </a:solidFill>
                <a:latin typeface="Microsoft JhengHei"/>
                <a:ea typeface="Microsoft JhengHei"/>
                <a:cs typeface="Microsoft JhengHei"/>
              </a:rPr>
              <a:t>【說明】</a:t>
            </a:r>
            <a:r>
              <a:rPr sz="11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隨機森林顯示最高溫、季節與日照為最主要驅動因子,其次為風向、濕度、雨量,整體反映光化學生成特性。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313736F-F96D-BDA1-5345-5B1F0CE884A1}"/>
              </a:ext>
            </a:extLst>
          </p:cNvPr>
          <p:cNvSpPr>
            <a:spLocks noGrp="1"/>
          </p:cNvSpPr>
          <p:nvPr/>
        </p:nvSpPr>
        <p:spPr>
          <a:xfrm>
            <a:off x="6106633" y="5499207"/>
            <a:ext cx="42549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chemeClr val="bg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高溫、日照和季節條件共同反映臭氧的光化學生成功能。</a:t>
            </a:r>
            <a:endParaRPr sz="160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C4F24F8-25A7-B72F-B412-57807483B496}"/>
              </a:ext>
            </a:extLst>
          </p:cNvPr>
          <p:cNvSpPr>
            <a:spLocks noGrp="1"/>
          </p:cNvSpPr>
          <p:nvPr/>
        </p:nvSpPr>
        <p:spPr>
          <a:xfrm>
            <a:off x="583108" y="4387010"/>
            <a:ext cx="52858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Permutation importance = 原始模型分數 - 打亂該變數後的模型分數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0D4826B-FE27-14A1-BAAD-E24E2112F2CD}"/>
              </a:ext>
            </a:extLst>
          </p:cNvPr>
          <p:cNvSpPr>
            <a:spLocks noGrp="1"/>
          </p:cNvSpPr>
          <p:nvPr/>
        </p:nvSpPr>
        <p:spPr>
          <a:xfrm>
            <a:off x="583108" y="5206753"/>
            <a:ext cx="52858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Importance_j = R²_original - R²_permuted_j</a:t>
            </a:r>
          </a:p>
        </p:txBody>
      </p:sp>
    </p:spTree>
    <p:extLst>
      <p:ext uri="{BB962C8B-B14F-4D97-AF65-F5344CB8AC3E}">
        <p14:creationId xmlns:p14="http://schemas.microsoft.com/office/powerpoint/2010/main" val="13063169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17217AD-56CE-291A-3CF3-7768353E47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9F68E2-31C2-4D90-A536-67698CDE3376}" type="slidenum">
              <a:rPr/>
              <a:t>26</a:t>
            </a:fld>
            <a:endParaRPr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EB8D8D8-0978-DB3F-FCA1-FDBF26F613F2}"/>
              </a:ext>
            </a:extLst>
          </p:cNvPr>
          <p:cNvSpPr>
            <a:spLocks noGrp="1"/>
          </p:cNvSpPr>
          <p:nvPr/>
        </p:nvSpPr>
        <p:spPr>
          <a:xfrm>
            <a:off x="96192" y="309001"/>
            <a:ext cx="12034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sz="2000" b="1" i="0">
                <a:solidFill>
                  <a:srgbClr val="2F3C72"/>
                </a:solidFill>
                <a:latin typeface="Microsoft YaHei"/>
                <a:ea typeface="Microsoft YaHei"/>
                <a:cs typeface="Microsoft YaHei"/>
              </a:rPr>
              <a:t>Result3 The Shape of Each Driver: GAM Confirmation &amp; Nonlinearity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170F15E-FD25-30A8-5FE3-7C2D14EC12E8}"/>
              </a:ext>
            </a:extLst>
          </p:cNvPr>
          <p:cNvSpPr>
            <a:spLocks noGrp="1"/>
          </p:cNvSpPr>
          <p:nvPr/>
        </p:nvSpPr>
        <p:spPr>
          <a:xfrm>
            <a:off x="1271588" y="726211"/>
            <a:ext cx="92707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sz="1400" b="1" i="0">
                <a:solidFill>
                  <a:schemeClr val="bg2">
                    <a:lumMod val="25000"/>
                  </a:schemeClr>
                </a:solidFill>
                <a:latin typeface="Microsoft YaHei"/>
                <a:ea typeface="Microsoft YaHei"/>
                <a:cs typeface="Microsoft YaHei"/>
              </a:rPr>
              <a:t>Generalized Additive Model (GAM) · partial-effect curves · cross-checks the Random Forest</a:t>
            </a:r>
          </a:p>
        </p:txBody>
      </p:sp>
      <p:pic>
        <p:nvPicPr>
          <p:cNvPr id="23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840" y="1096141"/>
            <a:ext cx="3122320" cy="5462690"/>
          </a:xfrm>
          <a:prstGeom prst="roundRect">
            <a:avLst>
              <a:gd name="adj" fmla="val 754"/>
            </a:avLst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3FE2699F-16D6-85CE-7CC3-40B0B5248C01}"/>
              </a:ext>
            </a:extLst>
          </p:cNvPr>
          <p:cNvSpPr>
            <a:spLocks noGrp="1"/>
          </p:cNvSpPr>
          <p:nvPr/>
        </p:nvSpPr>
        <p:spPr>
          <a:xfrm>
            <a:off x="4608857" y="1177119"/>
            <a:ext cx="725063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sz="2000" b="1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Shape of each relationship (GAM partial effects)</a:t>
            </a:r>
          </a:p>
          <a:p>
            <a:pPr marL="285750" marR="0" indent="-285750">
              <a:buFont typeface="Arial"/>
              <a:buChar char="•"/>
            </a:pPr>
            <a:r>
              <a:rPr b="1">
                <a:solidFill>
                  <a:srgbClr val="0B0B0B"/>
                </a:solidFill>
                <a:latin typeface="Anthropic Sans"/>
                <a:ea typeface="Anthropic Sans"/>
                <a:cs typeface="Anthropic Sans"/>
              </a:rPr>
              <a:t>Max temperature</a:t>
            </a:r>
            <a:r>
              <a:rPr>
                <a:solidFill>
                  <a:srgbClr val="0B0B0B"/>
                </a:solidFill>
                <a:latin typeface="Anthropic Sans"/>
                <a:ea typeface="Anthropic Sans"/>
                <a:cs typeface="Anthropic Sans"/>
              </a:rPr>
              <a:t>: hump-shaped — strongest around 26–27°C, declines above (not "hotter = higher")</a:t>
            </a:r>
          </a:p>
          <a:p>
            <a:pPr marL="285750" marR="0" indent="-285750">
              <a:buFont typeface="Arial"/>
              <a:buChar char="•"/>
            </a:pPr>
            <a:r>
              <a:rPr b="1">
                <a:solidFill>
                  <a:srgbClr val="0B0B0B"/>
                </a:solidFill>
                <a:latin typeface="Anthropic Sans"/>
                <a:ea typeface="Anthropic Sans"/>
                <a:cs typeface="Anthropic Sans"/>
              </a:rPr>
              <a:t>Sunshine</a:t>
            </a:r>
            <a:r>
              <a:rPr>
                <a:solidFill>
                  <a:srgbClr val="0B0B0B"/>
                </a:solidFill>
                <a:latin typeface="Anthropic Sans"/>
                <a:ea typeface="Anthropic Sans"/>
                <a:cs typeface="Anthropic Sans"/>
              </a:rPr>
              <a:t>: positive — more sun → more ozone (peaks ~9 h)</a:t>
            </a:r>
          </a:p>
          <a:p>
            <a:pPr marL="285750" marR="0" indent="-285750">
              <a:buFont typeface="Arial"/>
              <a:buChar char="•"/>
            </a:pPr>
            <a:r>
              <a:rPr b="1">
                <a:solidFill>
                  <a:srgbClr val="0B0B0B"/>
                </a:solidFill>
                <a:latin typeface="Anthropic Sans"/>
                <a:ea typeface="Anthropic Sans"/>
                <a:cs typeface="Anthropic Sans"/>
              </a:rPr>
              <a:t>Humidity, wind speed</a:t>
            </a:r>
            <a:r>
              <a:rPr>
                <a:solidFill>
                  <a:srgbClr val="0B0B0B"/>
                </a:solidFill>
                <a:latin typeface="Anthropic Sans"/>
                <a:ea typeface="Anthropic Sans"/>
                <a:cs typeface="Anthropic Sans"/>
              </a:rPr>
              <a:t>: negative — more humid / windier → less ozone</a:t>
            </a:r>
          </a:p>
          <a:p>
            <a:pPr marL="285750" marR="0" indent="-285750">
              <a:buFont typeface="Arial"/>
              <a:buChar char="•"/>
            </a:pPr>
            <a:r>
              <a:rPr b="1">
                <a:solidFill>
                  <a:srgbClr val="0B0B0B"/>
                </a:solidFill>
                <a:latin typeface="Anthropic Sans"/>
                <a:ea typeface="Anthropic Sans"/>
                <a:cs typeface="Anthropic Sans"/>
              </a:rPr>
              <a:t>Season</a:t>
            </a:r>
            <a:r>
              <a:rPr>
                <a:solidFill>
                  <a:srgbClr val="0B0B0B"/>
                </a:solidFill>
                <a:latin typeface="Anthropic Sans"/>
                <a:ea typeface="Anthropic Sans"/>
                <a:cs typeface="Anthropic Sans"/>
              </a:rPr>
              <a:t> (day-of-year): two peaks — spring secondary, autumn highest, summer trough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D9ED630-FFED-F045-7118-02C3EB2AE319}"/>
              </a:ext>
            </a:extLst>
          </p:cNvPr>
          <p:cNvSpPr>
            <a:spLocks noGrp="1"/>
          </p:cNvSpPr>
          <p:nvPr/>
        </p:nvSpPr>
        <p:spPr>
          <a:xfrm>
            <a:off x="4608857" y="3697091"/>
            <a:ext cx="609750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Cross-check with RF</a:t>
            </a:r>
          </a:p>
          <a:p>
            <a:pPr marL="285750" indent="-285750">
              <a:buFont typeface="Arial"/>
              <a:buChar char="•"/>
            </a:pPr>
            <a:r>
              <a:rPr>
                <a:solidFill>
                  <a:srgbClr val="0B0B0B"/>
                </a:solidFill>
                <a:latin typeface="Anthropic Sans"/>
                <a:ea typeface="Anthropic Sans"/>
                <a:cs typeface="Anthropic Sans"/>
              </a:rPr>
              <a:t>RF says which is important; GAM says what shape</a:t>
            </a:r>
          </a:p>
          <a:p>
            <a:pPr marL="285750" indent="-285750">
              <a:buFont typeface="Arial"/>
              <a:buChar char="•"/>
            </a:pPr>
            <a:r>
              <a:rPr>
                <a:solidFill>
                  <a:srgbClr val="0B0B0B"/>
                </a:solidFill>
                <a:latin typeface="Anthropic Sans"/>
                <a:ea typeface="Anthropic Sans"/>
                <a:cs typeface="Anthropic Sans"/>
              </a:rPr>
              <a:t>Consistent → credible; reveals nonlinearity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38455D2-CB35-8EF4-1754-02564953B884}"/>
              </a:ext>
            </a:extLst>
          </p:cNvPr>
          <p:cNvSpPr>
            <a:spLocks noGrp="1"/>
          </p:cNvSpPr>
          <p:nvPr/>
        </p:nvSpPr>
        <p:spPr>
          <a:xfrm>
            <a:off x="4608856" y="5109067"/>
            <a:ext cx="7512024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indent="0">
              <a:buNone/>
            </a:pPr>
            <a:r>
              <a:rPr sz="2000" b="1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Key insight</a:t>
            </a:r>
          </a:p>
          <a:p>
            <a:pPr marL="285750" marR="0" indent="-285750">
              <a:buFont typeface="Arial"/>
              <a:buChar char="•"/>
            </a:pPr>
            <a:r>
              <a:rPr>
                <a:solidFill>
                  <a:srgbClr val="0B0B0B"/>
                </a:solidFill>
                <a:latin typeface="Anthropic Sans"/>
                <a:ea typeface="Anthropic Sans"/>
                <a:cs typeface="Anthropic Sans"/>
              </a:rPr>
              <a:t>Ozone favors "warm (not extreme heat) + sunny + dry + weak wind"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780CA11-3E8F-4B82-B7BC-4BFD91EFBEE8}"/>
              </a:ext>
            </a:extLst>
          </p:cNvPr>
          <p:cNvSpPr>
            <a:spLocks noGrp="1"/>
          </p:cNvSpPr>
          <p:nvPr/>
        </p:nvSpPr>
        <p:spPr>
          <a:xfrm>
            <a:off x="4480560" y="5989320"/>
            <a:ext cx="370332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anchor="ctr">
            <a:normAutofit/>
          </a:bodyPr>
          <a:lstStyle/>
          <a:p>
            <a:pPr algn="l">
              <a:buNone/>
            </a:pPr>
            <a:r>
              <a:rPr sz="1100" b="1">
                <a:solidFill>
                  <a:srgbClr val="1F5C9E"/>
                </a:solidFill>
                <a:latin typeface="Microsoft JhengHei"/>
                <a:ea typeface="Microsoft JhengHei"/>
                <a:cs typeface="Microsoft JhengHei"/>
              </a:rPr>
              <a:t>【說明】</a:t>
            </a:r>
            <a:r>
              <a:rPr sz="11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GAM 顯示溫度與臭氧呈駝峰(約 26–27°C 最強、更熱反而下降)、日照為正向、濕度與風速為負向,與隨機森林一致。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775B84D-873B-AE08-0068-3EBC4DF65D36}"/>
              </a:ext>
            </a:extLst>
          </p:cNvPr>
          <p:cNvSpPr>
            <a:spLocks noGrp="1"/>
          </p:cNvSpPr>
          <p:nvPr/>
        </p:nvSpPr>
        <p:spPr>
          <a:xfrm>
            <a:off x="9718158" y="3160909"/>
            <a:ext cx="247384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sz="1200">
                <a:solidFill>
                  <a:schemeClr val="bg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這一頁用 GAM partial-effect curves 補充 Random Forest 的結果。Random Forest 告訴我們哪些氣象因子重要，但 GAM 可以進一步顯示每個因子的反應形狀。結果顯示，最高溫和 O3 呈現非線性駝峰關係，日照為正向影響，濕度與風速多為負向影響，而季節性呈現春季次峰與秋季主峰。整體來看，高雄 O3 較容易出現在溫暖、晴朗、乾燥且弱風的條件下。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38281436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EC5DA84-CB4E-0006-D6E4-A27A93D17A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9F68E2-31C2-4D90-A536-67698CDE3376}" type="slidenum">
              <a:rPr/>
              <a:t>27</a:t>
            </a:fld>
            <a:endParaRPr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1BAA9A4-C1E1-FF91-42D5-583097A5EC8B}"/>
              </a:ext>
            </a:extLst>
          </p:cNvPr>
          <p:cNvSpPr>
            <a:spLocks noGrp="1"/>
          </p:cNvSpPr>
          <p:nvPr/>
        </p:nvSpPr>
        <p:spPr>
          <a:xfrm>
            <a:off x="86360" y="309001"/>
            <a:ext cx="12034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sz="2000" b="1" i="0">
                <a:solidFill>
                  <a:srgbClr val="2F3C72"/>
                </a:solidFill>
                <a:latin typeface="Microsoft YaHei"/>
                <a:ea typeface="Microsoft YaHei"/>
                <a:cs typeface="Microsoft YaHei"/>
              </a:rPr>
              <a:t>Result4 High-Ozone Events: Sunny, Dry &amp; Stagnant Autumn Days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3857823-3D32-330A-D78F-F58722B486E1}"/>
              </a:ext>
            </a:extLst>
          </p:cNvPr>
          <p:cNvSpPr>
            <a:spLocks noGrp="1"/>
          </p:cNvSpPr>
          <p:nvPr/>
        </p:nvSpPr>
        <p:spPr>
          <a:xfrm>
            <a:off x="1266991" y="716379"/>
            <a:ext cx="94699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sz="1400" b="1" i="0">
                <a:solidFill>
                  <a:schemeClr val="bg2">
                    <a:lumMod val="25000"/>
                  </a:schemeClr>
                </a:solidFill>
                <a:latin typeface="Microsoft YaHei"/>
                <a:ea typeface="Microsoft YaHei"/>
                <a:cs typeface="Microsoft YaHei"/>
              </a:rPr>
              <a:t>City-day events (MDA8 ≥ P90 = 80.34 ppb; 293 days) · month-adjusted anomalies · event vs non-event</a:t>
            </a:r>
          </a:p>
        </p:txBody>
      </p:sp>
      <p:pic>
        <p:nvPicPr>
          <p:cNvPr id="20" name="圖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35" y="1614951"/>
            <a:ext cx="6081784" cy="4164280"/>
          </a:xfrm>
          <a:prstGeom prst="roundRect">
            <a:avLst>
              <a:gd name="adj" fmla="val 1613"/>
            </a:avLst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1E54A826-02BA-903B-94CC-046E0840A780}"/>
              </a:ext>
            </a:extLst>
          </p:cNvPr>
          <p:cNvSpPr>
            <a:spLocks noGrp="1"/>
          </p:cNvSpPr>
          <p:nvPr/>
        </p:nvSpPr>
        <p:spPr>
          <a:xfrm>
            <a:off x="6446713" y="1379404"/>
            <a:ext cx="567286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nthropic Sans"/>
              </a:rPr>
              <a:t>Event definition (2018~2025)</a:t>
            </a:r>
          </a:p>
          <a:p>
            <a:pPr marL="285750" indent="-285750">
              <a:buFont typeface="Arial"/>
              <a:buChar char="•"/>
            </a:pPr>
            <a:r>
              <a:t>City-day max MDA8 ≥ P90 = 80.34 ppb → 293 days</a:t>
            </a:r>
          </a:p>
          <a:p>
            <a:pPr marL="285750" indent="-285750">
              <a:buFont typeface="Arial"/>
              <a:buChar char="•"/>
            </a:pPr>
            <a:r>
              <a:t>Event days 73 ppb vs normal 44 ppb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E218D73-0D09-F991-213C-DE7512B311FF}"/>
              </a:ext>
            </a:extLst>
          </p:cNvPr>
          <p:cNvSpPr>
            <a:spLocks noGrp="1"/>
          </p:cNvSpPr>
          <p:nvPr/>
        </p:nvSpPr>
        <p:spPr>
          <a:xfrm>
            <a:off x="6446713" y="2681428"/>
            <a:ext cx="567286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nthropic Sans"/>
              </a:rPr>
              <a:t>Seasonality (strongly concentrated)</a:t>
            </a:r>
          </a:p>
          <a:p>
            <a:pPr marL="285750" indent="-285750">
              <a:buFont typeface="Arial"/>
              <a:buChar char="•"/>
            </a:pPr>
            <a:r>
              <a:t>Autumn 148 ≫ Spring 101 &gt; Winter 38 ≫ Summer 6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510C22D-7981-ACE2-6C5B-5C624217D072}"/>
              </a:ext>
            </a:extLst>
          </p:cNvPr>
          <p:cNvSpPr>
            <a:spLocks noGrp="1"/>
          </p:cNvSpPr>
          <p:nvPr/>
        </p:nvSpPr>
        <p:spPr>
          <a:xfrm>
            <a:off x="6446712" y="3706453"/>
            <a:ext cx="5672864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nthropic Sans"/>
              </a:rPr>
              <a:t>Weather on event days (month-adjusted anomalies)</a:t>
            </a:r>
          </a:p>
          <a:p>
            <a:pPr marL="285750" indent="-285750">
              <a:buFont typeface="Arial"/>
              <a:buChar char="•"/>
            </a:pPr>
            <a:r>
              <a:t>Sunshine↑ · Humidity↓ · Rainfall≈0</a:t>
            </a:r>
          </a:p>
          <a:p>
            <a:pPr marL="285750" indent="-285750">
              <a:buFont typeface="Arial"/>
              <a:buChar char="•"/>
            </a:pPr>
            <a:r>
              <a:t>Temperature ~ normal → not the hottest</a:t>
            </a:r>
          </a:p>
          <a:p>
            <a:pPr marL="285750" indent="-285750">
              <a:buFont typeface="Arial"/>
              <a:buChar char="•"/>
            </a:pPr>
            <a:r>
              <a:t>= sunny, dry, stagnant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CD7BB09-462F-4F87-9229-55F362E52216}"/>
              </a:ext>
            </a:extLst>
          </p:cNvPr>
          <p:cNvSpPr>
            <a:spLocks noGrp="1"/>
          </p:cNvSpPr>
          <p:nvPr/>
        </p:nvSpPr>
        <p:spPr>
          <a:xfrm>
            <a:off x="411480" y="6272784"/>
            <a:ext cx="8009506" cy="5120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anchor="ctr">
            <a:normAutofit/>
          </a:bodyPr>
          <a:lstStyle/>
          <a:p>
            <a:pPr algn="l">
              <a:buNone/>
            </a:pPr>
            <a:r>
              <a:rPr sz="1100" b="1">
                <a:solidFill>
                  <a:srgbClr val="1F5C9E"/>
                </a:solidFill>
                <a:latin typeface="Microsoft JhengHei"/>
                <a:ea typeface="Microsoft JhengHei"/>
                <a:cs typeface="Microsoft JhengHei"/>
              </a:rPr>
              <a:t>【說明】</a:t>
            </a:r>
            <a:r>
              <a:rPr sz="11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高臭氧事件定義為城市當日最高站 ≥ P90(80.34 ppb),共 293 日、集中於秋季;事件日天氣為晴、乾、停滯,而非最熱。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8932848-4A81-C2C9-F940-318A01513F32}"/>
              </a:ext>
            </a:extLst>
          </p:cNvPr>
          <p:cNvSpPr>
            <a:spLocks noGrp="1"/>
          </p:cNvSpPr>
          <p:nvPr/>
        </p:nvSpPr>
        <p:spPr>
          <a:xfrm>
            <a:off x="627320" y="1928540"/>
            <a:ext cx="24738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sz="1200">
                <a:solidFill>
                  <a:schemeClr val="bg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10 月最多，秋季高度集中</a:t>
            </a:r>
            <a:endParaRPr sz="160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E0C0D74-72B7-7DD7-17AA-F65C8529B41D}"/>
              </a:ext>
            </a:extLst>
          </p:cNvPr>
          <p:cNvSpPr>
            <a:spLocks noGrp="1"/>
          </p:cNvSpPr>
          <p:nvPr/>
        </p:nvSpPr>
        <p:spPr>
          <a:xfrm>
            <a:off x="3629778" y="1928540"/>
            <a:ext cx="24738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sz="1200">
                <a:solidFill>
                  <a:schemeClr val="bg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通常RH偏低</a:t>
            </a:r>
            <a:endParaRPr sz="160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125F396-8B19-0C75-EF83-2E7DF9197F4B}"/>
              </a:ext>
            </a:extLst>
          </p:cNvPr>
          <p:cNvSpPr>
            <a:spLocks noGrp="1"/>
          </p:cNvSpPr>
          <p:nvPr/>
        </p:nvSpPr>
        <p:spPr>
          <a:xfrm>
            <a:off x="525072" y="3950596"/>
            <a:ext cx="24738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sz="1200">
                <a:solidFill>
                  <a:schemeClr val="bg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日照偏多</a:t>
            </a:r>
            <a:endParaRPr sz="160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C74886-F07C-647F-F09E-95E9D522ECA3}"/>
              </a:ext>
            </a:extLst>
          </p:cNvPr>
          <p:cNvSpPr>
            <a:spLocks noGrp="1"/>
          </p:cNvSpPr>
          <p:nvPr/>
        </p:nvSpPr>
        <p:spPr>
          <a:xfrm>
            <a:off x="3629778" y="3950596"/>
            <a:ext cx="24738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sz="1200">
                <a:solidFill>
                  <a:schemeClr val="bg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降雨偏少接近無雨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33227548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C2008E9-931C-4303-F610-3ACA8B994B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9F68E2-31C2-4D90-A536-67698CDE3376}" type="slidenum">
              <a:rPr/>
              <a:t>28</a:t>
            </a:fld>
            <a:endParaRPr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7B91EEE-71ED-39A8-940B-9E0069317D80}"/>
              </a:ext>
            </a:extLst>
          </p:cNvPr>
          <p:cNvSpPr>
            <a:spLocks noGrp="1"/>
          </p:cNvSpPr>
          <p:nvPr/>
        </p:nvSpPr>
        <p:spPr>
          <a:xfrm>
            <a:off x="-2128" y="309001"/>
            <a:ext cx="122924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sz="2000" b="1" i="0">
                <a:solidFill>
                  <a:srgbClr val="2F3C72"/>
                </a:solidFill>
                <a:latin typeface="Microsoft YaHei"/>
                <a:ea typeface="Microsoft YaHei"/>
                <a:cs typeface="Microsoft YaHei"/>
              </a:rPr>
              <a:t>Result5 Long-Term Trend: Meteorological Normalization Reveals a Decline Hidden by Weather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BE935EC-AF13-CEA6-A570-00845A1E005D}"/>
              </a:ext>
            </a:extLst>
          </p:cNvPr>
          <p:cNvSpPr>
            <a:spLocks noGrp="1"/>
          </p:cNvSpPr>
          <p:nvPr/>
        </p:nvSpPr>
        <p:spPr>
          <a:xfrm>
            <a:off x="1281420" y="730283"/>
            <a:ext cx="10302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sz="1400" b="1" i="0">
                <a:solidFill>
                  <a:schemeClr val="bg2">
                    <a:lumMod val="25000"/>
                  </a:schemeClr>
                </a:solidFill>
                <a:latin typeface="Microsoft YaHei"/>
                <a:ea typeface="Microsoft YaHei"/>
                <a:cs typeface="Microsoft YaHei"/>
              </a:rPr>
              <a:t>City-day monthly MDA8 · 2018–2025 · Seasonal Mann–Kendall + Sen's slope · 300-iteration RF normalization</a:t>
            </a:r>
          </a:p>
        </p:txBody>
      </p:sp>
      <p:pic>
        <p:nvPicPr>
          <p:cNvPr id="1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05" y="2395067"/>
            <a:ext cx="6614491" cy="2798137"/>
          </a:xfrm>
          <a:prstGeom prst="roundRect">
            <a:avLst>
              <a:gd name="adj" fmla="val 4524"/>
            </a:avLst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04297A71-B1E4-6F25-EA62-A6B84510EF3C}"/>
              </a:ext>
            </a:extLst>
          </p:cNvPr>
          <p:cNvSpPr>
            <a:spLocks noGrp="1"/>
          </p:cNvSpPr>
          <p:nvPr/>
        </p:nvSpPr>
        <p:spPr>
          <a:xfrm>
            <a:off x="6881275" y="1379404"/>
            <a:ext cx="567286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nthropic Sans"/>
              </a:rPr>
              <a:t>Observed trend</a:t>
            </a:r>
          </a:p>
          <a:p>
            <a:pPr marL="285750" indent="-285750">
              <a:buFont typeface="Arial"/>
              <a:buChar char="•"/>
            </a:pPr>
            <a:r>
              <a:t>Sen ≈ −0.6 ppb/yr </a:t>
            </a:r>
            <a:r>
              <a:rPr sz="1600" err="1">
                <a:latin typeface="Microsoft YaHei"/>
                <a:ea typeface="Microsoft YaHei"/>
                <a:cs typeface="Microsoft YaHei"/>
              </a:rPr>
              <a:t>每年下降約</a:t>
            </a:r>
            <a:r>
              <a:rPr sz="1600">
                <a:latin typeface="Microsoft YaHei"/>
                <a:ea typeface="Microsoft YaHei"/>
                <a:cs typeface="Microsoft YaHei"/>
              </a:rPr>
              <a:t> 0.6ppb</a:t>
            </a:r>
            <a:endParaRPr>
              <a:latin typeface="Microsoft YaHei"/>
              <a:ea typeface="Microsoft YaHei"/>
              <a:cs typeface="Microsoft YaHei"/>
            </a:endParaRPr>
          </a:p>
          <a:p>
            <a:pPr marL="285750" indent="-285750">
              <a:buFont typeface="Arial"/>
              <a:buChar char="•"/>
            </a:pPr>
            <a:r>
              <a:t>Seasonal MK p ≈ 0.11 → not significant 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A754EFA-1E64-D89F-264C-0BDEFD8E3AD0}"/>
              </a:ext>
            </a:extLst>
          </p:cNvPr>
          <p:cNvSpPr>
            <a:spLocks noGrp="1"/>
          </p:cNvSpPr>
          <p:nvPr/>
        </p:nvSpPr>
        <p:spPr>
          <a:xfrm>
            <a:off x="6881275" y="2828971"/>
            <a:ext cx="567286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nthropic Sans"/>
              </a:rPr>
              <a:t>After normalization (300-iteration RF)</a:t>
            </a:r>
          </a:p>
          <a:p>
            <a:pPr marL="285750" indent="-285750">
              <a:buFont typeface="Arial"/>
              <a:buChar char="•"/>
            </a:pPr>
            <a:r>
              <a:t>Removes year-to-year weather variability</a:t>
            </a:r>
          </a:p>
          <a:p>
            <a:pPr marL="285750" indent="-285750">
              <a:buFont typeface="Arial"/>
              <a:buChar char="•"/>
            </a:pPr>
            <a:r>
              <a:t>→ becomes a significant decline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DA4A518-0136-3548-B4BB-D81FFC3DF5E4}"/>
              </a:ext>
            </a:extLst>
          </p:cNvPr>
          <p:cNvSpPr>
            <a:spLocks noGrp="1"/>
          </p:cNvSpPr>
          <p:nvPr/>
        </p:nvSpPr>
        <p:spPr>
          <a:xfrm>
            <a:off x="6881275" y="4278538"/>
            <a:ext cx="5672863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nthropic Sans"/>
              </a:rPr>
              <a:t>Interpretation</a:t>
            </a:r>
          </a:p>
          <a:p>
            <a:pPr marL="285750" indent="-285750">
              <a:buFont typeface="Arial"/>
              <a:buChar char="•"/>
            </a:pPr>
            <a:r>
              <a:t>Emission controls are working — weather was masking it</a:t>
            </a:r>
          </a:p>
          <a:p>
            <a:pPr marL="285750" indent="-285750">
              <a:buFont typeface="Arial"/>
              <a:buChar char="•"/>
            </a:pPr>
            <a:r>
              <a:t>→ policy implication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E045FD1-EC3D-43D4-A0E5-3C5D0AF78450}"/>
              </a:ext>
            </a:extLst>
          </p:cNvPr>
          <p:cNvSpPr>
            <a:spLocks noGrp="1"/>
          </p:cNvSpPr>
          <p:nvPr/>
        </p:nvSpPr>
        <p:spPr>
          <a:xfrm>
            <a:off x="411480" y="6272784"/>
            <a:ext cx="7913813" cy="5120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anchor="ctr">
            <a:normAutofit/>
          </a:bodyPr>
          <a:lstStyle/>
          <a:p>
            <a:pPr algn="l">
              <a:buNone/>
            </a:pPr>
            <a:r>
              <a:rPr sz="1100" b="1">
                <a:solidFill>
                  <a:srgbClr val="1F5C9E"/>
                </a:solidFill>
                <a:latin typeface="Microsoft JhengHei"/>
                <a:ea typeface="Microsoft JhengHei"/>
                <a:cs typeface="Microsoft JhengHei"/>
              </a:rPr>
              <a:t>【說明】</a:t>
            </a:r>
            <a:r>
              <a:rPr sz="11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觀測趨勢僅微幅下降且未達顯著;經 300 次隨機森林氣象標準化後臭氧呈顯著下降,顯示減量有效但被天氣變異掩蓋。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268E234-2E6D-7536-BFE6-8B2E3EE9E5F1}"/>
              </a:ext>
            </a:extLst>
          </p:cNvPr>
          <p:cNvSpPr>
            <a:spLocks noGrp="1"/>
          </p:cNvSpPr>
          <p:nvPr/>
        </p:nvSpPr>
        <p:spPr>
          <a:xfrm>
            <a:off x="233916" y="5340687"/>
            <a:ext cx="64616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sz="1200">
                <a:solidFill>
                  <a:schemeClr val="bg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灰色虛線：Observed，實際觀測到的月平均 MDA8 O3</a:t>
            </a:r>
          </a:p>
          <a:p>
            <a:pPr algn="just">
              <a:buNone/>
            </a:pPr>
            <a:r>
              <a:rPr sz="1200">
                <a:solidFill>
                  <a:schemeClr val="bg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紅色實線：Meteorologically normalized，氣象標準化後的 MDA8 O3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4578615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514AB74-1B29-8B24-C47A-37F7BCAC03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9F68E2-31C2-4D90-A536-67698CDE3376}" type="slidenum">
              <a:rPr/>
              <a:t>29</a:t>
            </a:fld>
            <a:endParaRPr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C355FC3-7AE2-6507-8F9F-EBB513E587E8}"/>
              </a:ext>
            </a:extLst>
          </p:cNvPr>
          <p:cNvSpPr>
            <a:spLocks noGrp="1"/>
          </p:cNvSpPr>
          <p:nvPr/>
        </p:nvSpPr>
        <p:spPr>
          <a:xfrm>
            <a:off x="96192" y="309001"/>
            <a:ext cx="12034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sz="2000" b="1" i="0">
                <a:solidFill>
                  <a:srgbClr val="2F3C72"/>
                </a:solidFill>
                <a:latin typeface="Microsoft YaHei"/>
                <a:ea typeface="Microsoft YaHei"/>
                <a:cs typeface="Microsoft YaHei"/>
              </a:rPr>
              <a:t>Conclusions &amp; Future Work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E32FCF4-2854-3DF9-6AD2-BFDA4E32D3AE}"/>
              </a:ext>
            </a:extLst>
          </p:cNvPr>
          <p:cNvSpPr>
            <a:spLocks noGrp="1"/>
          </p:cNvSpPr>
          <p:nvPr/>
        </p:nvSpPr>
        <p:spPr>
          <a:xfrm>
            <a:off x="815452" y="1125907"/>
            <a:ext cx="56728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nthropic Sans"/>
              </a:rPr>
              <a:t>Key findings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CD819CA-5CF1-031A-E4AF-8BE97E24A0B2}"/>
              </a:ext>
            </a:extLst>
          </p:cNvPr>
          <p:cNvSpPr>
            <a:spLocks noGrp="1"/>
          </p:cNvSpPr>
          <p:nvPr/>
        </p:nvSpPr>
        <p:spPr>
          <a:xfrm>
            <a:off x="815452" y="1509372"/>
            <a:ext cx="9976279" cy="171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t>Ozone driven by temperature (hump), season, sunshine → photochemistry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t>High-ozone days = sunny/dry/stagnant autumn (not hottest); spatial peak downwind (NOx titration), not at sources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t>Ozone significantly declining after normalization → controls working, weather was masking it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37FC275-1CD3-B427-45D5-EF23ECC70B4D}"/>
              </a:ext>
            </a:extLst>
          </p:cNvPr>
          <p:cNvSpPr>
            <a:spLocks noGrp="1"/>
          </p:cNvSpPr>
          <p:nvPr/>
        </p:nvSpPr>
        <p:spPr>
          <a:xfrm>
            <a:off x="815452" y="3550932"/>
            <a:ext cx="56728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nthropic Sans"/>
              </a:rPr>
              <a:t>Future work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7801D90-74F4-A82E-E58F-2053CE8535AA}"/>
              </a:ext>
            </a:extLst>
          </p:cNvPr>
          <p:cNvSpPr>
            <a:spLocks noGrp="1"/>
          </p:cNvSpPr>
          <p:nvPr/>
        </p:nvSpPr>
        <p:spPr>
          <a:xfrm>
            <a:off x="815452" y="3934397"/>
            <a:ext cx="9976279" cy="171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t>Add precursors (NOx/VOC)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t>Back-trajectories / source-transport analysis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t>Forecasting model for high-ozone events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t>Journal submission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F36052B-6F97-4710-91CB-EAB901E57164}"/>
              </a:ext>
            </a:extLst>
          </p:cNvPr>
          <p:cNvSpPr>
            <a:spLocks noGrp="1"/>
          </p:cNvSpPr>
          <p:nvPr/>
        </p:nvSpPr>
        <p:spPr>
          <a:xfrm>
            <a:off x="411480" y="6272784"/>
            <a:ext cx="7863840" cy="5120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anchor="ctr">
            <a:normAutofit/>
          </a:bodyPr>
          <a:lstStyle/>
          <a:p>
            <a:pPr algn="l">
              <a:buNone/>
            </a:pPr>
            <a:r>
              <a:rPr sz="1100" b="1">
                <a:solidFill>
                  <a:srgbClr val="1F5C9E"/>
                </a:solidFill>
                <a:latin typeface="Microsoft JhengHei"/>
                <a:ea typeface="Microsoft JhengHei"/>
                <a:cs typeface="Microsoft JhengHei"/>
              </a:rPr>
              <a:t>【說明】</a:t>
            </a:r>
            <a:r>
              <a:rPr sz="11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結論:臭氧由溫度、季節與日照主導;高臭氧日為秋季晴乾停滯;標準化後臭氧顯著下降,代表減量有效。未來將納入前驅物、後向軌跡與預報。</a:t>
            </a:r>
          </a:p>
        </p:txBody>
      </p:sp>
    </p:spTree>
    <p:extLst>
      <p:ext uri="{BB962C8B-B14F-4D97-AF65-F5344CB8AC3E}">
        <p14:creationId xmlns:p14="http://schemas.microsoft.com/office/powerpoint/2010/main" val="15958167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99209BB-39FC-B23A-6E59-27762144BE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9F68E2-31C2-4D90-A536-67698CDE3376}" type="slidenum">
              <a:rPr/>
              <a:t>30</a:t>
            </a:fld>
            <a:endParaRPr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C24D1C0-D5C2-06A4-8D59-3FB865C64049}"/>
              </a:ext>
            </a:extLst>
          </p:cNvPr>
          <p:cNvSpPr>
            <a:spLocks noGrp="1"/>
          </p:cNvSpPr>
          <p:nvPr/>
        </p:nvSpPr>
        <p:spPr>
          <a:xfrm>
            <a:off x="96192" y="309001"/>
            <a:ext cx="12095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sz="2000" b="1" i="0">
                <a:solidFill>
                  <a:srgbClr val="2F3C72"/>
                </a:solidFill>
                <a:latin typeface="Microsoft YaHei"/>
                <a:ea typeface="Microsoft YaHei"/>
                <a:cs typeface="Microsoft YaHei"/>
              </a:rPr>
              <a:t>One Converging Story: Weather-Modulated, Autumn-Peaking, Improvement Masked by Weather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66783C7-6EB3-190D-098C-AD95EFD03F7E}"/>
              </a:ext>
            </a:extLst>
          </p:cNvPr>
          <p:cNvSpPr>
            <a:spLocks noGrp="1"/>
          </p:cNvSpPr>
          <p:nvPr/>
        </p:nvSpPr>
        <p:spPr>
          <a:xfrm>
            <a:off x="815452" y="1125907"/>
            <a:ext cx="56728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nthropic Sans"/>
              </a:rPr>
              <a:t>Four threads → one conclusion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A261F9F-004D-DBEF-B240-6E55CFDFF898}"/>
              </a:ext>
            </a:extLst>
          </p:cNvPr>
          <p:cNvSpPr>
            <a:spLocks noGrp="1"/>
          </p:cNvSpPr>
          <p:nvPr/>
        </p:nvSpPr>
        <p:spPr>
          <a:xfrm>
            <a:off x="815452" y="1509372"/>
            <a:ext cx="9976279" cy="2127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t>Spatial: NOx titration → low at sources, high downwind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t>Drivers: temperature hump + sunshine + season → photochemistry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t>Events: sunny, dry, stagnant autumn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t>Trend: significant decline after normalization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t>→ Kaohsiung ozone = weather-modulated × autumn-peaking × improving (weather-masked)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1D834A5-C60B-172B-692B-42452737D77B}"/>
              </a:ext>
            </a:extLst>
          </p:cNvPr>
          <p:cNvSpPr>
            <a:spLocks noGrp="1"/>
          </p:cNvSpPr>
          <p:nvPr/>
        </p:nvSpPr>
        <p:spPr>
          <a:xfrm>
            <a:off x="815452" y="4020727"/>
            <a:ext cx="56728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chemeClr val="accent5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nthropic Sans"/>
              </a:rPr>
              <a:t>Policy / practical implications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8427E9A-053C-5137-881B-5C3D40114705}"/>
              </a:ext>
            </a:extLst>
          </p:cNvPr>
          <p:cNvSpPr>
            <a:spLocks noGrp="1"/>
          </p:cNvSpPr>
          <p:nvPr/>
        </p:nvSpPr>
        <p:spPr>
          <a:xfrm>
            <a:off x="815452" y="4404192"/>
            <a:ext cx="9976279" cy="88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t>Emission controls are working → continue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t>Sunny/dry/stagnant autumn = high-risk window → early warning / control timing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032DC4E-1E32-4090-8D56-DBA5F2EFC549}"/>
              </a:ext>
            </a:extLst>
          </p:cNvPr>
          <p:cNvSpPr>
            <a:spLocks noGrp="1"/>
          </p:cNvSpPr>
          <p:nvPr/>
        </p:nvSpPr>
        <p:spPr>
          <a:xfrm>
            <a:off x="411480" y="6272784"/>
            <a:ext cx="7863840" cy="5120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anchor="ctr">
            <a:normAutofit/>
          </a:bodyPr>
          <a:lstStyle/>
          <a:p>
            <a:pPr algn="l">
              <a:buNone/>
            </a:pPr>
            <a:r>
              <a:rPr sz="1100" b="1">
                <a:solidFill>
                  <a:srgbClr val="1F5C9E"/>
                </a:solidFill>
                <a:latin typeface="Microsoft JhengHei"/>
                <a:ea typeface="Microsoft JhengHei"/>
                <a:cs typeface="Microsoft JhengHei"/>
              </a:rPr>
              <a:t>【說明】</a:t>
            </a:r>
            <a:r>
              <a:rPr sz="11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空間 NOx 滴定、驅動的溫度與日照、事件的晴乾停滯、標準化後的顯著下降,四線一致指向:高雄臭氧受氣象調控、秋季高峰、排放改善但被天氣掩蓋。</a:t>
            </a:r>
          </a:p>
        </p:txBody>
      </p:sp>
    </p:spTree>
    <p:extLst>
      <p:ext uri="{BB962C8B-B14F-4D97-AF65-F5344CB8AC3E}">
        <p14:creationId xmlns:p14="http://schemas.microsoft.com/office/powerpoint/2010/main" val="13384472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0569BCB-B4D6-6E35-1EC5-7C4E2FC3FD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9F68E2-31C2-4D90-A536-67698CDE3376}" type="slidenum">
              <a:rPr/>
              <a:t>31</a:t>
            </a:fld>
            <a:endParaRPr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7370977-3851-82A6-8A0B-EB3FE686B3AC}"/>
              </a:ext>
            </a:extLst>
          </p:cNvPr>
          <p:cNvSpPr>
            <a:spLocks noGrp="1"/>
          </p:cNvSpPr>
          <p:nvPr/>
        </p:nvSpPr>
        <p:spPr>
          <a:xfrm>
            <a:off x="86360" y="299169"/>
            <a:ext cx="1203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sz="1600" b="1" i="0">
                <a:solidFill>
                  <a:srgbClr val="2F3C72"/>
                </a:solidFill>
                <a:latin typeface="Microsoft YaHei"/>
                <a:ea typeface="Microsoft YaHei"/>
                <a:cs typeface="Microsoft YaHei"/>
              </a:rPr>
              <a:t>One Converging Story: Weather-Modulated, Autumn-Peaking, Improvement Masked by Weather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E453A2C-4549-B7BC-926F-3176156A3387}"/>
              </a:ext>
            </a:extLst>
          </p:cNvPr>
          <p:cNvSpPr>
            <a:spLocks noGrp="1"/>
          </p:cNvSpPr>
          <p:nvPr/>
        </p:nvSpPr>
        <p:spPr>
          <a:xfrm>
            <a:off x="815452" y="1125907"/>
            <a:ext cx="56728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hropic Sans"/>
                <a:ea typeface="Anthropic Sans"/>
                <a:cs typeface="Anthropic Sans"/>
              </a:rPr>
              <a:t>Four threads → one conclusion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DDFF6B6-436A-A852-3DFD-54CF449A2BEB}"/>
              </a:ext>
            </a:extLst>
          </p:cNvPr>
          <p:cNvSpPr>
            <a:spLocks noGrp="1"/>
          </p:cNvSpPr>
          <p:nvPr/>
        </p:nvSpPr>
        <p:spPr>
          <a:xfrm>
            <a:off x="815452" y="1509372"/>
            <a:ext cx="997627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t>Spatial: NOx titration → low at sources, high downwind</a:t>
            </a:r>
          </a:p>
          <a:p>
            <a:pPr marL="285750" indent="-285750">
              <a:buFont typeface="Arial"/>
              <a:buChar char="•"/>
            </a:pPr>
            <a:r>
              <a:t>Drivers: temperature hump + sunshine + season → photochemistry</a:t>
            </a:r>
          </a:p>
          <a:p>
            <a:pPr marL="285750" indent="-285750">
              <a:buFont typeface="Arial"/>
              <a:buChar char="•"/>
            </a:pPr>
            <a:r>
              <a:t>Events: sunny, dry, stagnant autumn</a:t>
            </a:r>
          </a:p>
          <a:p>
            <a:pPr marL="285750" indent="-285750">
              <a:buFont typeface="Arial"/>
              <a:buChar char="•"/>
            </a:pPr>
            <a:r>
              <a:t>Trend: significant decline after normalization</a:t>
            </a:r>
          </a:p>
          <a:p>
            <a:pPr marL="285750" indent="-285750">
              <a:buFont typeface="Arial"/>
              <a:buChar char="•"/>
            </a:pPr>
            <a:r>
              <a:t>→ Kaohsiung ozone = weather-modulated × autumn-peaking × improving (weather-masked)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D1FDA74-6291-3B59-5489-C1654414A038}"/>
              </a:ext>
            </a:extLst>
          </p:cNvPr>
          <p:cNvSpPr>
            <a:spLocks noGrp="1"/>
          </p:cNvSpPr>
          <p:nvPr/>
        </p:nvSpPr>
        <p:spPr>
          <a:xfrm>
            <a:off x="815452" y="3329600"/>
            <a:ext cx="56728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hropic Sans"/>
                <a:ea typeface="Anthropic Sans"/>
                <a:cs typeface="Anthropic Sans"/>
              </a:rPr>
              <a:t>Policy / practical implications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80B33BD-B059-42DC-46D4-C18F4052885D}"/>
              </a:ext>
            </a:extLst>
          </p:cNvPr>
          <p:cNvSpPr>
            <a:spLocks noGrp="1"/>
          </p:cNvSpPr>
          <p:nvPr/>
        </p:nvSpPr>
        <p:spPr>
          <a:xfrm>
            <a:off x="815452" y="3713065"/>
            <a:ext cx="99762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t>Emission controls are working → continue</a:t>
            </a:r>
          </a:p>
          <a:p>
            <a:pPr marL="285750" indent="-285750">
              <a:buFont typeface="Arial"/>
              <a:buChar char="•"/>
            </a:pPr>
            <a:r>
              <a:t>Sunny/dry/stagnant autumn = high-risk window → early warning / control timing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EE5CB93-B6B6-661F-F993-6048F6EB04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D5701C23-EC8E-38AF-DB0A-D51EE9A94D4C}"/>
              </a:ext>
            </a:extLst>
          </p:cNvPr>
          <p:cNvSpPr>
            <a:spLocks noGrp="1"/>
          </p:cNvSpPr>
          <p:nvPr/>
        </p:nvSpPr>
        <p:spPr>
          <a:xfrm>
            <a:off x="1946495" y="1837832"/>
            <a:ext cx="7963656" cy="2487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/>
                <a:ea typeface="Microsoft YaHei"/>
                <a:cs typeface="Microsoft YaHei"/>
              </a:rPr>
              <a:t>Consistent with the literature: southern-Taiwan ozone regime; met-normalization method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CEED99E-7639-4B69-B6BB-AA3B8CF694C4}"/>
              </a:ext>
            </a:extLst>
          </p:cNvPr>
          <p:cNvSpPr>
            <a:spLocks noGrp="1"/>
          </p:cNvSpPr>
          <p:nvPr/>
        </p:nvSpPr>
        <p:spPr>
          <a:xfrm>
            <a:off x="411480" y="6272784"/>
            <a:ext cx="7863840" cy="5120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anchor="ctr">
            <a:normAutofit/>
          </a:bodyPr>
          <a:lstStyle/>
          <a:p>
            <a:pPr algn="l">
              <a:buNone/>
            </a:pPr>
            <a:r>
              <a:rPr sz="1100" b="1">
                <a:solidFill>
                  <a:srgbClr val="1F5C9E"/>
                </a:solidFill>
                <a:latin typeface="Microsoft JhengHei"/>
                <a:ea typeface="Microsoft JhengHei"/>
                <a:cs typeface="Microsoft JhengHei"/>
              </a:rPr>
              <a:t>【說明】</a:t>
            </a:r>
            <a:r>
              <a:rPr sz="110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空間 NOx 滴定、驅動的溫度與日照、事件的晴乾停滯、標準化後的顯著下降,四線一致指向:高雄臭氧受氣象調控、秋季高峰、排放改善但被天氣掩蓋。</a:t>
            </a:r>
          </a:p>
        </p:txBody>
      </p:sp>
    </p:spTree>
    <p:extLst>
      <p:ext uri="{BB962C8B-B14F-4D97-AF65-F5344CB8AC3E}">
        <p14:creationId xmlns:p14="http://schemas.microsoft.com/office/powerpoint/2010/main" val="1757273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4252</Words>
  <Application>Microsoft Office PowerPoint</Application>
  <PresentationFormat>寬螢幕</PresentationFormat>
  <Paragraphs>434</Paragraphs>
  <Slides>31</Slides>
  <Notes>31</Notes>
  <HiddenSlides>0</HiddenSlides>
  <MMClips>0</MMClips>
  <ScaleCrop>false</ScaleCrop>
  <HeadingPairs>
    <vt:vector size="6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31</vt:i4>
      </vt:variant>
    </vt:vector>
  </HeadingPairs>
  <TitlesOfParts>
    <vt:vector size="43" baseType="lpstr">
      <vt:lpstr>Anthropic Sans</vt:lpstr>
      <vt:lpstr>-apple-system-body</vt:lpstr>
      <vt:lpstr>Microsoft YaHei</vt:lpstr>
      <vt:lpstr>ui-monospace</vt:lpstr>
      <vt:lpstr>Microsoft JhengHei</vt:lpstr>
      <vt:lpstr>PMingLiU</vt:lpstr>
      <vt:lpstr>Aptos</vt:lpstr>
      <vt:lpstr>Aptos Display</vt:lpstr>
      <vt:lpstr>Arial</vt:lpstr>
      <vt:lpstr>Cascadia Code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奕綸 洪</cp:lastModifiedBy>
  <cp:revision>1</cp:revision>
  <dcterms:created xsi:type="dcterms:W3CDTF">2026-08-12T10:13:28Z</dcterms:created>
  <dcterms:modified xsi:type="dcterms:W3CDTF">2026-09-18T16:15:42Z</dcterms:modified>
</cp:coreProperties>
</file>
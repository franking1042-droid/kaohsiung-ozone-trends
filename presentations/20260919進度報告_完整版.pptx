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3"/>
  </p:notesMasterIdLst>
  <p:sldIdLst>
    <p:sldId id="256" r:id="rId2"/>
    <p:sldId id="28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預設章節" id="{2218FA70-D272-4DF7-A325-2A8317B02028}">
          <p14:sldIdLst>
            <p14:sldId id="256"/>
            <p14:sldId id="28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discussion還有其他" id="{368E62C0-C804-4D38-B1BD-31FBAF8610B2}">
          <p14:sldIdLst>
            <p14:sldId id="283"/>
            <p14:sldId id="284"/>
            <p14:sldId id="28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F1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104" d="100"/>
          <a:sy n="104" d="100"/>
        </p:scale>
        <p:origin x="834" y="11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奕綸 洪" userId="a0d49cfeacbe7469" providerId="LiveId" clId="{BF1660DD-40BB-4F1C-B954-3993FF3F3F25}"/>
    <pc:docChg chg="undo custSel modSld">
      <pc:chgData name="奕綸 洪" userId="a0d49cfeacbe7469" providerId="LiveId" clId="{BF1660DD-40BB-4F1C-B954-3993FF3F3F25}" dt="2026-09-18T16:15:40.856" v="25" actId="478"/>
      <pc:docMkLst>
        <pc:docMk/>
      </pc:docMkLst>
      <pc:sldChg chg="addSp delSp modSp mod modClrScheme chgLayout">
        <pc:chgData name="奕綸 洪" userId="a0d49cfeacbe7469" providerId="LiveId" clId="{BF1660DD-40BB-4F1C-B954-3993FF3F3F25}" dt="2026-09-18T16:13:01.031" v="8" actId="700"/>
        <pc:sldMkLst>
          <pc:docMk/>
          <pc:sldMk cId="1815264884" sldId="256"/>
        </pc:sldMkLst>
        <pc:picChg chg="add del mod">
          <ac:chgData name="奕綸 洪" userId="a0d49cfeacbe7469" providerId="LiveId" clId="{BF1660DD-40BB-4F1C-B954-3993FF3F3F25}" dt="2026-09-18T16:12:54.294" v="7" actId="478"/>
          <ac:picMkLst>
            <pc:docMk/>
            <pc:sldMk cId="1815264884" sldId="256"/>
            <ac:picMk id="29" creationId="{00000000-0000-0000-0000-000000000000}"/>
          </ac:picMkLst>
        </pc:picChg>
      </pc:sldChg>
      <pc:sldChg chg="delSp modSp mod modClrScheme chgLayout">
        <pc:chgData name="奕綸 洪" userId="a0d49cfeacbe7469" providerId="LiveId" clId="{BF1660DD-40BB-4F1C-B954-3993FF3F3F25}" dt="2026-09-18T16:15:37.051" v="24" actId="700"/>
        <pc:sldMkLst>
          <pc:docMk/>
          <pc:sldMk cId="2571209331" sldId="257"/>
        </pc:sldMkLst>
        <pc:picChg chg="del mod">
          <ac:chgData name="奕綸 洪" userId="a0d49cfeacbe7469" providerId="LiveId" clId="{BF1660DD-40BB-4F1C-B954-3993FF3F3F25}" dt="2026-09-18T16:13:10.425" v="12" actId="478"/>
          <ac:picMkLst>
            <pc:docMk/>
            <pc:sldMk cId="2571209331" sldId="257"/>
            <ac:picMk id="28" creationId="{00000000-0000-0000-0000-000000000000}"/>
          </ac:picMkLst>
        </pc:picChg>
      </pc:sldChg>
      <pc:sldChg chg="delSp mod">
        <pc:chgData name="奕綸 洪" userId="a0d49cfeacbe7469" providerId="LiveId" clId="{BF1660DD-40BB-4F1C-B954-3993FF3F3F25}" dt="2026-09-18T16:15:33.890" v="23" actId="478"/>
        <pc:sldMkLst>
          <pc:docMk/>
          <pc:sldMk cId="1780073044" sldId="258"/>
        </pc:sldMkLst>
        <pc:picChg chg="del">
          <ac:chgData name="奕綸 洪" userId="a0d49cfeacbe7469" providerId="LiveId" clId="{BF1660DD-40BB-4F1C-B954-3993FF3F3F25}" dt="2026-09-18T16:15:33.890" v="23" actId="478"/>
          <ac:picMkLst>
            <pc:docMk/>
            <pc:sldMk cId="1780073044" sldId="258"/>
            <ac:picMk id="30" creationId="{00000000-0000-0000-0000-000000000000}"/>
          </ac:picMkLst>
        </pc:picChg>
      </pc:sldChg>
      <pc:sldChg chg="delSp mod">
        <pc:chgData name="奕綸 洪" userId="a0d49cfeacbe7469" providerId="LiveId" clId="{BF1660DD-40BB-4F1C-B954-3993FF3F3F25}" dt="2026-09-18T16:15:32.195" v="22" actId="478"/>
        <pc:sldMkLst>
          <pc:docMk/>
          <pc:sldMk cId="128988223" sldId="259"/>
        </pc:sldMkLst>
        <pc:picChg chg="del">
          <ac:chgData name="奕綸 洪" userId="a0d49cfeacbe7469" providerId="LiveId" clId="{BF1660DD-40BB-4F1C-B954-3993FF3F3F25}" dt="2026-09-18T16:15:32.195" v="22" actId="478"/>
          <ac:picMkLst>
            <pc:docMk/>
            <pc:sldMk cId="128988223" sldId="259"/>
            <ac:picMk id="33" creationId="{00000000-0000-0000-0000-000000000000}"/>
          </ac:picMkLst>
        </pc:picChg>
      </pc:sldChg>
      <pc:sldChg chg="delSp mod">
        <pc:chgData name="奕綸 洪" userId="a0d49cfeacbe7469" providerId="LiveId" clId="{BF1660DD-40BB-4F1C-B954-3993FF3F3F25}" dt="2026-09-18T16:15:30.383" v="21" actId="478"/>
        <pc:sldMkLst>
          <pc:docMk/>
          <pc:sldMk cId="654795358" sldId="260"/>
        </pc:sldMkLst>
        <pc:picChg chg="del">
          <ac:chgData name="奕綸 洪" userId="a0d49cfeacbe7469" providerId="LiveId" clId="{BF1660DD-40BB-4F1C-B954-3993FF3F3F25}" dt="2026-09-18T16:15:30.383" v="21" actId="478"/>
          <ac:picMkLst>
            <pc:docMk/>
            <pc:sldMk cId="654795358" sldId="260"/>
            <ac:picMk id="31" creationId="{00000000-0000-0000-0000-000000000000}"/>
          </ac:picMkLst>
        </pc:picChg>
      </pc:sldChg>
      <pc:sldChg chg="delSp mod">
        <pc:chgData name="奕綸 洪" userId="a0d49cfeacbe7469" providerId="LiveId" clId="{BF1660DD-40BB-4F1C-B954-3993FF3F3F25}" dt="2026-09-18T16:15:40.856" v="25" actId="478"/>
        <pc:sldMkLst>
          <pc:docMk/>
          <pc:sldMk cId="3597248936" sldId="261"/>
        </pc:sldMkLst>
        <pc:picChg chg="del">
          <ac:chgData name="奕綸 洪" userId="a0d49cfeacbe7469" providerId="LiveId" clId="{BF1660DD-40BB-4F1C-B954-3993FF3F3F25}" dt="2026-09-18T16:15:40.856" v="25" actId="478"/>
          <ac:picMkLst>
            <pc:docMk/>
            <pc:sldMk cId="3597248936" sldId="261"/>
            <ac:picMk id="38" creationId="{00000000-0000-0000-0000-000000000000}"/>
          </ac:picMkLst>
        </pc:picChg>
      </pc:sldChg>
      <pc:sldChg chg="delSp modSp mod modClrScheme chgLayout">
        <pc:chgData name="奕綸 洪" userId="a0d49cfeacbe7469" providerId="LiveId" clId="{BF1660DD-40BB-4F1C-B954-3993FF3F3F25}" dt="2026-09-18T16:15:25.699" v="20" actId="700"/>
        <pc:sldMkLst>
          <pc:docMk/>
          <pc:sldMk cId="2499079841" sldId="262"/>
        </pc:sldMkLst>
        <pc:picChg chg="del mod">
          <ac:chgData name="奕綸 洪" userId="a0d49cfeacbe7469" providerId="LiveId" clId="{BF1660DD-40BB-4F1C-B954-3993FF3F3F25}" dt="2026-09-18T16:15:23.150" v="19" actId="478"/>
          <ac:picMkLst>
            <pc:docMk/>
            <pc:sldMk cId="2499079841" sldId="262"/>
            <ac:picMk id="28" creationId="{00000000-0000-0000-0000-000000000000}"/>
          </ac:picMkLst>
        </pc:picChg>
      </pc:sldChg>
      <pc:sldChg chg="delSp mod">
        <pc:chgData name="奕綸 洪" userId="a0d49cfeacbe7469" providerId="LiveId" clId="{BF1660DD-40BB-4F1C-B954-3993FF3F3F25}" dt="2026-09-18T16:15:19.582" v="17" actId="478"/>
        <pc:sldMkLst>
          <pc:docMk/>
          <pc:sldMk cId="3987695014" sldId="264"/>
        </pc:sldMkLst>
        <pc:picChg chg="del">
          <ac:chgData name="奕綸 洪" userId="a0d49cfeacbe7469" providerId="LiveId" clId="{BF1660DD-40BB-4F1C-B954-3993FF3F3F25}" dt="2026-09-18T16:15:19.582" v="17" actId="478"/>
          <ac:picMkLst>
            <pc:docMk/>
            <pc:sldMk cId="3987695014" sldId="264"/>
            <ac:picMk id="48" creationId="{00000000-0000-0000-0000-000000000000}"/>
          </ac:picMkLst>
        </pc:picChg>
      </pc:sldChg>
      <pc:sldChg chg="delSp modSp mod modClrScheme chgLayout">
        <pc:chgData name="奕綸 洪" userId="a0d49cfeacbe7469" providerId="LiveId" clId="{BF1660DD-40BB-4F1C-B954-3993FF3F3F25}" dt="2026-09-18T16:15:12.285" v="16" actId="700"/>
        <pc:sldMkLst>
          <pc:docMk/>
          <pc:sldMk cId="534456372" sldId="276"/>
        </pc:sldMkLst>
        <pc:picChg chg="del mod">
          <ac:chgData name="奕綸 洪" userId="a0d49cfeacbe7469" providerId="LiveId" clId="{BF1660DD-40BB-4F1C-B954-3993FF3F3F25}" dt="2026-09-18T16:15:09.687" v="15" actId="478"/>
          <ac:picMkLst>
            <pc:docMk/>
            <pc:sldMk cId="534456372" sldId="276"/>
            <ac:picMk id="28" creationId="{00000000-0000-0000-0000-00000000000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/>
              <a:t/>
            </a:r>
            <a:r>
              <a:rPr lang="en-US" altLang="zh-TW"/>
              <a:t/>
            </a:r>
            <a:r>
              <a:rPr lang="zh-TW" altLang="en-US"/>
              <a:t/>
            </a:r>
            <a:r>
              <a:rPr lang="en-US" altLang="zh-TW"/>
              <a:t/>
            </a:r>
            <a:r>
              <a:rPr lang="zh-TW" altLang="en-US"/>
              <a:t/>
            </a:r>
            <a:r>
              <a:rPr lang="en-US" altLang="zh-TW"/>
              <a:t/>
            </a:r>
            <a:r>
              <a:rPr lang="zh-TW" altLang="en-US"/>
              <a:t/>
            </a:r>
            <a:r>
              <a:rPr lang="en-US" altLang="zh-TW"/>
              <a:t/>
            </a:r>
            <a:r>
              <a:rPr lang="zh-TW" altLang="en-US"/>
              <a:t/>
            </a:r>
            <a:r>
              <a:rPr lang="en-US" altLang="zh-TW"/>
              <a:t/>
            </a:r>
            <a:r>
              <a:rPr lang="zh-TW" altLang="en-US"/>
              <a:t/>
            </a:r>
            <a:r>
              <a:rPr lang="en-US" altLang="zh-TW"/>
              <a:t/>
            </a:r>
            <a:r>
              <a:rPr lang="zh-TW" altLang="en-US"/>
              <a:t/>
            </a:r>
            <a:endParaRPr lang="en-US" altLang="zh-TW"/>
          </a:p>
          <a:p>
            <a:endParaRPr lang="en-US" altLang="zh-TW"/>
          </a:p>
          <a:p>
            <a:r>
              <a:rPr lang="zh-TW" altLang="en-US"/>
              <a:t/>
            </a:r>
            <a:r>
              <a:rPr lang="en-US" altLang="zh-TW"/>
              <a:t/>
            </a:r>
            <a:r>
              <a:rPr lang="zh-TW" altLang="en-US"/>
              <a:t/>
            </a:r>
            <a:r>
              <a:rPr lang="en-US" altLang="zh-TW"/>
              <a:t/>
            </a:r>
            <a:r>
              <a:rPr lang="zh-TW" altLang="en-US"/>
              <a:t/>
            </a:r>
            <a:r>
              <a:rPr lang="en-US" altLang="zh-TW"/>
              <a:t/>
            </a:r>
            <a:r>
              <a:rPr lang="zh-TW" altLang="en-US"/>
              <a:t/>
            </a:r>
            <a:r>
              <a:rPr lang="en-US" altLang="zh-TW"/>
              <a:t/>
            </a:r>
            <a:r>
              <a:rPr lang="zh-TW" altLang="en-US"/>
              <a:t/>
            </a:r>
            <a:endParaRPr lang="en-US" altLang="zh-TW"/>
          </a:p>
          <a:p>
            <a:endParaRPr lang="en-US" altLang="zh-TW"/>
          </a:p>
          <a:p>
            <a:r>
              <a:rPr lang="zh-TW" altLang="en-US"/>
              <a:t/>
            </a:r>
            <a:r>
              <a:rPr lang="en-US" altLang="zh-TW"/>
              <a:t/>
            </a:r>
            <a:r>
              <a:rPr lang="zh-TW" altLang="en-US"/>
              <a:t/>
            </a:r>
            <a:r>
              <a:rPr lang="en-US" altLang="zh-TW"/>
              <a:t/>
            </a:r>
            <a:r>
              <a:rPr lang="zh-TW" altLang="en-US"/>
              <a:t/>
            </a:r>
            <a:r>
              <a:rPr lang="en-US" altLang="zh-TW"/>
              <a:t/>
            </a:r>
            <a:r>
              <a:rPr lang="zh-TW" altLang="en-US"/>
              <a:t/>
            </a:r>
            <a:r>
              <a:rPr lang="en-US" altLang="zh-TW"/>
              <a:t/>
            </a:r>
            <a:r>
              <a:rPr lang="zh-TW" altLang="en-US"/>
              <a:t/>
            </a:r>
            <a:endParaRPr lang="en-US" altLang="zh-TW"/>
          </a:p>
          <a:p>
            <a:endParaRPr lang="en-US" altLang="zh-TW"/>
          </a:p>
          <a:p>
            <a:r>
              <a:rPr lang="zh-TW" altLang="en-US"/>
              <a:t/>
            </a:r>
            <a:r>
              <a:rPr lang="en-US" altLang="zh-TW"/>
              <a:t/>
            </a:r>
            <a:r>
              <a:rPr lang="zh-TW" altLang="en-US"/>
              <a:t/>
            </a:r>
            <a:r>
              <a:rPr lang="en-US" altLang="zh-TW"/>
              <a:t/>
            </a:r>
            <a:r>
              <a:rPr lang="zh-TW" altLang="en-US"/>
              <a:t/>
            </a:r>
            <a:r>
              <a:rPr lang="en-US" altLang="zh-TW"/>
              <a:t/>
            </a:r>
            <a:r>
              <a:rPr lang="zh-TW" altLang="en-US"/>
              <a:t/>
            </a:r>
            <a:r>
              <a:rPr lang="en-US" altLang="zh-TW"/>
              <a:t/>
            </a:r>
            <a:r>
              <a:rPr lang="zh-TW" altLang="en-US"/>
              <a:t/>
            </a:r>
            <a:endParaRPr lang="en-US" altLang="zh-TW"/>
          </a:p>
          <a:p>
            <a:endParaRPr lang="en-US" altLang="zh-TW"/>
          </a:p>
          <a:p>
            <a:r>
              <a:rPr lang="zh-TW" altLang="en-US"/>
              <a:t/>
            </a:r>
            <a:r>
              <a:rPr lang="en-US" altLang="zh-TW"/>
              <a:t/>
            </a:r>
            <a:r>
              <a:rPr lang="zh-TW" altLang="en-US"/>
              <a:t/>
            </a:r>
            <a:endParaRPr lang="en-US" altLang="zh-TW"/>
          </a:p>
          <a:p>
            <a:endParaRPr lang="en-US" altLang="zh-TW"/>
          </a:p>
          <a:p>
            <a:r>
              <a:rPr lang="zh-TW" altLang="en-US"/>
              <a:t/>
            </a:r>
            <a:r>
              <a:rPr lang="en-US" altLang="zh-TW"/>
              <a:t/>
            </a:r>
            <a:r>
              <a:rPr lang="zh-TW" altLang="en-US"/>
              <a:t/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864725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err="1"/>
              <a:t/>
            </a:r>
            <a:r>
              <a:t/>
            </a:r>
          </a:p>
          <a:p>
            <a:r>
              <a:rPr err="1"/>
              <a:t/>
            </a:r>
            <a:r>
              <a:t/>
            </a:r>
            <a:r>
              <a:rPr err="1"/>
              <a:t/>
            </a:r>
            <a:r>
              <a:t/>
            </a:r>
            <a:r>
              <a:rPr err="1"/>
              <a:t/>
            </a:r>
            <a:r>
              <a:t/>
            </a:r>
            <a:r>
              <a:rPr err="1"/>
              <a:t/>
            </a:r>
            <a:r>
              <a:t/>
            </a:r>
            <a:r>
              <a:rPr err="1"/>
              <a:t/>
            </a:r>
            <a:r>
              <a:t/>
            </a:r>
            <a:r>
              <a:rPr err="1"/>
              <a:t/>
            </a:r>
            <a:r>
              <a:t/>
            </a:r>
            <a:r>
              <a:rPr err="1"/>
              <a:t/>
            </a:r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F2F4418-F382-FD7E-85E3-1C4D572378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buNone/>
              <a:defRPr sz="6000"/>
            </a:lvl1pPr>
          </a:lstStyle>
          <a:p>
            <a:r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8585E994-36A2-1CAA-87DC-431C2537628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0B0BC95-8D32-B641-E7EC-2E64AFC0A57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A57FE70-7822-4B70-8728-9D564343E82E}" type="datetime1">
              <a:t>2026/9/18</a:t>
            </a:fld>
            <a:endParaRPr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59BFB6D-5A7A-B634-87DE-03B3169469D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DA5D4F7-7737-E286-E2AC-AAF8D1CEC76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9F68E2-31C2-4D90-A536-67698CDE337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CADEC09-E7CB-AED9-6947-58CE6FD30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1087B12-101A-2C9A-BBE6-0470691BF1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按一下以編輯母片文字樣式</a:t>
            </a:r>
          </a:p>
          <a:p>
            <a:pPr lvl="1">
              <a:buNone/>
            </a:pPr>
            <a:r>
              <a:t>第二層</a:t>
            </a:r>
          </a:p>
          <a:p>
            <a:pPr lvl="2">
              <a:buNone/>
            </a:pPr>
            <a:r>
              <a:t>第三層</a:t>
            </a:r>
          </a:p>
          <a:p>
            <a:pPr lvl="3">
              <a:buNone/>
            </a:pPr>
            <a:r>
              <a:t>第四層</a:t>
            </a:r>
          </a:p>
          <a:p>
            <a:pPr lvl="4">
              <a:buNone/>
            </a:pPr>
            <a:r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19FA5D9-F57D-2272-4009-3667A557D4A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3F3FE0B9-1761-4EBF-86E5-F6C61B5FA9E4}" type="datetime1">
              <a:t>2026/9/18</a:t>
            </a:fld>
            <a:endParaRPr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B5C97ED-A4CC-5F74-6F30-CAACAFDDD30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88EAFD4-8B96-4A2F-249D-91178180FBA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9F68E2-31C2-4D90-A536-67698CDE337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8B00BA7-89EC-AF22-F54C-B6288D171E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buNone/>
              <a:defRPr sz="6000"/>
            </a:lvl1pPr>
          </a:lstStyle>
          <a:p>
            <a:r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68797BE-1084-FABA-EF14-645A1D5CB6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buNone/>
            </a:pPr>
            <a:r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16996C4-4406-A284-053C-73B1ADC50DB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B29B7C7D-DC69-47DA-A405-78A6D130F01C}" type="datetime1">
              <a:t>2026/9/18</a:t>
            </a:fld>
            <a:endParaRPr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A369CD1-6158-1FF4-58D7-4AFE6F15649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97EA08E-83A8-EF45-49BB-47BCCDE7D68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9F68E2-31C2-4D90-A536-67698CDE337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1089BAF-A89C-22CF-2F79-B214A28E22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45FF28C-73E6-3078-1B77-B6FA0C2109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>
              <a:buNone/>
            </a:pPr>
            <a:r>
              <a:t>按一下以編輯母片文字樣式</a:t>
            </a:r>
          </a:p>
          <a:p>
            <a:pPr lvl="1">
              <a:buNone/>
            </a:pPr>
            <a:r>
              <a:t>第二層</a:t>
            </a:r>
          </a:p>
          <a:p>
            <a:pPr lvl="2">
              <a:buNone/>
            </a:pPr>
            <a:r>
              <a:t>第三層</a:t>
            </a:r>
          </a:p>
          <a:p>
            <a:pPr lvl="3">
              <a:buNone/>
            </a:pPr>
            <a:r>
              <a:t>第四層</a:t>
            </a:r>
          </a:p>
          <a:p>
            <a:pPr lvl="4">
              <a:buNone/>
            </a:pPr>
            <a:r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76876C92-0BA2-1ACD-3D55-74533D95592B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>
              <a:buNone/>
            </a:pPr>
            <a:r>
              <a:t>按一下以編輯母片文字樣式</a:t>
            </a:r>
          </a:p>
          <a:p>
            <a:pPr lvl="1">
              <a:buNone/>
            </a:pPr>
            <a:r>
              <a:t>第二層</a:t>
            </a:r>
          </a:p>
          <a:p>
            <a:pPr lvl="2">
              <a:buNone/>
            </a:pPr>
            <a:r>
              <a:t>第三層</a:t>
            </a:r>
          </a:p>
          <a:p>
            <a:pPr lvl="3">
              <a:buNone/>
            </a:pPr>
            <a:r>
              <a:t>第四層</a:t>
            </a:r>
          </a:p>
          <a:p>
            <a:pPr lvl="4">
              <a:buNone/>
            </a:pPr>
            <a:r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2590931D-F9C3-5905-F8F8-A43112C94E9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0B977F-2A48-45BE-A996-25BE4FCB85B2}" type="datetime1">
              <a:t>2026/9/18</a:t>
            </a:fld>
            <a:endParaRPr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BFDE9DF2-AAA0-12F4-1625-A630BF2CB9A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7135D038-F48F-984B-0410-3EE233F6319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9F68E2-31C2-4D90-A536-67698CDE337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F28DB80-2C75-AF83-B74A-038802F3C6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6C23F12-6964-7B5F-0DF2-AF18B08A36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364261CC-9DD0-A56D-F59B-BB366078E23E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>
              <a:buNone/>
            </a:pPr>
            <a:r>
              <a:t>按一下以編輯母片文字樣式</a:t>
            </a:r>
          </a:p>
          <a:p>
            <a:pPr lvl="1">
              <a:buNone/>
            </a:pPr>
            <a:r>
              <a:t>第二層</a:t>
            </a:r>
          </a:p>
          <a:p>
            <a:pPr lvl="2">
              <a:buNone/>
            </a:pPr>
            <a:r>
              <a:t>第三層</a:t>
            </a:r>
          </a:p>
          <a:p>
            <a:pPr lvl="3">
              <a:buNone/>
            </a:pPr>
            <a:r>
              <a:t>第四層</a:t>
            </a:r>
          </a:p>
          <a:p>
            <a:pPr lvl="4">
              <a:buNone/>
            </a:pPr>
            <a:r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F38043AB-AE08-A433-B786-8CAD12F31FC5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E14A5452-F38F-EC1F-0EFB-DDBAF063DCBA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>
              <a:buNone/>
            </a:pPr>
            <a:r>
              <a:t>按一下以編輯母片文字樣式</a:t>
            </a:r>
          </a:p>
          <a:p>
            <a:pPr lvl="1">
              <a:buNone/>
            </a:pPr>
            <a:r>
              <a:t>第二層</a:t>
            </a:r>
          </a:p>
          <a:p>
            <a:pPr lvl="2">
              <a:buNone/>
            </a:pPr>
            <a:r>
              <a:t>第三層</a:t>
            </a:r>
          </a:p>
          <a:p>
            <a:pPr lvl="3">
              <a:buNone/>
            </a:pPr>
            <a:r>
              <a:t>第四層</a:t>
            </a:r>
          </a:p>
          <a:p>
            <a:pPr lvl="4">
              <a:buNone/>
            </a:pPr>
            <a:r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A1B824C8-F9FB-3E02-1BC7-24AD4584CF6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CF59ACC-8CB0-4EC1-9F26-0EDD387D8102}" type="datetime1">
              <a:t>2026/9/18</a:t>
            </a:fld>
            <a:endParaRPr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C94514F7-A0E4-B3E3-415F-F4700D9EDFC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1F5BB5F9-A48F-E8FC-0172-3201CEA87AF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9F68E2-31C2-4D90-A536-67698CDE337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D9795BC-DBF0-34F1-12D9-5669FB1957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8A403390-085B-F743-3A21-AAF87DCAC5B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186D9BA-1789-4DAC-8145-DC87CC5BC2E7}" type="datetime1">
              <a:t>2026/9/18</a:t>
            </a:fld>
            <a:endParaRPr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28E0280E-A089-53A1-D704-D5D56C9ED0A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A84CD3C3-D1FC-BF84-C814-A280FFF86BA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9F68E2-31C2-4D90-A536-67698CDE337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2CFEE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4277CF1D-3A7D-7C07-D5EA-B82CEF821FE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F19B83C-FE66-4460-82E0-F2947ABF9BE8}" type="datetime1">
              <a:t>2026/9/18</a:t>
            </a:fld>
            <a:endParaRPr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ED5A87BE-CC06-8139-874C-5DF5A7E1234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111CD57-517A-DB9B-81AD-CFC59CE8438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9F68E2-31C2-4D90-A536-67698CDE337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75D45BA-EDA5-FFE9-6987-9727D56536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7BBEB6C-50B9-071F-761E-055B01B59E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</a:pPr>
            <a:r>
              <a:t>按一下以編輯母片文字樣式</a:t>
            </a:r>
          </a:p>
          <a:p>
            <a:pPr lvl="1">
              <a:buNone/>
            </a:pPr>
            <a:r>
              <a:t>第二層</a:t>
            </a:r>
          </a:p>
          <a:p>
            <a:pPr lvl="2">
              <a:buNone/>
            </a:pPr>
            <a:r>
              <a:t>第三層</a:t>
            </a:r>
          </a:p>
          <a:p>
            <a:pPr lvl="3">
              <a:buNone/>
            </a:pPr>
            <a:r>
              <a:t>第四層</a:t>
            </a:r>
          </a:p>
          <a:p>
            <a:pPr lvl="4">
              <a:buNone/>
            </a:pPr>
            <a:r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BFFB09E2-49F6-712C-52B3-4E84EC98994F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6532A7C8-08FA-1807-3000-465FCE908E3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39009F3D-C8E2-4C4A-B222-0F9BECDADE39}" type="datetime1">
              <a:t>2026/9/18</a:t>
            </a:fld>
            <a:endParaRPr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2662328F-1ACC-47B1-2F89-0C31B7AA4BD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81655B75-DBF3-431A-9605-D58C5BB3C05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9F68E2-31C2-4D90-A536-67698CDE337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含輔助字幕的圖片">
    <p:bg>
      <p:bgPr>
        <a:solidFill>
          <a:schemeClr val="accent2">
            <a:lumMod val="20000"/>
            <a:lumOff val="80000"/>
            <a:alpha val="57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7156C87-050E-D07E-30BC-1E7000B088D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10A0CB-C744-40EA-AB99-EB59E4E66246}" type="datetime1">
              <a:t>2026/9/18</a:t>
            </a:fld>
            <a:endParaRPr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E4DC2556-0AA8-4383-31C2-01201447987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9CB29DD-5C39-5EAA-52A2-ABAEF25BA06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9F68E2-31C2-4D90-A536-67698CDE3376}" type="slidenum">
              <a:t>‹#›</a:t>
            </a:fld>
            <a:endParaRPr/>
          </a:p>
        </p:txBody>
      </p:sp>
      <p:pic>
        <p:nvPicPr>
          <p:cNvPr id="16" name="圖形 8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370747" y="106443"/>
            <a:ext cx="707284" cy="707284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55550E41-B612-66DC-40BC-027686B97EE1}"/>
              </a:ext>
            </a:extLst>
          </p:cNvPr>
          <p:cNvSpPr>
            <a:spLocks noGrp="1"/>
          </p:cNvSpPr>
          <p:nvPr/>
        </p:nvSpPr>
        <p:spPr>
          <a:xfrm>
            <a:off x="86360" y="309001"/>
            <a:ext cx="120345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F3C72"/>
                </a:solidFill>
                <a:latin typeface="Microsoft YaHei"/>
                <a:ea typeface="Microsoft YaHei"/>
                <a:cs typeface="Microsoft YaHei"/>
              </a:rPr>
              <a:t>Random Forest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含輔助字幕的圖片">
    <p:bg>
      <p:bgPr>
        <a:solidFill>
          <a:schemeClr val="accent2">
            <a:lumMod val="20000"/>
            <a:lumOff val="80000"/>
            <a:alpha val="57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7156C87-050E-D07E-30BC-1E7000B088D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10A0CB-C744-40EA-AB99-EB59E4E66246}" type="datetime1">
              <a:t>2026/9/18</a:t>
            </a:fld>
            <a:endParaRPr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E4DC2556-0AA8-4383-31C2-01201447987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9CB29DD-5C39-5EAA-52A2-ABAEF25BA06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9F68E2-31C2-4D90-A536-67698CDE3376}" type="slidenum">
              <a:t>‹#›</a:t>
            </a:fld>
            <a:endParaRPr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55550E41-B612-66DC-40BC-027686B97EE1}"/>
              </a:ext>
            </a:extLst>
          </p:cNvPr>
          <p:cNvSpPr>
            <a:spLocks noGrp="1"/>
          </p:cNvSpPr>
          <p:nvPr/>
        </p:nvSpPr>
        <p:spPr>
          <a:xfrm>
            <a:off x="86360" y="309001"/>
            <a:ext cx="120345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F3C72"/>
                </a:solidFill>
                <a:latin typeface="Microsoft YaHei"/>
                <a:ea typeface="Microsoft YaHei"/>
                <a:cs typeface="Microsoft YaHei"/>
              </a:rPr>
              <a:t>Generalized Additive Model</a:t>
            </a:r>
          </a:p>
        </p:txBody>
      </p:sp>
      <p:pic>
        <p:nvPicPr>
          <p:cNvPr id="17" name="圖形 2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277600" y="0"/>
            <a:ext cx="914400" cy="9144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含輔助字幕的圖片">
    <p:bg>
      <p:bgPr>
        <a:solidFill>
          <a:schemeClr val="accent2">
            <a:lumMod val="20000"/>
            <a:lumOff val="80000"/>
            <a:alpha val="57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7156C87-050E-D07E-30BC-1E7000B088D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10A0CB-C744-40EA-AB99-EB59E4E66246}" type="datetime1">
              <a:t>2026/9/18</a:t>
            </a:fld>
            <a:endParaRPr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E4DC2556-0AA8-4383-31C2-01201447987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9CB29DD-5C39-5EAA-52A2-ABAEF25BA06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9F68E2-31C2-4D90-A536-67698CDE3376}" type="slidenum">
              <a:t>‹#›</a:t>
            </a:fld>
            <a:endParaRPr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55550E41-B612-66DC-40BC-027686B97EE1}"/>
              </a:ext>
            </a:extLst>
          </p:cNvPr>
          <p:cNvSpPr>
            <a:spLocks noGrp="1"/>
          </p:cNvSpPr>
          <p:nvPr/>
        </p:nvSpPr>
        <p:spPr>
          <a:xfrm>
            <a:off x="86360" y="309001"/>
            <a:ext cx="120345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F3C72"/>
                </a:solidFill>
                <a:latin typeface="Microsoft YaHei"/>
                <a:ea typeface="Microsoft YaHei"/>
                <a:cs typeface="Microsoft YaHei"/>
              </a:rPr>
              <a:t>Mann–Kendall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含輔助字幕的圖片">
    <p:bg>
      <p:bgPr>
        <a:solidFill>
          <a:schemeClr val="accent2">
            <a:lumMod val="20000"/>
            <a:lumOff val="80000"/>
            <a:alpha val="57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7156C87-050E-D07E-30BC-1E7000B088D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10A0CB-C744-40EA-AB99-EB59E4E66246}" type="datetime1">
              <a:t>2026/9/18</a:t>
            </a:fld>
            <a:endParaRPr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E4DC2556-0AA8-4383-31C2-01201447987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9CB29DD-5C39-5EAA-52A2-ABAEF25BA06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9F68E2-31C2-4D90-A536-67698CDE3376}" type="slidenum">
              <a:t>‹#›</a:t>
            </a:fld>
            <a:endParaRPr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55550E41-B612-66DC-40BC-027686B97EE1}"/>
              </a:ext>
            </a:extLst>
          </p:cNvPr>
          <p:cNvSpPr>
            <a:spLocks noGrp="1"/>
          </p:cNvSpPr>
          <p:nvPr/>
        </p:nvSpPr>
        <p:spPr>
          <a:xfrm>
            <a:off x="86360" y="309001"/>
            <a:ext cx="120345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F3C72"/>
                </a:solidFill>
                <a:latin typeface="Microsoft YaHei"/>
                <a:ea typeface="Microsoft YaHei"/>
                <a:cs typeface="Microsoft YaHei"/>
              </a:rPr>
              <a:t>Sen’s slope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4F718D7-D19B-02CD-F9F5-7A06F9BAE3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9D4A4728-7DA9-6D33-8C58-CB369AFB90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按一下以編輯母片文字樣式</a:t>
            </a:r>
          </a:p>
          <a:p>
            <a:pPr lvl="1">
              <a:buNone/>
            </a:pPr>
            <a:r>
              <a:t>第二層</a:t>
            </a:r>
          </a:p>
          <a:p>
            <a:pPr lvl="2">
              <a:buNone/>
            </a:pPr>
            <a:r>
              <a:t>第三層</a:t>
            </a:r>
          </a:p>
          <a:p>
            <a:pPr lvl="3">
              <a:buNone/>
            </a:pPr>
            <a:r>
              <a:t>第四層</a:t>
            </a:r>
          </a:p>
          <a:p>
            <a:pPr lvl="4">
              <a:buNone/>
            </a:pPr>
            <a:r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37C5BE8-D30C-F5BA-8617-E0F6EB663D9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27918E75-62A0-4B1D-8AC4-B3627EBBE186}" type="datetime1">
              <a:t>2026/9/18</a:t>
            </a:fld>
            <a:endParaRPr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432595D-71D1-99EB-66C7-4EE3DD8DF65C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F6C78CE-CF12-B519-369F-0F2F17A7C41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9F68E2-31C2-4D90-A536-67698CDE337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8081C7F4-64DB-C667-7456-93829A416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37A048AA-5049-D3D8-0202-2FBEAC3A31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buNone/>
            </a:pPr>
            <a:r>
              <a:t>按一下以編輯母片文字樣式</a:t>
            </a:r>
          </a:p>
          <a:p>
            <a:pPr lvl="1">
              <a:buNone/>
            </a:pPr>
            <a:r>
              <a:t>第二層</a:t>
            </a:r>
          </a:p>
          <a:p>
            <a:pPr lvl="2">
              <a:buNone/>
            </a:pPr>
            <a:r>
              <a:t>第三層</a:t>
            </a:r>
          </a:p>
          <a:p>
            <a:pPr lvl="3">
              <a:buNone/>
            </a:pPr>
            <a:r>
              <a:t>第四層</a:t>
            </a:r>
          </a:p>
          <a:p>
            <a:pPr lvl="4">
              <a:buNone/>
            </a:pPr>
            <a:r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A3A0BEF-7CA9-4E89-8BBD-0142B3CEA20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3851BC44-073B-49E5-A28A-31CF4B3094B3}" type="datetime1">
              <a:t>2026/9/18</a:t>
            </a:fld>
            <a:endParaRPr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85DDB89-29A9-9F15-71CF-3853C2CE47D3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3B96B45-6833-7129-5D71-C17949296A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9F68E2-31C2-4D90-A536-67698CDE337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A6447937-6B56-26FE-DF26-9A36481691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17A83742-13FE-E0D9-7E24-C399BDEFA2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按一下以編輯母片文字樣式</a:t>
            </a:r>
          </a:p>
          <a:p>
            <a:pPr lvl="1">
              <a:buNone/>
            </a:pPr>
            <a:r>
              <a:t>第二層</a:t>
            </a:r>
          </a:p>
          <a:p>
            <a:pPr lvl="2">
              <a:buNone/>
            </a:pPr>
            <a:r>
              <a:t>第三層</a:t>
            </a:r>
          </a:p>
          <a:p>
            <a:pPr lvl="3">
              <a:buNone/>
            </a:pPr>
            <a:r>
              <a:t>第四層</a:t>
            </a:r>
          </a:p>
          <a:p>
            <a:pPr lvl="4">
              <a:buNone/>
            </a:pPr>
            <a:r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0BFFF55-F2B8-CF46-7C2D-4D33420F0603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CAD1A9-4F9E-4295-96F5-0C73733C0E6C}" type="datetime1">
              <a:t>2026/9/18</a:t>
            </a:fld>
            <a:endParaRPr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7F37B08-52E6-23F5-A93C-E3B8DD38334C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AD8E709-FFF3-8FF2-9704-E9197FA04C4F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9F68E2-31C2-4D90-A536-67698CDE3376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hdr="0" ftr="0" dt="0"/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jpeg"/><Relationship Id="rId5" Type="http://schemas.openxmlformats.org/officeDocument/2006/relationships/image" Target="../media/image11.jpeg"/><Relationship Id="rId4" Type="http://schemas.openxmlformats.org/officeDocument/2006/relationships/image" Target="../media/image10.jpe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4FDA9DE7-F305-6D11-FC54-F0B474F71DBC}"/>
              </a:ext>
            </a:extLst>
          </p:cNvPr>
          <p:cNvSpPr>
            <a:spLocks noGrp="1"/>
          </p:cNvSpPr>
          <p:nvPr/>
        </p:nvSpPr>
        <p:spPr>
          <a:xfrm>
            <a:off x="0" y="5439548"/>
            <a:ext cx="12192000" cy="1414821"/>
          </a:xfrm>
          <a:prstGeom prst="rect">
            <a:avLst/>
          </a:prstGeom>
          <a:gradFill>
            <a:gsLst>
              <a:gs pos="0">
                <a:srgbClr val="2F3871">
                  <a:alpha val="0"/>
                </a:srgbClr>
              </a:gs>
              <a:gs pos="56000">
                <a:srgbClr val="2F3871">
                  <a:alpha val="76000"/>
                </a:srgb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31" name="圖片 7"/>
          <p:cNvPicPr>
            <a:picLocks noChangeAspect="1"/>
          </p:cNvPicPr>
          <p:nvPr/>
        </p:nvPicPr>
        <p:blipFill>
          <a:blip r:embed="rId3"/>
          <a:srcRect l="53145" t="15685" r="3145" b="54214"/>
          <a:stretch>
            <a:fillRect/>
          </a:stretch>
        </p:blipFill>
        <p:spPr>
          <a:xfrm>
            <a:off x="6479458" y="1081952"/>
            <a:ext cx="5329084" cy="2062103"/>
          </a:xfrm>
          <a:prstGeom prst="roundRect">
            <a:avLst/>
          </a:prstGeom>
          <a:effectLst>
            <a:reflection stA="45000" endPos="0" dist="50800" dir="5400000" sy="-100000" algn="bl" rotWithShape="0"/>
          </a:effectLst>
        </p:spPr>
      </p:pic>
      <p:sp>
        <p:nvSpPr>
          <p:cNvPr id="15" name="矩形 14">
            <a:extLst>
              <a:ext uri="{FF2B5EF4-FFF2-40B4-BE49-F238E27FC236}">
                <a16:creationId xmlns:a16="http://schemas.microsoft.com/office/drawing/2014/main" id="{38954D5A-8DF8-5285-CDEC-80EF587A7DE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47782"/>
          </a:xfrm>
          <a:prstGeom prst="rect">
            <a:avLst/>
          </a:prstGeom>
          <a:solidFill>
            <a:srgbClr val="2F3D4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764EEF05-3CDE-45B9-CB48-6DA8562E2ADC}"/>
              </a:ext>
            </a:extLst>
          </p:cNvPr>
          <p:cNvSpPr>
            <a:spLocks noGrp="1"/>
          </p:cNvSpPr>
          <p:nvPr/>
        </p:nvSpPr>
        <p:spPr>
          <a:xfrm>
            <a:off x="314633" y="5601236"/>
            <a:ext cx="1415772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"/>
                <a:ea typeface="Microsoft YaHei"/>
                <a:cs typeface="Microsoft YaHei"/>
              </a:rPr>
              <a:t>洪奕綸</a:t>
            </a: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3EAD5FDD-BBF7-39BD-7A48-448872BA0919}"/>
              </a:ext>
            </a:extLst>
          </p:cNvPr>
          <p:cNvSpPr>
            <a:spLocks noGrp="1"/>
          </p:cNvSpPr>
          <p:nvPr/>
        </p:nvSpPr>
        <p:spPr>
          <a:xfrm>
            <a:off x="314633" y="6161874"/>
            <a:ext cx="5200463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>
                <a:solidFill>
                  <a:schemeClr val="bg2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"/>
                <a:ea typeface="Microsoft YaHei"/>
                <a:cs typeface="Microsoft YaHei"/>
              </a:rPr>
              <a:t>國立臺灣大學 生物環境系統工程學系</a:t>
            </a: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9599F5EB-38D7-F49A-2CAE-7991257AB3B2}"/>
              </a:ext>
            </a:extLst>
          </p:cNvPr>
          <p:cNvSpPr>
            <a:spLocks noGrp="1"/>
          </p:cNvSpPr>
          <p:nvPr/>
        </p:nvSpPr>
        <p:spPr>
          <a:xfrm>
            <a:off x="10047547" y="6219547"/>
            <a:ext cx="1760995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"/>
                <a:ea typeface="Microsoft YaHei"/>
                <a:cs typeface="Microsoft YaHei"/>
              </a:rPr>
              <a:t>JULY 2026</a:t>
            </a:r>
          </a:p>
        </p:txBody>
      </p:sp>
      <p:sp>
        <p:nvSpPr>
          <p:cNvPr id="24" name="橢圓 23">
            <a:extLst>
              <a:ext uri="{FF2B5EF4-FFF2-40B4-BE49-F238E27FC236}">
                <a16:creationId xmlns:a16="http://schemas.microsoft.com/office/drawing/2014/main" id="{0E9B2BFA-AEF5-8CDE-23C4-E42B720718CA}"/>
              </a:ext>
            </a:extLst>
          </p:cNvPr>
          <p:cNvSpPr>
            <a:spLocks noGrp="1"/>
          </p:cNvSpPr>
          <p:nvPr/>
        </p:nvSpPr>
        <p:spPr>
          <a:xfrm>
            <a:off x="5048701" y="464033"/>
            <a:ext cx="3269389" cy="3269389"/>
          </a:xfrm>
          <a:prstGeom prst="ellipse">
            <a:avLst/>
          </a:prstGeom>
          <a:solidFill>
            <a:schemeClr val="accent5">
              <a:lumMod val="50000"/>
              <a:alpha val="3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5" name="橢圓 24">
            <a:extLst>
              <a:ext uri="{FF2B5EF4-FFF2-40B4-BE49-F238E27FC236}">
                <a16:creationId xmlns:a16="http://schemas.microsoft.com/office/drawing/2014/main" id="{64A66BE2-5F07-6A27-FD0C-DBF589DCFA73}"/>
              </a:ext>
            </a:extLst>
          </p:cNvPr>
          <p:cNvSpPr>
            <a:spLocks noGrp="1"/>
          </p:cNvSpPr>
          <p:nvPr/>
        </p:nvSpPr>
        <p:spPr>
          <a:xfrm>
            <a:off x="-1209367" y="1904999"/>
            <a:ext cx="3048000" cy="3048000"/>
          </a:xfrm>
          <a:prstGeom prst="ellipse">
            <a:avLst/>
          </a:prstGeom>
          <a:solidFill>
            <a:schemeClr val="accent5">
              <a:lumMod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6" name="橢圓 25">
            <a:extLst>
              <a:ext uri="{FF2B5EF4-FFF2-40B4-BE49-F238E27FC236}">
                <a16:creationId xmlns:a16="http://schemas.microsoft.com/office/drawing/2014/main" id="{D0998F53-0A21-4ECF-FAB3-23CAF9AA3EDC}"/>
              </a:ext>
            </a:extLst>
          </p:cNvPr>
          <p:cNvSpPr>
            <a:spLocks noGrp="1"/>
          </p:cNvSpPr>
          <p:nvPr/>
        </p:nvSpPr>
        <p:spPr>
          <a:xfrm>
            <a:off x="9906000" y="1219775"/>
            <a:ext cx="3048000" cy="3048000"/>
          </a:xfrm>
          <a:prstGeom prst="ellipse">
            <a:avLst/>
          </a:prstGeom>
          <a:solidFill>
            <a:schemeClr val="accent5">
              <a:lumMod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FC924EB1-DCAC-1A0D-DCB7-D4DFDA1E2BC0}"/>
              </a:ext>
            </a:extLst>
          </p:cNvPr>
          <p:cNvSpPr>
            <a:spLocks noGrp="1"/>
          </p:cNvSpPr>
          <p:nvPr/>
        </p:nvSpPr>
        <p:spPr>
          <a:xfrm>
            <a:off x="6632021" y="1319555"/>
            <a:ext cx="4896137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sz="3200" b="1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"/>
                <a:ea typeface="Microsoft YaHei"/>
                <a:cs typeface="Microsoft YaHei"/>
              </a:rPr>
              <a:t>Meteorological Drivers of </a:t>
            </a:r>
            <a:r>
              <a:rPr sz="3200" b="1">
                <a:solidFill>
                  <a:srgbClr val="FFFED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"/>
                <a:ea typeface="Microsoft YaHei"/>
                <a:cs typeface="Microsoft YaHei"/>
              </a:rPr>
              <a:t>Surface Ozone </a:t>
            </a:r>
            <a:r>
              <a:rPr sz="3200" b="1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"/>
                <a:ea typeface="Microsoft YaHei"/>
                <a:cs typeface="Microsoft YaHei"/>
              </a:rPr>
              <a:t>in Kaohsiung </a:t>
            </a:r>
          </a:p>
          <a:p>
            <a:pPr algn="just">
              <a:buNone/>
            </a:pPr>
            <a:endParaRPr sz="3200" b="1">
              <a:solidFill>
                <a:schemeClr val="bg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8152648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: 圓角 4">
            <a:extLst>
              <a:ext uri="{FF2B5EF4-FFF2-40B4-BE49-F238E27FC236}">
                <a16:creationId xmlns:a16="http://schemas.microsoft.com/office/drawing/2014/main" id="{3D821C7A-A239-7050-85AB-86E99505E24E}"/>
              </a:ext>
            </a:extLst>
          </p:cNvPr>
          <p:cNvSpPr/>
          <p:nvPr/>
        </p:nvSpPr>
        <p:spPr>
          <a:xfrm flipV="1">
            <a:off x="1500126" y="290116"/>
            <a:ext cx="6521570" cy="367728"/>
          </a:xfrm>
          <a:prstGeom prst="round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281B4D1C-3021-8850-53F5-C8CCF250E85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9F68E2-31C2-4D90-A536-67698CDE3376}" type="slidenum">
              <a:rPr lang="en-US" altLang="zh-TW" smtClean="0"/>
              <a:t>2</a:t>
            </a:fld>
            <a:endParaRPr lang="zh-TW" altLang="en-US"/>
          </a:p>
        </p:txBody>
      </p:sp>
      <p:sp>
        <p:nvSpPr>
          <p:cNvPr id="4" name="文字方塊 2">
            <a:extLst>
              <a:ext uri="{FF2B5EF4-FFF2-40B4-BE49-F238E27FC236}">
                <a16:creationId xmlns:a16="http://schemas.microsoft.com/office/drawing/2014/main" id="{4C8F975A-6A27-9293-8F6A-0817FDAC9EF8}"/>
              </a:ext>
            </a:extLst>
          </p:cNvPr>
          <p:cNvSpPr>
            <a:spLocks noGrp="1"/>
          </p:cNvSpPr>
          <p:nvPr/>
        </p:nvSpPr>
        <p:spPr>
          <a:xfrm>
            <a:off x="1517050" y="290116"/>
            <a:ext cx="64869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lang="zh-TW" altLang="en-US" i="0">
                <a:solidFill>
                  <a:srgbClr val="FBF1FA"/>
                </a:solidFill>
                <a:latin typeface="Microsoft YaHei"/>
                <a:ea typeface="Microsoft YaHei"/>
                <a:cs typeface="Microsoft YaHei"/>
              </a:rPr>
              <a:t>氣象調整後，高雄臭氧於空污管制期間顯著下降（</a:t>
            </a:r>
            <a:r>
              <a:rPr lang="en-US" altLang="zh-TW" i="0">
                <a:solidFill>
                  <a:srgbClr val="FBF1FA"/>
                </a:solidFill>
                <a:latin typeface="Microsoft YaHei"/>
                <a:ea typeface="Microsoft YaHei"/>
                <a:cs typeface="Microsoft YaHei"/>
              </a:rPr>
              <a:t>2018–2025</a:t>
            </a:r>
            <a:r>
              <a:rPr lang="zh-TW" altLang="en-US" i="0">
                <a:solidFill>
                  <a:srgbClr val="FBF1FA"/>
                </a:solidFill>
                <a:latin typeface="Microsoft YaHei"/>
                <a:ea typeface="Microsoft YaHei"/>
                <a:cs typeface="Microsoft YaHei"/>
              </a:rPr>
              <a:t>）</a:t>
            </a:r>
            <a:endParaRPr i="0">
              <a:solidFill>
                <a:srgbClr val="FBF1F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6" name="文字方塊 2">
            <a:extLst>
              <a:ext uri="{FF2B5EF4-FFF2-40B4-BE49-F238E27FC236}">
                <a16:creationId xmlns:a16="http://schemas.microsoft.com/office/drawing/2014/main" id="{2D39120F-6A38-E947-F767-30ED8043AB06}"/>
              </a:ext>
            </a:extLst>
          </p:cNvPr>
          <p:cNvSpPr>
            <a:spLocks noGrp="1"/>
          </p:cNvSpPr>
          <p:nvPr/>
        </p:nvSpPr>
        <p:spPr>
          <a:xfrm>
            <a:off x="86360" y="290116"/>
            <a:ext cx="13440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lang="zh-TW" altLang="en-US" b="1" i="0">
                <a:solidFill>
                  <a:srgbClr val="2F3C72"/>
                </a:solidFill>
                <a:latin typeface="Microsoft YaHei"/>
                <a:ea typeface="Microsoft YaHei"/>
                <a:cs typeface="Microsoft YaHei"/>
              </a:rPr>
              <a:t>一頁式摘要</a:t>
            </a:r>
            <a:endParaRPr b="1" i="0">
              <a:solidFill>
                <a:srgbClr val="2F3C72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7" name="文字方塊 29">
            <a:extLst>
              <a:ext uri="{FF2B5EF4-FFF2-40B4-BE49-F238E27FC236}">
                <a16:creationId xmlns:a16="http://schemas.microsoft.com/office/drawing/2014/main" id="{9C800C5C-459B-C44B-D492-DA73756B2BD0}"/>
              </a:ext>
            </a:extLst>
          </p:cNvPr>
          <p:cNvSpPr>
            <a:spLocks noGrp="1"/>
          </p:cNvSpPr>
          <p:nvPr/>
        </p:nvSpPr>
        <p:spPr>
          <a:xfrm>
            <a:off x="1125661" y="1146180"/>
            <a:ext cx="606530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b="1">
                <a:solidFill>
                  <a:schemeClr val="accent5">
                    <a:lumMod val="50000"/>
                  </a:schemeClr>
                </a:solidFill>
                <a:latin typeface="Microsoft YaHei"/>
                <a:ea typeface="Microsoft YaHei"/>
                <a:cs typeface="Microsoft YaHei"/>
              </a:rPr>
              <a:t>研究問題</a:t>
            </a:r>
            <a:endParaRPr sz="2400" b="1">
              <a:solidFill>
                <a:schemeClr val="accent5">
                  <a:lumMod val="50000"/>
                </a:schemeClr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9" name="文字方塊 30">
            <a:extLst>
              <a:ext uri="{FF2B5EF4-FFF2-40B4-BE49-F238E27FC236}">
                <a16:creationId xmlns:a16="http://schemas.microsoft.com/office/drawing/2014/main" id="{DEF41D8F-13D5-66D4-23AA-E9535838DC30}"/>
              </a:ext>
            </a:extLst>
          </p:cNvPr>
          <p:cNvSpPr>
            <a:spLocks noGrp="1"/>
          </p:cNvSpPr>
          <p:nvPr/>
        </p:nvSpPr>
        <p:spPr>
          <a:xfrm>
            <a:off x="1517697" y="1607845"/>
            <a:ext cx="9464156" cy="4177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TW" altLang="en-US" sz="1600" b="1">
                <a:solidFill>
                  <a:schemeClr val="tx1">
                    <a:lumMod val="65000"/>
                    <a:lumOff val="35000"/>
                  </a:schemeClr>
                </a:solidFill>
                <a:latin typeface="Microsoft YaHei"/>
                <a:ea typeface="Microsoft YaHei"/>
                <a:cs typeface="Microsoft YaHei"/>
              </a:rPr>
              <a:t>防制方案上路後，高雄 </a:t>
            </a:r>
            <a:r>
              <a:rPr lang="en-US" sz="1600" b="1">
                <a:solidFill>
                  <a:schemeClr val="tx1">
                    <a:lumMod val="65000"/>
                    <a:lumOff val="35000"/>
                  </a:schemeClr>
                </a:solidFill>
                <a:latin typeface="Microsoft YaHei"/>
                <a:ea typeface="Microsoft YaHei"/>
                <a:cs typeface="Microsoft YaHei"/>
              </a:rPr>
              <a:t>MDA8 O₃ </a:t>
            </a:r>
            <a:r>
              <a:rPr lang="zh-TW" altLang="en-US" sz="1600" b="1">
                <a:solidFill>
                  <a:schemeClr val="tx1">
                    <a:lumMod val="65000"/>
                    <a:lumOff val="35000"/>
                  </a:schemeClr>
                </a:solidFill>
                <a:latin typeface="Microsoft YaHei"/>
                <a:ea typeface="Microsoft YaHei"/>
                <a:cs typeface="Microsoft YaHei"/>
              </a:rPr>
              <a:t>改善了嗎？</a:t>
            </a:r>
            <a:r>
              <a:rPr lang="en-US" altLang="zh-TW" sz="1600" b="1">
                <a:solidFill>
                  <a:schemeClr val="tx1">
                    <a:lumMod val="65000"/>
                    <a:lumOff val="35000"/>
                  </a:schemeClr>
                </a:solidFill>
                <a:latin typeface="Microsoft YaHei"/>
                <a:ea typeface="Microsoft YaHei"/>
                <a:cs typeface="Microsoft YaHei"/>
              </a:rPr>
              <a:t>——</a:t>
            </a:r>
            <a:r>
              <a:rPr lang="zh-TW" altLang="en-US" sz="1600" b="1">
                <a:solidFill>
                  <a:schemeClr val="tx1">
                    <a:lumMod val="65000"/>
                    <a:lumOff val="35000"/>
                  </a:schemeClr>
                </a:solidFill>
                <a:latin typeface="Microsoft YaHei"/>
                <a:ea typeface="Microsoft YaHei"/>
                <a:cs typeface="Microsoft YaHei"/>
              </a:rPr>
              <a:t>原始資料看不出來（−</a:t>
            </a:r>
            <a:r>
              <a:rPr lang="en-US" altLang="zh-TW" sz="1600" b="1">
                <a:solidFill>
                  <a:schemeClr val="tx1">
                    <a:lumMod val="65000"/>
                    <a:lumOff val="35000"/>
                  </a:schemeClr>
                </a:solidFill>
                <a:latin typeface="Microsoft YaHei"/>
                <a:ea typeface="Microsoft YaHei"/>
                <a:cs typeface="Microsoft YaHei"/>
              </a:rPr>
              <a:t>0.56 </a:t>
            </a:r>
            <a:r>
              <a:rPr lang="en-US" sz="1600" b="1">
                <a:solidFill>
                  <a:schemeClr val="tx1">
                    <a:lumMod val="65000"/>
                    <a:lumOff val="35000"/>
                  </a:schemeClr>
                </a:solidFill>
                <a:latin typeface="Microsoft YaHei"/>
                <a:ea typeface="Microsoft YaHei"/>
                <a:cs typeface="Microsoft YaHei"/>
              </a:rPr>
              <a:t>ppb/</a:t>
            </a:r>
            <a:r>
              <a:rPr lang="en-US" sz="1600" b="1" err="1">
                <a:solidFill>
                  <a:schemeClr val="tx1">
                    <a:lumMod val="65000"/>
                    <a:lumOff val="35000"/>
                  </a:schemeClr>
                </a:solidFill>
                <a:latin typeface="Microsoft YaHei"/>
                <a:ea typeface="Microsoft YaHei"/>
                <a:cs typeface="Microsoft YaHei"/>
              </a:rPr>
              <a:t>yr，p</a:t>
            </a:r>
            <a:r>
              <a:rPr lang="en-US" sz="1600" b="1">
                <a:solidFill>
                  <a:schemeClr val="tx1">
                    <a:lumMod val="65000"/>
                    <a:lumOff val="35000"/>
                  </a:schemeClr>
                </a:solidFill>
                <a:latin typeface="Microsoft YaHei"/>
                <a:ea typeface="Microsoft YaHei"/>
                <a:cs typeface="Microsoft YaHei"/>
              </a:rPr>
              <a:t> = 0.14）</a:t>
            </a:r>
            <a:endParaRPr sz="1600" b="1">
              <a:solidFill>
                <a:schemeClr val="tx1">
                  <a:lumMod val="65000"/>
                  <a:lumOff val="35000"/>
                </a:schemeClr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0" name="文字方塊 29">
            <a:extLst>
              <a:ext uri="{FF2B5EF4-FFF2-40B4-BE49-F238E27FC236}">
                <a16:creationId xmlns:a16="http://schemas.microsoft.com/office/drawing/2014/main" id="{A487B859-2C07-3A00-7E1B-C56EFB311407}"/>
              </a:ext>
            </a:extLst>
          </p:cNvPr>
          <p:cNvSpPr>
            <a:spLocks noGrp="1"/>
          </p:cNvSpPr>
          <p:nvPr/>
        </p:nvSpPr>
        <p:spPr>
          <a:xfrm>
            <a:off x="1125661" y="2112686"/>
            <a:ext cx="606530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b="1">
                <a:solidFill>
                  <a:schemeClr val="accent5">
                    <a:lumMod val="50000"/>
                  </a:schemeClr>
                </a:solidFill>
                <a:latin typeface="Microsoft YaHei"/>
                <a:ea typeface="Microsoft YaHei"/>
                <a:cs typeface="Microsoft YaHei"/>
              </a:rPr>
              <a:t>資料與方法</a:t>
            </a:r>
            <a:endParaRPr sz="2400" b="1">
              <a:solidFill>
                <a:schemeClr val="accent5">
                  <a:lumMod val="50000"/>
                </a:schemeClr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1" name="文字方塊 30">
            <a:extLst>
              <a:ext uri="{FF2B5EF4-FFF2-40B4-BE49-F238E27FC236}">
                <a16:creationId xmlns:a16="http://schemas.microsoft.com/office/drawing/2014/main" id="{FBE941A4-EA5A-3D67-F9FB-FD4ED0BFC270}"/>
              </a:ext>
            </a:extLst>
          </p:cNvPr>
          <p:cNvSpPr>
            <a:spLocks noGrp="1"/>
          </p:cNvSpPr>
          <p:nvPr/>
        </p:nvSpPr>
        <p:spPr>
          <a:xfrm>
            <a:off x="1517697" y="2574351"/>
            <a:ext cx="9065804" cy="11568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TW" altLang="zh-TW" sz="1600" b="1">
                <a:solidFill>
                  <a:schemeClr val="tx1">
                    <a:lumMod val="65000"/>
                    <a:lumOff val="35000"/>
                  </a:schemeClr>
                </a:solidFill>
                <a:latin typeface="Microsoft YaHei"/>
                <a:ea typeface="Microsoft YaHei"/>
              </a:rPr>
              <a:t>環境部 12 測站 × 8 年（35,064 站日，有效率 99.8%）</a:t>
            </a:r>
            <a:endParaRPr lang="en-US" altLang="zh-TW" sz="1600" b="1">
              <a:solidFill>
                <a:schemeClr val="tx1">
                  <a:lumMod val="65000"/>
                  <a:lumOff val="35000"/>
                </a:schemeClr>
              </a:solidFill>
              <a:latin typeface="Microsoft YaHei"/>
              <a:ea typeface="Microsoft YaHei"/>
            </a:endParaRPr>
          </a:p>
          <a:p>
            <a:pPr algn="just">
              <a:lnSpc>
                <a:spcPct val="150000"/>
              </a:lnSpc>
            </a:pPr>
            <a:r>
              <a:rPr lang="zh-TW" altLang="zh-TW" sz="1600" b="1">
                <a:solidFill>
                  <a:schemeClr val="tx1">
                    <a:lumMod val="65000"/>
                    <a:lumOff val="35000"/>
                  </a:schemeClr>
                </a:solidFill>
                <a:latin typeface="Microsoft YaHei"/>
                <a:ea typeface="Microsoft YaHei"/>
              </a:rPr>
              <a:t>隨機森林氣象常態化：扣除天氣波動，讓逐日資料在相同氣象條件下比較；Seasonal Mann-Kendall 檢定趨勢</a:t>
            </a:r>
            <a:endParaRPr sz="1600" b="1">
              <a:solidFill>
                <a:schemeClr val="tx1">
                  <a:lumMod val="65000"/>
                  <a:lumOff val="35000"/>
                </a:schemeClr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2" name="文字方塊 29">
            <a:extLst>
              <a:ext uri="{FF2B5EF4-FFF2-40B4-BE49-F238E27FC236}">
                <a16:creationId xmlns:a16="http://schemas.microsoft.com/office/drawing/2014/main" id="{3F5501D5-B9A7-7059-A950-47F8F8C33719}"/>
              </a:ext>
            </a:extLst>
          </p:cNvPr>
          <p:cNvSpPr>
            <a:spLocks noGrp="1"/>
          </p:cNvSpPr>
          <p:nvPr/>
        </p:nvSpPr>
        <p:spPr>
          <a:xfrm>
            <a:off x="1125661" y="3818304"/>
            <a:ext cx="606530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b="1">
                <a:solidFill>
                  <a:schemeClr val="accent5">
                    <a:lumMod val="50000"/>
                  </a:schemeClr>
                </a:solidFill>
                <a:latin typeface="Microsoft YaHei"/>
                <a:ea typeface="Microsoft YaHei"/>
                <a:cs typeface="Microsoft YaHei"/>
              </a:rPr>
              <a:t>主要發現</a:t>
            </a:r>
            <a:endParaRPr sz="2400" b="1">
              <a:solidFill>
                <a:schemeClr val="accent5">
                  <a:lumMod val="50000"/>
                </a:schemeClr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3" name="文字方塊 30">
            <a:extLst>
              <a:ext uri="{FF2B5EF4-FFF2-40B4-BE49-F238E27FC236}">
                <a16:creationId xmlns:a16="http://schemas.microsoft.com/office/drawing/2014/main" id="{703917A1-C4F4-8B3D-5135-716C733D1B60}"/>
              </a:ext>
            </a:extLst>
          </p:cNvPr>
          <p:cNvSpPr>
            <a:spLocks noGrp="1"/>
          </p:cNvSpPr>
          <p:nvPr/>
        </p:nvSpPr>
        <p:spPr>
          <a:xfrm>
            <a:off x="1517697" y="4279969"/>
            <a:ext cx="9065804" cy="7875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TW" altLang="en-US" sz="1600" b="1">
                <a:solidFill>
                  <a:schemeClr val="tx1">
                    <a:lumMod val="65000"/>
                    <a:lumOff val="35000"/>
                  </a:schemeClr>
                </a:solidFill>
                <a:latin typeface="Microsoft YaHei"/>
                <a:ea typeface="Microsoft YaHei"/>
              </a:rPr>
              <a:t>調整前：−</a:t>
            </a:r>
            <a:r>
              <a:rPr lang="en-US" altLang="zh-TW" sz="1600" b="1">
                <a:solidFill>
                  <a:schemeClr val="tx1">
                    <a:lumMod val="65000"/>
                    <a:lumOff val="35000"/>
                  </a:schemeClr>
                </a:solidFill>
                <a:latin typeface="Microsoft YaHei"/>
                <a:ea typeface="Microsoft YaHei"/>
              </a:rPr>
              <a:t>0.56 ppb/yr</a:t>
            </a:r>
            <a:r>
              <a:rPr lang="zh-TW" altLang="en-US" sz="1600" b="1">
                <a:solidFill>
                  <a:schemeClr val="tx1">
                    <a:lumMod val="65000"/>
                    <a:lumOff val="35000"/>
                  </a:schemeClr>
                </a:solidFill>
                <a:latin typeface="Microsoft YaHei"/>
                <a:ea typeface="Microsoft YaHei"/>
              </a:rPr>
              <a:t>（</a:t>
            </a:r>
            <a:r>
              <a:rPr lang="en-US" altLang="zh-TW" sz="1600" b="1">
                <a:solidFill>
                  <a:schemeClr val="tx1">
                    <a:lumMod val="65000"/>
                    <a:lumOff val="35000"/>
                  </a:schemeClr>
                </a:solidFill>
                <a:latin typeface="Microsoft YaHei"/>
                <a:ea typeface="Microsoft YaHei"/>
              </a:rPr>
              <a:t>p = 0.14</a:t>
            </a:r>
            <a:r>
              <a:rPr lang="zh-TW" altLang="en-US" sz="1600" b="1">
                <a:solidFill>
                  <a:schemeClr val="tx1">
                    <a:lumMod val="65000"/>
                    <a:lumOff val="35000"/>
                  </a:schemeClr>
                </a:solidFill>
                <a:latin typeface="Microsoft YaHei"/>
                <a:ea typeface="Microsoft YaHei"/>
              </a:rPr>
              <a:t>，不顯著）　→　調整後：−</a:t>
            </a:r>
            <a:r>
              <a:rPr lang="en-US" altLang="zh-TW" sz="1600" b="1">
                <a:solidFill>
                  <a:schemeClr val="tx1">
                    <a:lumMod val="65000"/>
                    <a:lumOff val="35000"/>
                  </a:schemeClr>
                </a:solidFill>
                <a:latin typeface="Microsoft YaHei"/>
                <a:ea typeface="Microsoft YaHei"/>
              </a:rPr>
              <a:t>0.28 ppb/yr</a:t>
            </a:r>
            <a:r>
              <a:rPr lang="zh-TW" altLang="en-US" sz="1600" b="1">
                <a:solidFill>
                  <a:schemeClr val="tx1">
                    <a:lumMod val="65000"/>
                    <a:lumOff val="35000"/>
                  </a:schemeClr>
                </a:solidFill>
                <a:latin typeface="Microsoft YaHei"/>
                <a:ea typeface="Microsoft YaHei"/>
              </a:rPr>
              <a:t>（</a:t>
            </a:r>
            <a:r>
              <a:rPr lang="en-US" altLang="zh-TW" sz="1600" b="1">
                <a:solidFill>
                  <a:schemeClr val="tx1">
                    <a:lumMod val="65000"/>
                    <a:lumOff val="35000"/>
                  </a:schemeClr>
                </a:solidFill>
                <a:latin typeface="Microsoft YaHei"/>
                <a:ea typeface="Microsoft YaHei"/>
              </a:rPr>
              <a:t>p &lt; 0.001</a:t>
            </a:r>
            <a:r>
              <a:rPr lang="zh-TW" altLang="en-US" sz="1600" b="1">
                <a:solidFill>
                  <a:schemeClr val="tx1">
                    <a:lumMod val="65000"/>
                    <a:lumOff val="35000"/>
                  </a:schemeClr>
                </a:solidFill>
                <a:latin typeface="Microsoft YaHei"/>
                <a:ea typeface="Microsoft YaHei"/>
              </a:rPr>
              <a:t>）</a:t>
            </a:r>
            <a:endParaRPr lang="en-US" altLang="zh-TW" sz="1600" b="1">
              <a:solidFill>
                <a:schemeClr val="tx1">
                  <a:lumMod val="65000"/>
                  <a:lumOff val="35000"/>
                </a:schemeClr>
              </a:solidFill>
              <a:latin typeface="Microsoft YaHei"/>
              <a:ea typeface="Microsoft YaHei"/>
            </a:endParaRPr>
          </a:p>
          <a:p>
            <a:pPr algn="just">
              <a:lnSpc>
                <a:spcPct val="150000"/>
              </a:lnSpc>
            </a:pPr>
            <a:r>
              <a:rPr lang="en-US" altLang="zh-TW" sz="1600" b="1">
                <a:solidFill>
                  <a:schemeClr val="tx1">
                    <a:lumMod val="65000"/>
                    <a:lumOff val="35000"/>
                  </a:schemeClr>
                </a:solidFill>
                <a:latin typeface="Microsoft YaHei"/>
                <a:ea typeface="Microsoft YaHei"/>
              </a:rPr>
              <a:t>12 </a:t>
            </a:r>
            <a:r>
              <a:rPr lang="zh-TW" altLang="en-US" sz="1600" b="1">
                <a:solidFill>
                  <a:schemeClr val="tx1">
                    <a:lumMod val="65000"/>
                    <a:lumOff val="35000"/>
                  </a:schemeClr>
                </a:solidFill>
                <a:latin typeface="Microsoft YaHei"/>
                <a:ea typeface="Microsoft YaHei"/>
              </a:rPr>
              <a:t>站全為負向、多重敏感度分析皆穩健 → 改善是真的，只是被天氣遮住</a:t>
            </a:r>
            <a:endParaRPr sz="1600" b="1">
              <a:solidFill>
                <a:schemeClr val="tx1">
                  <a:lumMod val="65000"/>
                  <a:lumOff val="35000"/>
                </a:schemeClr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4" name="文字方塊 29">
            <a:extLst>
              <a:ext uri="{FF2B5EF4-FFF2-40B4-BE49-F238E27FC236}">
                <a16:creationId xmlns:a16="http://schemas.microsoft.com/office/drawing/2014/main" id="{027927CC-EAD7-B5BB-CFCC-E5FEB3A2A5AB}"/>
              </a:ext>
            </a:extLst>
          </p:cNvPr>
          <p:cNvSpPr>
            <a:spLocks noGrp="1"/>
          </p:cNvSpPr>
          <p:nvPr/>
        </p:nvSpPr>
        <p:spPr>
          <a:xfrm>
            <a:off x="1125661" y="5154590"/>
            <a:ext cx="606530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b="1">
                <a:solidFill>
                  <a:schemeClr val="accent5">
                    <a:lumMod val="50000"/>
                  </a:schemeClr>
                </a:solidFill>
                <a:latin typeface="Microsoft YaHei"/>
                <a:ea typeface="Microsoft YaHei"/>
                <a:cs typeface="Microsoft YaHei"/>
              </a:rPr>
              <a:t>附帶發現</a:t>
            </a:r>
            <a:endParaRPr sz="2400" b="1">
              <a:solidFill>
                <a:schemeClr val="accent5">
                  <a:lumMod val="50000"/>
                </a:schemeClr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5" name="文字方塊 30">
            <a:extLst>
              <a:ext uri="{FF2B5EF4-FFF2-40B4-BE49-F238E27FC236}">
                <a16:creationId xmlns:a16="http://schemas.microsoft.com/office/drawing/2014/main" id="{CEF420BF-DFEA-C0BE-1B3C-920D5EFE17F8}"/>
              </a:ext>
            </a:extLst>
          </p:cNvPr>
          <p:cNvSpPr>
            <a:spLocks noGrp="1"/>
          </p:cNvSpPr>
          <p:nvPr/>
        </p:nvSpPr>
        <p:spPr>
          <a:xfrm>
            <a:off x="1517697" y="5616255"/>
            <a:ext cx="9065804" cy="4181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TW" altLang="en-US" sz="1600" b="1">
                <a:solidFill>
                  <a:schemeClr val="tx1">
                    <a:lumMod val="65000"/>
                    <a:lumOff val="35000"/>
                  </a:schemeClr>
                </a:solidFill>
                <a:latin typeface="Microsoft YaHei"/>
                <a:ea typeface="Microsoft YaHei"/>
              </a:rPr>
              <a:t>高臭氧日集中於秋、春季的乾燥晴朗向岸風日；林園為空間熱區</a:t>
            </a:r>
            <a:endParaRPr sz="1600" b="1">
              <a:solidFill>
                <a:schemeClr val="tx1">
                  <a:lumMod val="65000"/>
                  <a:lumOff val="35000"/>
                </a:schemeClr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6" name="文字方塊 30">
            <a:extLst>
              <a:ext uri="{FF2B5EF4-FFF2-40B4-BE49-F238E27FC236}">
                <a16:creationId xmlns:a16="http://schemas.microsoft.com/office/drawing/2014/main" id="{37F3F0B4-257B-B8C3-EF4A-D07216E9110D}"/>
              </a:ext>
            </a:extLst>
          </p:cNvPr>
          <p:cNvSpPr>
            <a:spLocks noGrp="1"/>
          </p:cNvSpPr>
          <p:nvPr/>
        </p:nvSpPr>
        <p:spPr>
          <a:xfrm>
            <a:off x="86360" y="6363260"/>
            <a:ext cx="10779392" cy="4181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TW" sz="1600">
                <a:solidFill>
                  <a:schemeClr val="bg2">
                    <a:lumMod val="50000"/>
                  </a:schemeClr>
                </a:solidFill>
                <a:latin typeface="Microsoft YaHei"/>
                <a:ea typeface="Microsoft YaHei"/>
              </a:rPr>
              <a:t>Take-home message : </a:t>
            </a:r>
            <a:r>
              <a:rPr lang="zh-TW" altLang="en-US" sz="1600">
                <a:solidFill>
                  <a:schemeClr val="bg2">
                    <a:lumMod val="50000"/>
                  </a:schemeClr>
                </a:solidFill>
                <a:latin typeface="Microsoft YaHei"/>
                <a:ea typeface="Microsoft YaHei"/>
              </a:rPr>
              <a:t>評估空污政策成效必須先扣除氣象變異</a:t>
            </a:r>
            <a:r>
              <a:rPr lang="en-US" altLang="zh-TW" sz="1600">
                <a:solidFill>
                  <a:schemeClr val="bg2">
                    <a:lumMod val="50000"/>
                  </a:schemeClr>
                </a:solidFill>
                <a:latin typeface="Microsoft YaHei"/>
                <a:ea typeface="Microsoft YaHei"/>
              </a:rPr>
              <a:t>——</a:t>
            </a:r>
            <a:r>
              <a:rPr lang="zh-TW" altLang="en-US" sz="1600">
                <a:solidFill>
                  <a:schemeClr val="bg2">
                    <a:lumMod val="50000"/>
                  </a:schemeClr>
                </a:solidFill>
                <a:latin typeface="Microsoft YaHei"/>
                <a:ea typeface="Microsoft YaHei"/>
              </a:rPr>
              <a:t>否則真實的改善會被誤判為「無效」</a:t>
            </a:r>
            <a:endParaRPr sz="1600">
              <a:solidFill>
                <a:schemeClr val="bg2">
                  <a:lumMod val="50000"/>
                </a:schemeClr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42182202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F31B85A9-CEC8-8844-9A06-B56912A6AF84}"/>
              </a:ext>
            </a:extLst>
          </p:cNvPr>
          <p:cNvSpPr>
            <a:spLocks noGrp="1"/>
          </p:cNvSpPr>
          <p:nvPr/>
        </p:nvSpPr>
        <p:spPr>
          <a:xfrm>
            <a:off x="0" y="3089802"/>
            <a:ext cx="12192000" cy="1414821"/>
          </a:xfrm>
          <a:prstGeom prst="rect">
            <a:avLst/>
          </a:prstGeom>
          <a:gradFill>
            <a:gsLst>
              <a:gs pos="0">
                <a:srgbClr val="2F3871">
                  <a:alpha val="0"/>
                </a:srgbClr>
              </a:gs>
              <a:gs pos="56000">
                <a:srgbClr val="2F3871">
                  <a:alpha val="76000"/>
                </a:srgb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27A17E9-5A2C-953D-0FE0-42AEA666F56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47782"/>
          </a:xfrm>
          <a:prstGeom prst="rect">
            <a:avLst/>
          </a:prstGeom>
          <a:solidFill>
            <a:srgbClr val="2F3D4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4" name="橢圓 23">
            <a:extLst>
              <a:ext uri="{FF2B5EF4-FFF2-40B4-BE49-F238E27FC236}">
                <a16:creationId xmlns:a16="http://schemas.microsoft.com/office/drawing/2014/main" id="{FC652FD7-BB14-E8E9-5C55-0AC379C4A204}"/>
              </a:ext>
            </a:extLst>
          </p:cNvPr>
          <p:cNvSpPr>
            <a:spLocks noGrp="1"/>
          </p:cNvSpPr>
          <p:nvPr/>
        </p:nvSpPr>
        <p:spPr>
          <a:xfrm>
            <a:off x="5048701" y="464033"/>
            <a:ext cx="3269389" cy="3269389"/>
          </a:xfrm>
          <a:prstGeom prst="ellipse">
            <a:avLst/>
          </a:prstGeom>
          <a:solidFill>
            <a:schemeClr val="accent5">
              <a:lumMod val="50000"/>
              <a:alpha val="3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5" name="橢圓 24">
            <a:extLst>
              <a:ext uri="{FF2B5EF4-FFF2-40B4-BE49-F238E27FC236}">
                <a16:creationId xmlns:a16="http://schemas.microsoft.com/office/drawing/2014/main" id="{828B959A-B7DD-BA0D-4268-333BFA0EC74B}"/>
              </a:ext>
            </a:extLst>
          </p:cNvPr>
          <p:cNvSpPr>
            <a:spLocks noGrp="1"/>
          </p:cNvSpPr>
          <p:nvPr/>
        </p:nvSpPr>
        <p:spPr>
          <a:xfrm>
            <a:off x="-1209367" y="1904999"/>
            <a:ext cx="3048000" cy="3048000"/>
          </a:xfrm>
          <a:prstGeom prst="ellipse">
            <a:avLst/>
          </a:prstGeom>
          <a:solidFill>
            <a:schemeClr val="accent5">
              <a:lumMod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6" name="橢圓 25">
            <a:extLst>
              <a:ext uri="{FF2B5EF4-FFF2-40B4-BE49-F238E27FC236}">
                <a16:creationId xmlns:a16="http://schemas.microsoft.com/office/drawing/2014/main" id="{D2D1F5DE-6926-EE23-CAD9-3E8748814249}"/>
              </a:ext>
            </a:extLst>
          </p:cNvPr>
          <p:cNvSpPr>
            <a:spLocks noGrp="1"/>
          </p:cNvSpPr>
          <p:nvPr/>
        </p:nvSpPr>
        <p:spPr>
          <a:xfrm>
            <a:off x="9906000" y="1219775"/>
            <a:ext cx="3048000" cy="3048000"/>
          </a:xfrm>
          <a:prstGeom prst="ellipse">
            <a:avLst/>
          </a:prstGeom>
          <a:solidFill>
            <a:schemeClr val="accent5">
              <a:lumMod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54E8CA68-F025-1672-874C-351981F1CD33}"/>
              </a:ext>
            </a:extLst>
          </p:cNvPr>
          <p:cNvSpPr>
            <a:spLocks noGrp="1"/>
          </p:cNvSpPr>
          <p:nvPr/>
        </p:nvSpPr>
        <p:spPr>
          <a:xfrm>
            <a:off x="314633" y="3217338"/>
            <a:ext cx="708128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>
                <a:solidFill>
                  <a:schemeClr val="bg1"/>
                </a:solidFill>
              </a:rPr>
              <a:t>01 Introduction</a:t>
            </a:r>
          </a:p>
        </p:txBody>
      </p:sp>
    </p:spTree>
    <p:extLst>
      <p:ext uri="{BB962C8B-B14F-4D97-AF65-F5344CB8AC3E}">
        <p14:creationId xmlns:p14="http://schemas.microsoft.com/office/powerpoint/2010/main" val="25712093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CFEE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>
            <a:extLst>
              <a:ext uri="{FF2B5EF4-FFF2-40B4-BE49-F238E27FC236}">
                <a16:creationId xmlns:a16="http://schemas.microsoft.com/office/drawing/2014/main" id="{454C4206-8834-D105-D245-2670B6434DC2}"/>
              </a:ext>
            </a:extLst>
          </p:cNvPr>
          <p:cNvSpPr>
            <a:spLocks noGrp="1"/>
          </p:cNvSpPr>
          <p:nvPr/>
        </p:nvSpPr>
        <p:spPr>
          <a:xfrm>
            <a:off x="0" y="6319520"/>
            <a:ext cx="12192000" cy="538480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68F175C0-E362-E7B5-F635-F26CD842553D}"/>
              </a:ext>
            </a:extLst>
          </p:cNvPr>
          <p:cNvSpPr>
            <a:spLocks noGrp="1"/>
          </p:cNvSpPr>
          <p:nvPr/>
        </p:nvSpPr>
        <p:spPr>
          <a:xfrm>
            <a:off x="3810000" y="1342269"/>
            <a:ext cx="7213600" cy="2295012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81A8177E-F6FD-3A95-7C90-D91EADA385B0}"/>
              </a:ext>
            </a:extLst>
          </p:cNvPr>
          <p:cNvSpPr>
            <a:spLocks noGrp="1"/>
          </p:cNvSpPr>
          <p:nvPr/>
        </p:nvSpPr>
        <p:spPr>
          <a:xfrm>
            <a:off x="86360" y="299169"/>
            <a:ext cx="12034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b="1" i="0">
                <a:solidFill>
                  <a:srgbClr val="2F3C72"/>
                </a:solidFill>
                <a:latin typeface="Microsoft YaHei"/>
                <a:ea typeface="Microsoft YaHei"/>
                <a:cs typeface="Microsoft YaHei"/>
              </a:rPr>
              <a:t> Introduction1 </a:t>
            </a:r>
            <a:r>
              <a:rPr sz="1600" b="1" i="0">
                <a:solidFill>
                  <a:srgbClr val="2F3C72"/>
                </a:solidFill>
                <a:latin typeface="Microsoft YaHei"/>
                <a:ea typeface="Microsoft YaHei"/>
                <a:cs typeface="Microsoft YaHei"/>
              </a:rPr>
              <a:t>Background</a:t>
            </a:r>
            <a:r>
              <a:rPr b="1" i="0">
                <a:solidFill>
                  <a:srgbClr val="2F3C72"/>
                </a:solidFill>
                <a:latin typeface="Microsoft YaHei"/>
                <a:ea typeface="Microsoft YaHei"/>
                <a:cs typeface="Microsoft YaHei"/>
              </a:rPr>
              <a:t> &amp; Motivation — </a:t>
            </a:r>
            <a:r>
              <a:rPr sz="1200" b="1" i="0">
                <a:solidFill>
                  <a:srgbClr val="2F3C72"/>
                </a:solidFill>
                <a:latin typeface="Microsoft YaHei"/>
                <a:ea typeface="Microsoft YaHei"/>
                <a:cs typeface="Microsoft YaHei"/>
              </a:rPr>
              <a:t>Ozone formation, Regulatory metric</a:t>
            </a:r>
            <a:endParaRPr b="1" i="0">
              <a:solidFill>
                <a:srgbClr val="2F3C72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6723EC67-B498-E7B4-79BD-8DEA6A587934}"/>
              </a:ext>
            </a:extLst>
          </p:cNvPr>
          <p:cNvSpPr>
            <a:spLocks noGrp="1"/>
          </p:cNvSpPr>
          <p:nvPr/>
        </p:nvSpPr>
        <p:spPr>
          <a:xfrm>
            <a:off x="3870960" y="2239643"/>
            <a:ext cx="520192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4000" b="1" dirty="0">
                <a:solidFill>
                  <a:schemeClr val="bg2">
                    <a:lumMod val="50000"/>
                  </a:schemeClr>
                </a:solidFill>
                <a:latin typeface="Microsoft YaHei"/>
                <a:ea typeface="Microsoft YaHei"/>
                <a:cs typeface="Microsoft YaHei"/>
              </a:rPr>
              <a:t>NOₓ + VOCs </a:t>
            </a:r>
            <a:r>
              <a:rPr sz="4000" b="1" dirty="0">
                <a:solidFill>
                  <a:schemeClr val="accent5">
                    <a:lumMod val="50000"/>
                  </a:schemeClr>
                </a:solidFill>
                <a:latin typeface="Microsoft YaHei"/>
                <a:ea typeface="Microsoft YaHei"/>
                <a:cs typeface="Microsoft YaHei"/>
              </a:rPr>
              <a:t>→ </a:t>
            </a:r>
            <a:r>
              <a:rPr sz="4000" b="1" u="sng" dirty="0">
                <a:solidFill>
                  <a:schemeClr val="accent5">
                    <a:lumMod val="75000"/>
                  </a:schemeClr>
                </a:solidFill>
                <a:latin typeface="Microsoft YaHei"/>
                <a:ea typeface="Microsoft YaHei"/>
                <a:cs typeface="Microsoft YaHei"/>
              </a:rPr>
              <a:t>O₃</a:t>
            </a:r>
          </a:p>
        </p:txBody>
      </p:sp>
      <p:pic>
        <p:nvPicPr>
          <p:cNvPr id="33" name="圖形 13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23760" y="1517529"/>
            <a:ext cx="914400" cy="914400"/>
          </a:xfrm>
          <a:prstGeom prst="rect">
            <a:avLst/>
          </a:prstGeom>
        </p:spPr>
      </p:pic>
      <p:sp>
        <p:nvSpPr>
          <p:cNvPr id="16" name="文字方塊 15">
            <a:extLst>
              <a:ext uri="{FF2B5EF4-FFF2-40B4-BE49-F238E27FC236}">
                <a16:creationId xmlns:a16="http://schemas.microsoft.com/office/drawing/2014/main" id="{DB5C6D7E-252A-E2F6-7599-52943AD9C685}"/>
              </a:ext>
            </a:extLst>
          </p:cNvPr>
          <p:cNvSpPr>
            <a:spLocks noGrp="1"/>
          </p:cNvSpPr>
          <p:nvPr/>
        </p:nvSpPr>
        <p:spPr>
          <a:xfrm>
            <a:off x="7477760" y="2892433"/>
            <a:ext cx="31902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chemeClr val="accent5">
                    <a:lumMod val="75000"/>
                  </a:schemeClr>
                </a:solidFill>
                <a:latin typeface="-apple-system-body"/>
                <a:ea typeface="-apple-system-body"/>
                <a:cs typeface="-apple-system-body"/>
              </a:rPr>
              <a:t>secondary pollutant</a:t>
            </a:r>
            <a:endParaRPr sz="400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50E4D0DA-F60D-72EF-F1CF-5283F0A1D853}"/>
              </a:ext>
            </a:extLst>
          </p:cNvPr>
          <p:cNvSpPr>
            <a:spLocks noGrp="1"/>
          </p:cNvSpPr>
          <p:nvPr/>
        </p:nvSpPr>
        <p:spPr>
          <a:xfrm>
            <a:off x="4064000" y="4153685"/>
            <a:ext cx="6705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2800" b="1">
                <a:solidFill>
                  <a:schemeClr val="accent5">
                    <a:lumMod val="75000"/>
                  </a:schemeClr>
                </a:solidFill>
                <a:latin typeface="-apple-system-body"/>
                <a:ea typeface="-apple-system-body"/>
                <a:cs typeface="-apple-system-body"/>
              </a:rPr>
              <a:t>MDA8 is the key regulatory metric</a:t>
            </a: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E14BF541-0228-3C38-097B-C297194CA75C}"/>
              </a:ext>
            </a:extLst>
          </p:cNvPr>
          <p:cNvSpPr>
            <a:spLocks noGrp="1"/>
          </p:cNvSpPr>
          <p:nvPr/>
        </p:nvSpPr>
        <p:spPr>
          <a:xfrm>
            <a:off x="5382260" y="4817405"/>
            <a:ext cx="3683000" cy="408623"/>
          </a:xfrm>
          <a:prstGeom prst="round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pPr algn="ctr">
              <a:buNone/>
            </a:pPr>
            <a:r>
              <a:rPr>
                <a:latin typeface="Cascadia Code"/>
                <a:ea typeface="Cascadia Code"/>
                <a:cs typeface="Cascadia Code"/>
              </a:rPr>
              <a:t>Taiwan standard = 60 ppb</a:t>
            </a:r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E3C81A2-34FE-CFE3-DDCD-C3795EDEBF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9F68E2-31C2-4D90-A536-67698CDE3376}" type="slidenum">
              <a:rPr/>
              <a:t>4</a:t>
            </a:fld>
            <a:endParaRPr/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8E1406BE-A253-4A5B-B186-07A20A56973F}"/>
              </a:ext>
            </a:extLst>
          </p:cNvPr>
          <p:cNvSpPr>
            <a:spLocks noGrp="1"/>
          </p:cNvSpPr>
          <p:nvPr/>
        </p:nvSpPr>
        <p:spPr>
          <a:xfrm>
            <a:off x="2651760" y="5742432"/>
            <a:ext cx="5486400" cy="5303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8900" tIns="38100" rIns="88900" bIns="38100" anchor="ctr">
            <a:normAutofit/>
          </a:bodyPr>
          <a:lstStyle/>
          <a:p>
            <a:pPr algn="l">
              <a:buNone/>
            </a:pPr>
            <a:r>
              <a:rPr sz="1100" b="1">
                <a:solidFill>
                  <a:srgbClr val="1F5C9E"/>
                </a:solidFill>
                <a:latin typeface="Microsoft JhengHei"/>
                <a:ea typeface="Microsoft JhengHei"/>
                <a:cs typeface="Microsoft JhengHei"/>
              </a:rPr>
              <a:t>【說明】</a:t>
            </a:r>
            <a:r>
              <a:rPr sz="1100">
                <a:solidFill>
                  <a:srgbClr val="222222"/>
                </a:solidFill>
                <a:latin typeface="Microsoft JhengHei"/>
                <a:ea typeface="Microsoft JhengHei"/>
                <a:cs typeface="Microsoft JhengHei"/>
              </a:rPr>
              <a:t>臭氧為二次污染物,由 NOx 與 VOC 在陽光下光化學生成,而非直接排放;法規指標為 MDA8,台灣標準 60 ppb。</a:t>
            </a:r>
          </a:p>
        </p:txBody>
      </p:sp>
    </p:spTree>
    <p:extLst>
      <p:ext uri="{BB962C8B-B14F-4D97-AF65-F5344CB8AC3E}">
        <p14:creationId xmlns:p14="http://schemas.microsoft.com/office/powerpoint/2010/main" val="17800730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13FCF52C-B1F4-2CA7-0F08-19F561E9D3ED}"/>
              </a:ext>
            </a:extLst>
          </p:cNvPr>
          <p:cNvSpPr>
            <a:spLocks noGrp="1"/>
          </p:cNvSpPr>
          <p:nvPr/>
        </p:nvSpPr>
        <p:spPr>
          <a:xfrm>
            <a:off x="0" y="6319520"/>
            <a:ext cx="12192000" cy="538480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22E72371-BF11-D24C-2B23-EABDD55DD293}"/>
              </a:ext>
            </a:extLst>
          </p:cNvPr>
          <p:cNvSpPr>
            <a:spLocks noGrp="1"/>
          </p:cNvSpPr>
          <p:nvPr/>
        </p:nvSpPr>
        <p:spPr>
          <a:xfrm>
            <a:off x="4064000" y="4534655"/>
            <a:ext cx="6705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2800" b="1">
                <a:solidFill>
                  <a:schemeClr val="accent5">
                    <a:lumMod val="75000"/>
                  </a:schemeClr>
                </a:solidFill>
                <a:latin typeface="-apple-system-body"/>
                <a:ea typeface="-apple-system-body"/>
                <a:cs typeface="-apple-system-body"/>
              </a:rPr>
              <a:t>MDA8 is the key regulatory metric</a:t>
            </a: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879625FE-0058-4F33-2A8A-2F3898E3ED92}"/>
              </a:ext>
            </a:extLst>
          </p:cNvPr>
          <p:cNvSpPr>
            <a:spLocks noGrp="1"/>
          </p:cNvSpPr>
          <p:nvPr/>
        </p:nvSpPr>
        <p:spPr>
          <a:xfrm>
            <a:off x="5382260" y="5198375"/>
            <a:ext cx="3683000" cy="408623"/>
          </a:xfrm>
          <a:prstGeom prst="round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pPr algn="ctr">
              <a:buNone/>
            </a:pPr>
            <a:r>
              <a:rPr>
                <a:latin typeface="Cascadia Code"/>
                <a:ea typeface="Cascadia Code"/>
                <a:cs typeface="Cascadia Code"/>
              </a:rPr>
              <a:t>Taiwan standard = 60 ppb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8D45840E-B767-4A6A-6CFF-F94EA9522DCC}"/>
              </a:ext>
            </a:extLst>
          </p:cNvPr>
          <p:cNvSpPr>
            <a:spLocks noGrp="1"/>
          </p:cNvSpPr>
          <p:nvPr/>
        </p:nvSpPr>
        <p:spPr>
          <a:xfrm>
            <a:off x="86360" y="299169"/>
            <a:ext cx="120345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sz="3200" b="1" i="0">
                <a:solidFill>
                  <a:srgbClr val="2F3C72"/>
                </a:solidFill>
                <a:latin typeface="Microsoft YaHei"/>
                <a:ea typeface="Microsoft YaHei"/>
                <a:cs typeface="Microsoft YaHei"/>
              </a:rPr>
              <a:t> 01 Background &amp; Motivation — </a:t>
            </a:r>
            <a:r>
              <a:rPr sz="2000" b="1" i="0">
                <a:solidFill>
                  <a:srgbClr val="2F3C72"/>
                </a:solidFill>
                <a:latin typeface="Microsoft YaHei"/>
                <a:ea typeface="Microsoft YaHei"/>
                <a:cs typeface="Microsoft YaHei"/>
              </a:rPr>
              <a:t>Ozone formation, Regulatory metric</a:t>
            </a:r>
            <a:endParaRPr sz="3200" b="1" i="0">
              <a:solidFill>
                <a:srgbClr val="2F3C72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E474146A-B1FA-EFC7-F4CD-4757B811E2D5}"/>
              </a:ext>
            </a:extLst>
          </p:cNvPr>
          <p:cNvSpPr>
            <a:spLocks noGrp="1"/>
          </p:cNvSpPr>
          <p:nvPr/>
        </p:nvSpPr>
        <p:spPr>
          <a:xfrm>
            <a:off x="4064000" y="3823581"/>
            <a:ext cx="6705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2800" b="1">
                <a:solidFill>
                  <a:schemeClr val="accent5">
                    <a:lumMod val="75000"/>
                  </a:schemeClr>
                </a:solidFill>
                <a:latin typeface="-apple-system-body"/>
                <a:ea typeface="-apple-system-body"/>
                <a:cs typeface="-apple-system-body"/>
              </a:rPr>
              <a:t>MDA8 is the key regulatory metric</a:t>
            </a:r>
          </a:p>
        </p:txBody>
      </p:sp>
      <p:sp>
        <p:nvSpPr>
          <p:cNvPr id="8" name="手繪多邊形: 圖案 7">
            <a:extLst>
              <a:ext uri="{FF2B5EF4-FFF2-40B4-BE49-F238E27FC236}">
                <a16:creationId xmlns:a16="http://schemas.microsoft.com/office/drawing/2014/main" id="{45364EF8-C969-9471-8120-A8C4FAAF5AD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4192510 w 12192000"/>
              <a:gd name="csY0" fmla="*/ 1342269 h 6858000"/>
              <a:gd name="csX1" fmla="*/ 3810000 w 12192000"/>
              <a:gd name="csY1" fmla="*/ 1724779 h 6858000"/>
              <a:gd name="csX2" fmla="*/ 3810000 w 12192000"/>
              <a:gd name="csY2" fmla="*/ 3254771 h 6858000"/>
              <a:gd name="csX3" fmla="*/ 4192510 w 12192000"/>
              <a:gd name="csY3" fmla="*/ 3637281 h 6858000"/>
              <a:gd name="csX4" fmla="*/ 10641090 w 12192000"/>
              <a:gd name="csY4" fmla="*/ 3637281 h 6858000"/>
              <a:gd name="csX5" fmla="*/ 11023600 w 12192000"/>
              <a:gd name="csY5" fmla="*/ 3254771 h 6858000"/>
              <a:gd name="csX6" fmla="*/ 11023600 w 12192000"/>
              <a:gd name="csY6" fmla="*/ 1724779 h 6858000"/>
              <a:gd name="csX7" fmla="*/ 10641090 w 12192000"/>
              <a:gd name="csY7" fmla="*/ 1342269 h 6858000"/>
              <a:gd name="csX8" fmla="*/ 0 w 12192000"/>
              <a:gd name="csY8" fmla="*/ 0 h 6858000"/>
              <a:gd name="csX9" fmla="*/ 12192000 w 12192000"/>
              <a:gd name="csY9" fmla="*/ 0 h 6858000"/>
              <a:gd name="csX10" fmla="*/ 12192000 w 12192000"/>
              <a:gd name="csY10" fmla="*/ 6858000 h 6858000"/>
              <a:gd name="csX11" fmla="*/ 0 w 12192000"/>
              <a:gd name="csY11" fmla="*/ 6858000 h 6858000"/>
            </a:gdLst>
            <a:ahLst/>
            <a:cxnLst/>
            <a:rect l="l" t="t" r="r" b="b"/>
            <a:pathLst>
              <a:path w="12192000" h="6858000">
                <a:moveTo>
                  <a:pt x="4192510" y="1342269"/>
                </a:moveTo>
                <a:cubicBezTo>
                  <a:pt x="3981256" y="1342269"/>
                  <a:pt x="3810000" y="1513525"/>
                  <a:pt x="3810000" y="1724779"/>
                </a:cubicBezTo>
                <a:lnTo>
                  <a:pt x="3810000" y="3254771"/>
                </a:lnTo>
                <a:cubicBezTo>
                  <a:pt x="3810000" y="3466025"/>
                  <a:pt x="3981256" y="3637281"/>
                  <a:pt x="4192510" y="3637281"/>
                </a:cubicBezTo>
                <a:lnTo>
                  <a:pt x="10641090" y="3637281"/>
                </a:lnTo>
                <a:cubicBezTo>
                  <a:pt x="10852344" y="3637281"/>
                  <a:pt x="11023600" y="3466025"/>
                  <a:pt x="11023600" y="3254771"/>
                </a:cubicBezTo>
                <a:lnTo>
                  <a:pt x="11023600" y="1724779"/>
                </a:lnTo>
                <a:cubicBezTo>
                  <a:pt x="11023600" y="1513525"/>
                  <a:pt x="10852344" y="1342269"/>
                  <a:pt x="10641090" y="1342269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1">
              <a:alpha val="6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65B5FC23-0B2E-B67F-364A-CF2C565F1CC2}"/>
              </a:ext>
            </a:extLst>
          </p:cNvPr>
          <p:cNvSpPr>
            <a:spLocks noGrp="1"/>
          </p:cNvSpPr>
          <p:nvPr/>
        </p:nvSpPr>
        <p:spPr>
          <a:xfrm>
            <a:off x="3810000" y="1342268"/>
            <a:ext cx="7213600" cy="3544692"/>
          </a:xfrm>
          <a:prstGeom prst="roundRect">
            <a:avLst>
              <a:gd name="adj" fmla="val 5489"/>
            </a:avLst>
          </a:prstGeom>
          <a:solidFill>
            <a:schemeClr val="bg2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D5F28869-94FD-9C0E-6496-C83767EFBDDB}"/>
              </a:ext>
            </a:extLst>
          </p:cNvPr>
          <p:cNvSpPr>
            <a:spLocks noGrp="1"/>
          </p:cNvSpPr>
          <p:nvPr/>
        </p:nvSpPr>
        <p:spPr>
          <a:xfrm>
            <a:off x="3870960" y="2239643"/>
            <a:ext cx="520192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4000" b="1">
                <a:solidFill>
                  <a:srgbClr val="7030A0"/>
                </a:solidFill>
                <a:latin typeface="Microsoft YaHei"/>
                <a:ea typeface="Microsoft YaHei"/>
                <a:cs typeface="Microsoft YaHei"/>
              </a:rPr>
              <a:t>NOₓ + VOCs </a:t>
            </a:r>
            <a:r>
              <a:rPr sz="4000" b="1">
                <a:solidFill>
                  <a:schemeClr val="bg2">
                    <a:lumMod val="50000"/>
                  </a:schemeClr>
                </a:solidFill>
                <a:latin typeface="Microsoft YaHei"/>
                <a:ea typeface="Microsoft YaHei"/>
                <a:cs typeface="Microsoft YaHei"/>
              </a:rPr>
              <a:t>→ </a:t>
            </a:r>
            <a:r>
              <a:rPr sz="4000" b="1" u="sng">
                <a:solidFill>
                  <a:schemeClr val="bg2">
                    <a:lumMod val="50000"/>
                  </a:schemeClr>
                </a:solidFill>
                <a:latin typeface="Microsoft YaHei"/>
                <a:ea typeface="Microsoft YaHei"/>
                <a:cs typeface="Microsoft YaHei"/>
              </a:rPr>
              <a:t>O₃</a:t>
            </a:r>
          </a:p>
        </p:txBody>
      </p:sp>
      <p:pic>
        <p:nvPicPr>
          <p:cNvPr id="39" name="圖形 13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23760" y="1517529"/>
            <a:ext cx="914400" cy="914400"/>
          </a:xfrm>
          <a:prstGeom prst="rect">
            <a:avLst/>
          </a:prstGeom>
        </p:spPr>
      </p:pic>
      <p:sp>
        <p:nvSpPr>
          <p:cNvPr id="16" name="文字方塊 15">
            <a:extLst>
              <a:ext uri="{FF2B5EF4-FFF2-40B4-BE49-F238E27FC236}">
                <a16:creationId xmlns:a16="http://schemas.microsoft.com/office/drawing/2014/main" id="{21425292-83E8-FB50-C317-CFE7D2D1C0EC}"/>
              </a:ext>
            </a:extLst>
          </p:cNvPr>
          <p:cNvSpPr>
            <a:spLocks noGrp="1"/>
          </p:cNvSpPr>
          <p:nvPr/>
        </p:nvSpPr>
        <p:spPr>
          <a:xfrm>
            <a:off x="7477760" y="2892433"/>
            <a:ext cx="31902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chemeClr val="bg2">
                    <a:lumMod val="50000"/>
                  </a:schemeClr>
                </a:solidFill>
                <a:latin typeface="-apple-system-body"/>
                <a:ea typeface="-apple-system-body"/>
                <a:cs typeface="-apple-system-body"/>
              </a:rPr>
              <a:t>secondary pollutant</a:t>
            </a:r>
            <a:endParaRPr sz="400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C4220184-9168-682C-3F69-7B83B0EBBA16}"/>
              </a:ext>
            </a:extLst>
          </p:cNvPr>
          <p:cNvSpPr>
            <a:spLocks noGrp="1"/>
          </p:cNvSpPr>
          <p:nvPr/>
        </p:nvSpPr>
        <p:spPr>
          <a:xfrm>
            <a:off x="4064000" y="3702467"/>
            <a:ext cx="67056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sz="2800" b="1">
                <a:solidFill>
                  <a:srgbClr val="7030A0"/>
                </a:solidFill>
              </a:rPr>
              <a:t>Emissions</a:t>
            </a:r>
            <a:r>
              <a:rPr sz="2800" b="1">
                <a:solidFill>
                  <a:schemeClr val="bg1"/>
                </a:solidFill>
              </a:rPr>
              <a:t> </a:t>
            </a:r>
            <a:r>
              <a:rPr sz="2800" b="1">
                <a:solidFill>
                  <a:schemeClr val="bg2">
                    <a:lumMod val="50000"/>
                  </a:schemeClr>
                </a:solidFill>
              </a:rPr>
              <a:t>change slowly, but </a:t>
            </a:r>
            <a:r>
              <a:rPr sz="2800" b="1">
                <a:ln>
                  <a:solidFill>
                    <a:schemeClr val="tx1"/>
                  </a:solidFill>
                </a:ln>
                <a:solidFill>
                  <a:srgbClr val="FFFF00"/>
                </a:solidFill>
              </a:rPr>
              <a:t>weather</a:t>
            </a:r>
            <a:r>
              <a:rPr sz="2800" b="1">
                <a:solidFill>
                  <a:schemeClr val="bg1"/>
                </a:solidFill>
              </a:rPr>
              <a:t> </a:t>
            </a:r>
            <a:r>
              <a:rPr sz="2800" b="1">
                <a:solidFill>
                  <a:schemeClr val="bg2">
                    <a:lumMod val="50000"/>
                  </a:schemeClr>
                </a:solidFill>
              </a:rPr>
              <a:t>changes daily.</a:t>
            </a: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D2B5A9D8-AFE2-E724-C3BF-F33425F1E8A4}"/>
              </a:ext>
            </a:extLst>
          </p:cNvPr>
          <p:cNvSpPr>
            <a:spLocks noGrp="1"/>
          </p:cNvSpPr>
          <p:nvPr/>
        </p:nvSpPr>
        <p:spPr>
          <a:xfrm>
            <a:off x="457200" y="354498"/>
            <a:ext cx="67056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"/>
                <a:ea typeface="Microsoft YaHei"/>
                <a:cs typeface="Microsoft YaHei"/>
              </a:rPr>
              <a:t>Why meteorology?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25F814ED-B447-4708-16F4-9B78495933F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9F68E2-31C2-4D90-A536-67698CDE3376}" type="slidenum">
              <a:rPr/>
              <a:t>5</a:t>
            </a:fld>
            <a:endParaRPr/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F551C030-ED5D-4FD8-B33B-BCE4C0E931CD}"/>
              </a:ext>
            </a:extLst>
          </p:cNvPr>
          <p:cNvSpPr>
            <a:spLocks noGrp="1"/>
          </p:cNvSpPr>
          <p:nvPr/>
        </p:nvSpPr>
        <p:spPr>
          <a:xfrm>
            <a:off x="2651760" y="5742432"/>
            <a:ext cx="5486400" cy="5303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8900" tIns="38100" rIns="88900" bIns="38100" anchor="ctr">
            <a:normAutofit/>
          </a:bodyPr>
          <a:lstStyle/>
          <a:p>
            <a:pPr algn="l">
              <a:buNone/>
            </a:pPr>
            <a:r>
              <a:rPr sz="1100" b="1">
                <a:solidFill>
                  <a:srgbClr val="1F5C9E"/>
                </a:solidFill>
                <a:latin typeface="Microsoft JhengHei"/>
                <a:ea typeface="Microsoft JhengHei"/>
                <a:cs typeface="Microsoft JhengHei"/>
              </a:rPr>
              <a:t>【說明】</a:t>
            </a:r>
            <a:r>
              <a:rPr sz="1100">
                <a:solidFill>
                  <a:srgbClr val="222222"/>
                </a:solidFill>
                <a:latin typeface="Microsoft JhengHei"/>
                <a:ea typeface="Microsoft JhengHei"/>
                <a:cs typeface="Microsoft JhengHei"/>
              </a:rPr>
              <a:t>排放量變化緩慢、天氣逐日改變,臭氧的短期起伏主要由氣象主導;本研究因此聚焦於量化氣象對臭氧的影響。</a:t>
            </a:r>
          </a:p>
        </p:txBody>
      </p:sp>
    </p:spTree>
    <p:extLst>
      <p:ext uri="{BB962C8B-B14F-4D97-AF65-F5344CB8AC3E}">
        <p14:creationId xmlns:p14="http://schemas.microsoft.com/office/powerpoint/2010/main" val="1289882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43F55258-E50E-DAFC-94AF-B963CFD3909F}"/>
              </a:ext>
            </a:extLst>
          </p:cNvPr>
          <p:cNvSpPr>
            <a:spLocks noGrp="1"/>
          </p:cNvSpPr>
          <p:nvPr/>
        </p:nvSpPr>
        <p:spPr>
          <a:xfrm>
            <a:off x="0" y="6319520"/>
            <a:ext cx="12192000" cy="538480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6759D376-A3BC-A573-75E6-3729B4AE632A}"/>
              </a:ext>
            </a:extLst>
          </p:cNvPr>
          <p:cNvSpPr>
            <a:spLocks noGrp="1"/>
          </p:cNvSpPr>
          <p:nvPr/>
        </p:nvSpPr>
        <p:spPr>
          <a:xfrm>
            <a:off x="4064000" y="4534655"/>
            <a:ext cx="6705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2800" b="1">
                <a:solidFill>
                  <a:schemeClr val="accent5">
                    <a:lumMod val="75000"/>
                  </a:schemeClr>
                </a:solidFill>
                <a:latin typeface="-apple-system-body"/>
                <a:ea typeface="-apple-system-body"/>
                <a:cs typeface="-apple-system-body"/>
              </a:rPr>
              <a:t>MDA8 is the key regulatory metric</a:t>
            </a: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13D65DC4-3972-9734-36B6-6C6C6E57C85A}"/>
              </a:ext>
            </a:extLst>
          </p:cNvPr>
          <p:cNvSpPr>
            <a:spLocks noGrp="1"/>
          </p:cNvSpPr>
          <p:nvPr/>
        </p:nvSpPr>
        <p:spPr>
          <a:xfrm>
            <a:off x="5382260" y="5198375"/>
            <a:ext cx="3683000" cy="408623"/>
          </a:xfrm>
          <a:prstGeom prst="round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pPr algn="ctr">
              <a:buNone/>
            </a:pPr>
            <a:r>
              <a:rPr>
                <a:latin typeface="Cascadia Code"/>
                <a:ea typeface="Cascadia Code"/>
                <a:cs typeface="Cascadia Code"/>
              </a:rPr>
              <a:t>Taiwan standard = 60 ppb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940D83F9-940A-293F-8F1B-A26B5EC94052}"/>
              </a:ext>
            </a:extLst>
          </p:cNvPr>
          <p:cNvSpPr>
            <a:spLocks noGrp="1"/>
          </p:cNvSpPr>
          <p:nvPr/>
        </p:nvSpPr>
        <p:spPr>
          <a:xfrm>
            <a:off x="86360" y="299169"/>
            <a:ext cx="120345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sz="3200" b="1" i="0">
                <a:solidFill>
                  <a:srgbClr val="2F3C72"/>
                </a:solidFill>
                <a:latin typeface="Microsoft YaHei"/>
                <a:ea typeface="Microsoft YaHei"/>
                <a:cs typeface="Microsoft YaHei"/>
              </a:rPr>
              <a:t> 01 Background &amp; Motivation — </a:t>
            </a:r>
            <a:r>
              <a:rPr sz="2000" b="1" i="0">
                <a:solidFill>
                  <a:srgbClr val="2F3C72"/>
                </a:solidFill>
                <a:latin typeface="Microsoft YaHei"/>
                <a:ea typeface="Microsoft YaHei"/>
                <a:cs typeface="Microsoft YaHei"/>
              </a:rPr>
              <a:t>Ozone formation, Regulatory metric</a:t>
            </a:r>
            <a:endParaRPr sz="3200" b="1" i="0">
              <a:solidFill>
                <a:srgbClr val="2F3C72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8B75A538-1FC5-8D94-360B-98184251000E}"/>
              </a:ext>
            </a:extLst>
          </p:cNvPr>
          <p:cNvSpPr>
            <a:spLocks noGrp="1"/>
          </p:cNvSpPr>
          <p:nvPr/>
        </p:nvSpPr>
        <p:spPr>
          <a:xfrm>
            <a:off x="4064000" y="3823581"/>
            <a:ext cx="6705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2800" b="1">
                <a:solidFill>
                  <a:schemeClr val="accent5">
                    <a:lumMod val="75000"/>
                  </a:schemeClr>
                </a:solidFill>
                <a:latin typeface="-apple-system-body"/>
                <a:ea typeface="-apple-system-body"/>
                <a:cs typeface="-apple-system-body"/>
              </a:rPr>
              <a:t>MDA8 is the key regulatory metric</a:t>
            </a:r>
          </a:p>
        </p:txBody>
      </p:sp>
      <p:sp>
        <p:nvSpPr>
          <p:cNvPr id="8" name="手繪多邊形: 圖案 7">
            <a:extLst>
              <a:ext uri="{FF2B5EF4-FFF2-40B4-BE49-F238E27FC236}">
                <a16:creationId xmlns:a16="http://schemas.microsoft.com/office/drawing/2014/main" id="{079EC6FE-FEC0-8413-2ECA-CAA30A25D4D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4192510 w 12192000"/>
              <a:gd name="csY0" fmla="*/ 1342269 h 6858000"/>
              <a:gd name="csX1" fmla="*/ 3810000 w 12192000"/>
              <a:gd name="csY1" fmla="*/ 1724779 h 6858000"/>
              <a:gd name="csX2" fmla="*/ 3810000 w 12192000"/>
              <a:gd name="csY2" fmla="*/ 3254771 h 6858000"/>
              <a:gd name="csX3" fmla="*/ 4192510 w 12192000"/>
              <a:gd name="csY3" fmla="*/ 3637281 h 6858000"/>
              <a:gd name="csX4" fmla="*/ 10641090 w 12192000"/>
              <a:gd name="csY4" fmla="*/ 3637281 h 6858000"/>
              <a:gd name="csX5" fmla="*/ 11023600 w 12192000"/>
              <a:gd name="csY5" fmla="*/ 3254771 h 6858000"/>
              <a:gd name="csX6" fmla="*/ 11023600 w 12192000"/>
              <a:gd name="csY6" fmla="*/ 1724779 h 6858000"/>
              <a:gd name="csX7" fmla="*/ 10641090 w 12192000"/>
              <a:gd name="csY7" fmla="*/ 1342269 h 6858000"/>
              <a:gd name="csX8" fmla="*/ 0 w 12192000"/>
              <a:gd name="csY8" fmla="*/ 0 h 6858000"/>
              <a:gd name="csX9" fmla="*/ 12192000 w 12192000"/>
              <a:gd name="csY9" fmla="*/ 0 h 6858000"/>
              <a:gd name="csX10" fmla="*/ 12192000 w 12192000"/>
              <a:gd name="csY10" fmla="*/ 6858000 h 6858000"/>
              <a:gd name="csX11" fmla="*/ 0 w 12192000"/>
              <a:gd name="csY11" fmla="*/ 6858000 h 6858000"/>
            </a:gdLst>
            <a:ahLst/>
            <a:cxnLst/>
            <a:rect l="l" t="t" r="r" b="b"/>
            <a:pathLst>
              <a:path w="12192000" h="6858000">
                <a:moveTo>
                  <a:pt x="4192510" y="1342269"/>
                </a:moveTo>
                <a:cubicBezTo>
                  <a:pt x="3981256" y="1342269"/>
                  <a:pt x="3810000" y="1513525"/>
                  <a:pt x="3810000" y="1724779"/>
                </a:cubicBezTo>
                <a:lnTo>
                  <a:pt x="3810000" y="3254771"/>
                </a:lnTo>
                <a:cubicBezTo>
                  <a:pt x="3810000" y="3466025"/>
                  <a:pt x="3981256" y="3637281"/>
                  <a:pt x="4192510" y="3637281"/>
                </a:cubicBezTo>
                <a:lnTo>
                  <a:pt x="10641090" y="3637281"/>
                </a:lnTo>
                <a:cubicBezTo>
                  <a:pt x="10852344" y="3637281"/>
                  <a:pt x="11023600" y="3466025"/>
                  <a:pt x="11023600" y="3254771"/>
                </a:cubicBezTo>
                <a:lnTo>
                  <a:pt x="11023600" y="1724779"/>
                </a:lnTo>
                <a:cubicBezTo>
                  <a:pt x="11023600" y="1513525"/>
                  <a:pt x="10852344" y="1342269"/>
                  <a:pt x="10641090" y="1342269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1">
              <a:alpha val="6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644FF56D-3350-F269-601A-27DA8CE8BF00}"/>
              </a:ext>
            </a:extLst>
          </p:cNvPr>
          <p:cNvSpPr>
            <a:spLocks noGrp="1"/>
          </p:cNvSpPr>
          <p:nvPr/>
        </p:nvSpPr>
        <p:spPr>
          <a:xfrm>
            <a:off x="3810000" y="1342268"/>
            <a:ext cx="7213600" cy="3544692"/>
          </a:xfrm>
          <a:prstGeom prst="roundRect">
            <a:avLst>
              <a:gd name="adj" fmla="val 5489"/>
            </a:avLst>
          </a:prstGeom>
          <a:solidFill>
            <a:schemeClr val="bg2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EB2687C8-9121-2BF0-78EE-1AF7FAC3B620}"/>
              </a:ext>
            </a:extLst>
          </p:cNvPr>
          <p:cNvSpPr>
            <a:spLocks noGrp="1"/>
          </p:cNvSpPr>
          <p:nvPr/>
        </p:nvSpPr>
        <p:spPr>
          <a:xfrm>
            <a:off x="4064000" y="3840520"/>
            <a:ext cx="6705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sz="2800" b="1">
                <a:solidFill>
                  <a:srgbClr val="7030A0"/>
                </a:solidFill>
              </a:rPr>
              <a:t>Kaohsiung is a persistent </a:t>
            </a:r>
            <a:r>
              <a:rPr sz="2800" b="1">
                <a:solidFill>
                  <a:srgbClr val="C00000"/>
                </a:solidFill>
              </a:rPr>
              <a:t>O₃ hotspot</a:t>
            </a: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2EF744D3-E903-F4F7-50D1-7F8C39E77FCC}"/>
              </a:ext>
            </a:extLst>
          </p:cNvPr>
          <p:cNvSpPr>
            <a:spLocks noGrp="1"/>
          </p:cNvSpPr>
          <p:nvPr/>
        </p:nvSpPr>
        <p:spPr>
          <a:xfrm>
            <a:off x="457200" y="354498"/>
            <a:ext cx="67056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"/>
                <a:ea typeface="Microsoft YaHei"/>
                <a:cs typeface="Microsoft YaHei"/>
              </a:rPr>
              <a:t>Why Kaohsiung?</a:t>
            </a:r>
          </a:p>
        </p:txBody>
      </p:sp>
      <p:pic>
        <p:nvPicPr>
          <p:cNvPr id="38" name="圖形 3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39840" y="1686600"/>
            <a:ext cx="2153920" cy="2153920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889CADF8-CBE5-9073-2C37-22D3F959405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9F68E2-31C2-4D90-A536-67698CDE3376}" type="slidenum">
              <a:rPr/>
              <a:t>6</a:t>
            </a:fld>
            <a:endParaRPr/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58B8F151-F507-4DF3-97C3-4DED5969EF31}"/>
              </a:ext>
            </a:extLst>
          </p:cNvPr>
          <p:cNvSpPr>
            <a:spLocks noGrp="1"/>
          </p:cNvSpPr>
          <p:nvPr/>
        </p:nvSpPr>
        <p:spPr>
          <a:xfrm>
            <a:off x="2651760" y="5742432"/>
            <a:ext cx="5486400" cy="5303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8900" tIns="38100" rIns="88900" bIns="38100" anchor="ctr">
            <a:normAutofit/>
          </a:bodyPr>
          <a:lstStyle/>
          <a:p>
            <a:pPr algn="l">
              <a:buNone/>
            </a:pPr>
            <a:r>
              <a:rPr sz="1100" b="1">
                <a:solidFill>
                  <a:srgbClr val="1F5C9E"/>
                </a:solidFill>
                <a:latin typeface="Microsoft JhengHei"/>
                <a:ea typeface="Microsoft JhengHei"/>
                <a:cs typeface="Microsoft JhengHei"/>
              </a:rPr>
              <a:t>【說明】</a:t>
            </a:r>
            <a:r>
              <a:rPr sz="1100">
                <a:solidFill>
                  <a:srgbClr val="222222"/>
                </a:solidFill>
                <a:latin typeface="Microsoft JhengHei"/>
                <a:ea typeface="Microsoft JhengHei"/>
                <a:cs typeface="Microsoft JhengHei"/>
              </a:rPr>
              <a:t>高雄工業與石化密集,是台灣長期的臭氧熱點、常有超標,適合用來檢視臭氧問題與減量成效。</a:t>
            </a:r>
          </a:p>
        </p:txBody>
      </p:sp>
    </p:spTree>
    <p:extLst>
      <p:ext uri="{BB962C8B-B14F-4D97-AF65-F5344CB8AC3E}">
        <p14:creationId xmlns:p14="http://schemas.microsoft.com/office/powerpoint/2010/main" val="6547953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矩形 32">
            <a:extLst>
              <a:ext uri="{FF2B5EF4-FFF2-40B4-BE49-F238E27FC236}">
                <a16:creationId xmlns:a16="http://schemas.microsoft.com/office/drawing/2014/main" id="{B8CCBE29-DE17-B59A-021D-80D003721714}"/>
              </a:ext>
            </a:extLst>
          </p:cNvPr>
          <p:cNvSpPr>
            <a:spLocks noGrp="1"/>
          </p:cNvSpPr>
          <p:nvPr/>
        </p:nvSpPr>
        <p:spPr>
          <a:xfrm>
            <a:off x="0" y="6319520"/>
            <a:ext cx="12192000" cy="538480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FFF145C0-2F16-3808-BFA9-4399E485874A}"/>
              </a:ext>
            </a:extLst>
          </p:cNvPr>
          <p:cNvSpPr>
            <a:spLocks noGrp="1"/>
          </p:cNvSpPr>
          <p:nvPr/>
        </p:nvSpPr>
        <p:spPr>
          <a:xfrm>
            <a:off x="86360" y="299169"/>
            <a:ext cx="120345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2F3C72"/>
                </a:solidFill>
                <a:latin typeface="Microsoft YaHei"/>
                <a:ea typeface="Microsoft YaHei"/>
                <a:cs typeface="Microsoft YaHei"/>
              </a:rPr>
              <a:t> </a:t>
            </a:r>
            <a:r>
              <a:rPr sz="2800" b="1">
                <a:solidFill>
                  <a:srgbClr val="2F3C72"/>
                </a:solidFill>
                <a:latin typeface="Microsoft YaHei"/>
                <a:ea typeface="Microsoft YaHei"/>
                <a:cs typeface="Microsoft YaHei"/>
              </a:rPr>
              <a:t>Introduction</a:t>
            </a:r>
            <a:r>
              <a:rPr sz="2800" b="1" i="0">
                <a:solidFill>
                  <a:srgbClr val="2F3C72"/>
                </a:solidFill>
                <a:latin typeface="Microsoft YaHei"/>
                <a:ea typeface="Microsoft YaHei"/>
                <a:cs typeface="Microsoft YaHei"/>
              </a:rPr>
              <a:t>2 Objectives</a:t>
            </a: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995EA75E-0728-1B43-8AED-CDCA40226E44}"/>
              </a:ext>
            </a:extLst>
          </p:cNvPr>
          <p:cNvSpPr>
            <a:spLocks noGrp="1"/>
          </p:cNvSpPr>
          <p:nvPr/>
        </p:nvSpPr>
        <p:spPr>
          <a:xfrm>
            <a:off x="1808622" y="3723910"/>
            <a:ext cx="706024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chemeClr val="accent5">
                    <a:lumMod val="50000"/>
                  </a:schemeClr>
                </a:solidFill>
                <a:latin typeface="Microsoft YaHei"/>
                <a:ea typeface="Microsoft YaHei"/>
                <a:cs typeface="Microsoft YaHei"/>
              </a:rPr>
              <a:t>III. Identify High-O₃ Conditions</a:t>
            </a: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3F628ED9-6CF7-A865-8219-B396AA56AFC9}"/>
              </a:ext>
            </a:extLst>
          </p:cNvPr>
          <p:cNvSpPr>
            <a:spLocks noGrp="1"/>
          </p:cNvSpPr>
          <p:nvPr/>
        </p:nvSpPr>
        <p:spPr>
          <a:xfrm>
            <a:off x="2461186" y="4202039"/>
            <a:ext cx="489195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chemeClr val="bg2">
                    <a:lumMod val="50000"/>
                  </a:schemeClr>
                </a:solidFill>
                <a:latin typeface="Microsoft YaHei"/>
                <a:ea typeface="Microsoft YaHei"/>
                <a:cs typeface="Microsoft YaHei"/>
              </a:rPr>
              <a:t>Meteorological profiles of event days</a:t>
            </a: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AB45CEBE-7B61-1AC7-E1E4-BE15F998AF5A}"/>
              </a:ext>
            </a:extLst>
          </p:cNvPr>
          <p:cNvSpPr>
            <a:spLocks noGrp="1"/>
          </p:cNvSpPr>
          <p:nvPr/>
        </p:nvSpPr>
        <p:spPr>
          <a:xfrm>
            <a:off x="610185" y="4817864"/>
            <a:ext cx="706024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chemeClr val="accent5">
                    <a:lumMod val="50000"/>
                  </a:schemeClr>
                </a:solidFill>
                <a:latin typeface="Microsoft YaHei"/>
                <a:ea typeface="Microsoft YaHei"/>
                <a:cs typeface="Microsoft YaHei"/>
              </a:rPr>
              <a:t>IV. Assess the Long-Term Trend</a:t>
            </a: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400AE5D8-93F8-9468-8AE6-3E6CA89400A3}"/>
              </a:ext>
            </a:extLst>
          </p:cNvPr>
          <p:cNvSpPr>
            <a:spLocks noGrp="1"/>
          </p:cNvSpPr>
          <p:nvPr/>
        </p:nvSpPr>
        <p:spPr>
          <a:xfrm>
            <a:off x="1255490" y="5284162"/>
            <a:ext cx="489195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chemeClr val="bg2">
                    <a:lumMod val="50000"/>
                  </a:schemeClr>
                </a:solidFill>
                <a:latin typeface="Microsoft YaHei"/>
                <a:ea typeface="Microsoft YaHei"/>
                <a:cs typeface="Microsoft YaHei"/>
              </a:rPr>
              <a:t>Changes during 2018–2025</a:t>
            </a: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9D26B4C8-2670-9AE0-2537-80C3A3565C36}"/>
              </a:ext>
            </a:extLst>
          </p:cNvPr>
          <p:cNvSpPr>
            <a:spLocks noGrp="1"/>
          </p:cNvSpPr>
          <p:nvPr/>
        </p:nvSpPr>
        <p:spPr>
          <a:xfrm>
            <a:off x="2929218" y="2637744"/>
            <a:ext cx="76354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chemeClr val="accent5">
                    <a:lumMod val="50000"/>
                  </a:schemeClr>
                </a:solidFill>
                <a:latin typeface="Microsoft YaHei"/>
                <a:ea typeface="Microsoft YaHei"/>
                <a:cs typeface="Microsoft YaHei"/>
              </a:rPr>
              <a:t>II. Quantify Meteorological Drivers</a:t>
            </a: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ACDE8DE9-74BA-C015-2668-B4427972ED36}"/>
              </a:ext>
            </a:extLst>
          </p:cNvPr>
          <p:cNvSpPr>
            <a:spLocks noGrp="1"/>
          </p:cNvSpPr>
          <p:nvPr/>
        </p:nvSpPr>
        <p:spPr>
          <a:xfrm>
            <a:off x="3473295" y="3108085"/>
            <a:ext cx="489195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chemeClr val="bg2">
                    <a:lumMod val="50000"/>
                  </a:schemeClr>
                </a:solidFill>
                <a:latin typeface="Microsoft YaHei"/>
                <a:ea typeface="Microsoft YaHei"/>
                <a:cs typeface="Microsoft YaHei"/>
              </a:rPr>
              <a:t>Key controls on MDA8 O₃</a:t>
            </a: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E6A4CFD5-9773-EDCD-F3AA-6E83B398C8B7}"/>
              </a:ext>
            </a:extLst>
          </p:cNvPr>
          <p:cNvSpPr>
            <a:spLocks noGrp="1"/>
          </p:cNvSpPr>
          <p:nvPr/>
        </p:nvSpPr>
        <p:spPr>
          <a:xfrm>
            <a:off x="3986556" y="1580748"/>
            <a:ext cx="606530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chemeClr val="accent5">
                    <a:lumMod val="50000"/>
                  </a:schemeClr>
                </a:solidFill>
                <a:latin typeface="Microsoft YaHei"/>
                <a:ea typeface="Microsoft YaHei"/>
                <a:cs typeface="Microsoft YaHei"/>
              </a:rPr>
              <a:t>I. Characterize O₃ Patterns</a:t>
            </a: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96CF5C6E-9E49-02B1-82D5-5663D5E5AB07}"/>
              </a:ext>
            </a:extLst>
          </p:cNvPr>
          <p:cNvSpPr>
            <a:spLocks noGrp="1"/>
          </p:cNvSpPr>
          <p:nvPr/>
        </p:nvSpPr>
        <p:spPr>
          <a:xfrm>
            <a:off x="4378592" y="2021919"/>
            <a:ext cx="489195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chemeClr val="bg2">
                    <a:lumMod val="50000"/>
                  </a:schemeClr>
                </a:solidFill>
                <a:latin typeface="Microsoft YaHei"/>
                <a:ea typeface="Microsoft YaHei"/>
                <a:cs typeface="Microsoft YaHei"/>
              </a:rPr>
              <a:t>Spatial and temporal variability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82419567-DF03-13B3-8FF3-61A14D93031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9F68E2-31C2-4D90-A536-67698CDE3376}" type="slidenum">
              <a:rPr/>
              <a:t>7</a:t>
            </a:fld>
            <a:endParaRPr/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B3C6B599-3330-4361-94F0-9EBEED572E5C}"/>
              </a:ext>
            </a:extLst>
          </p:cNvPr>
          <p:cNvSpPr>
            <a:spLocks noGrp="1"/>
          </p:cNvSpPr>
          <p:nvPr/>
        </p:nvSpPr>
        <p:spPr>
          <a:xfrm>
            <a:off x="411480" y="5788152"/>
            <a:ext cx="7863840" cy="4754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8900" tIns="38100" rIns="88900" bIns="38100" anchor="ctr">
            <a:normAutofit/>
          </a:bodyPr>
          <a:lstStyle/>
          <a:p>
            <a:pPr algn="l">
              <a:buNone/>
            </a:pPr>
            <a:r>
              <a:rPr sz="1100" b="1">
                <a:solidFill>
                  <a:srgbClr val="1F5C9E"/>
                </a:solidFill>
                <a:latin typeface="Microsoft JhengHei"/>
                <a:ea typeface="Microsoft JhengHei"/>
                <a:cs typeface="Microsoft JhengHei"/>
              </a:rPr>
              <a:t>【說明】</a:t>
            </a:r>
            <a:r>
              <a:rPr sz="1100">
                <a:solidFill>
                  <a:srgbClr val="222222"/>
                </a:solidFill>
                <a:latin typeface="Microsoft JhengHei"/>
                <a:ea typeface="Microsoft JhengHei"/>
                <a:cs typeface="Microsoft JhengHei"/>
              </a:rPr>
              <a:t>四項目標:描述臭氧時空分布、量化氣象驅動因子、辨識高臭氧事件的天氣條件,並檢定 2018–2025 的長期趨勢。</a:t>
            </a:r>
          </a:p>
        </p:txBody>
      </p:sp>
    </p:spTree>
    <p:extLst>
      <p:ext uri="{BB962C8B-B14F-4D97-AF65-F5344CB8AC3E}">
        <p14:creationId xmlns:p14="http://schemas.microsoft.com/office/powerpoint/2010/main" val="35972489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9F828742-37E2-F2D0-8569-E033ACC4C855}"/>
              </a:ext>
            </a:extLst>
          </p:cNvPr>
          <p:cNvSpPr>
            <a:spLocks noGrp="1"/>
          </p:cNvSpPr>
          <p:nvPr/>
        </p:nvSpPr>
        <p:spPr>
          <a:xfrm>
            <a:off x="0" y="3089802"/>
            <a:ext cx="12192000" cy="1414821"/>
          </a:xfrm>
          <a:prstGeom prst="rect">
            <a:avLst/>
          </a:prstGeom>
          <a:gradFill>
            <a:gsLst>
              <a:gs pos="0">
                <a:srgbClr val="2F3871">
                  <a:alpha val="0"/>
                </a:srgbClr>
              </a:gs>
              <a:gs pos="56000">
                <a:srgbClr val="2F3871">
                  <a:alpha val="76000"/>
                </a:srgb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A5365EBE-3E78-65D1-4031-D4C17A29AD5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47782"/>
          </a:xfrm>
          <a:prstGeom prst="rect">
            <a:avLst/>
          </a:prstGeom>
          <a:solidFill>
            <a:srgbClr val="2F3D4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4" name="橢圓 23">
            <a:extLst>
              <a:ext uri="{FF2B5EF4-FFF2-40B4-BE49-F238E27FC236}">
                <a16:creationId xmlns:a16="http://schemas.microsoft.com/office/drawing/2014/main" id="{8BCDCB37-E569-58D7-30D8-10A838E6AA31}"/>
              </a:ext>
            </a:extLst>
          </p:cNvPr>
          <p:cNvSpPr>
            <a:spLocks noGrp="1"/>
          </p:cNvSpPr>
          <p:nvPr/>
        </p:nvSpPr>
        <p:spPr>
          <a:xfrm>
            <a:off x="5048701" y="464033"/>
            <a:ext cx="3269389" cy="3269389"/>
          </a:xfrm>
          <a:prstGeom prst="ellipse">
            <a:avLst/>
          </a:prstGeom>
          <a:solidFill>
            <a:schemeClr val="accent5">
              <a:lumMod val="50000"/>
              <a:alpha val="3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5" name="橢圓 24">
            <a:extLst>
              <a:ext uri="{FF2B5EF4-FFF2-40B4-BE49-F238E27FC236}">
                <a16:creationId xmlns:a16="http://schemas.microsoft.com/office/drawing/2014/main" id="{99B3BD54-6679-6244-B51B-8CB1DF628AEE}"/>
              </a:ext>
            </a:extLst>
          </p:cNvPr>
          <p:cNvSpPr>
            <a:spLocks noGrp="1"/>
          </p:cNvSpPr>
          <p:nvPr/>
        </p:nvSpPr>
        <p:spPr>
          <a:xfrm>
            <a:off x="-1209367" y="1904999"/>
            <a:ext cx="3048000" cy="3048000"/>
          </a:xfrm>
          <a:prstGeom prst="ellipse">
            <a:avLst/>
          </a:prstGeom>
          <a:solidFill>
            <a:schemeClr val="accent5">
              <a:lumMod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6" name="橢圓 25">
            <a:extLst>
              <a:ext uri="{FF2B5EF4-FFF2-40B4-BE49-F238E27FC236}">
                <a16:creationId xmlns:a16="http://schemas.microsoft.com/office/drawing/2014/main" id="{0107417A-4E8E-E002-58E1-1CE89B690B25}"/>
              </a:ext>
            </a:extLst>
          </p:cNvPr>
          <p:cNvSpPr>
            <a:spLocks noGrp="1"/>
          </p:cNvSpPr>
          <p:nvPr/>
        </p:nvSpPr>
        <p:spPr>
          <a:xfrm>
            <a:off x="9906000" y="1219775"/>
            <a:ext cx="3048000" cy="3048000"/>
          </a:xfrm>
          <a:prstGeom prst="ellipse">
            <a:avLst/>
          </a:prstGeom>
          <a:solidFill>
            <a:schemeClr val="accent5">
              <a:lumMod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1E62CB27-1C62-62A6-6A8C-55EEDAA8EAC7}"/>
              </a:ext>
            </a:extLst>
          </p:cNvPr>
          <p:cNvSpPr>
            <a:spLocks noGrp="1"/>
          </p:cNvSpPr>
          <p:nvPr/>
        </p:nvSpPr>
        <p:spPr>
          <a:xfrm>
            <a:off x="314633" y="3217338"/>
            <a:ext cx="708128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>
                <a:solidFill>
                  <a:schemeClr val="bg1"/>
                </a:solidFill>
              </a:rPr>
              <a:t>02 Method</a:t>
            </a:r>
          </a:p>
        </p:txBody>
      </p:sp>
    </p:spTree>
    <p:extLst>
      <p:ext uri="{BB962C8B-B14F-4D97-AF65-F5344CB8AC3E}">
        <p14:creationId xmlns:p14="http://schemas.microsoft.com/office/powerpoint/2010/main" val="24990798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B7A5D13C-F9B6-7DC3-9E11-D55DC3081035}"/>
              </a:ext>
            </a:extLst>
          </p:cNvPr>
          <p:cNvSpPr>
            <a:spLocks noGrp="1"/>
          </p:cNvSpPr>
          <p:nvPr/>
        </p:nvSpPr>
        <p:spPr>
          <a:xfrm>
            <a:off x="0" y="6471374"/>
            <a:ext cx="12192000" cy="386626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C29B1FE3-D98A-B831-1CD1-EC8DABD18912}"/>
              </a:ext>
            </a:extLst>
          </p:cNvPr>
          <p:cNvSpPr>
            <a:spLocks noGrp="1"/>
          </p:cNvSpPr>
          <p:nvPr/>
        </p:nvSpPr>
        <p:spPr>
          <a:xfrm>
            <a:off x="4777772" y="1169043"/>
            <a:ext cx="7213600" cy="2641464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40" name="圖片 2"/>
          <p:cNvPicPr>
            <a:picLocks noChangeAspect="1"/>
          </p:cNvPicPr>
          <p:nvPr/>
        </p:nvPicPr>
        <p:blipFill>
          <a:blip r:embed="rId3"/>
          <a:srcRect b="40591"/>
          <a:stretch>
            <a:fillRect/>
          </a:stretch>
        </p:blipFill>
        <p:spPr>
          <a:xfrm>
            <a:off x="467766" y="1956122"/>
            <a:ext cx="4057018" cy="3408744"/>
          </a:xfrm>
          <a:prstGeom prst="roundRect">
            <a:avLst>
              <a:gd name="adj" fmla="val 7564"/>
            </a:avLst>
          </a:prstGeo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7D1E5826-6DB1-18B0-DC08-27DC247C07DD}"/>
              </a:ext>
            </a:extLst>
          </p:cNvPr>
          <p:cNvSpPr>
            <a:spLocks noGrp="1"/>
          </p:cNvSpPr>
          <p:nvPr/>
        </p:nvSpPr>
        <p:spPr>
          <a:xfrm>
            <a:off x="86360" y="309001"/>
            <a:ext cx="120345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sz="2800" b="1" i="0">
                <a:solidFill>
                  <a:srgbClr val="2F3C72"/>
                </a:solidFill>
                <a:latin typeface="Microsoft YaHei"/>
                <a:ea typeface="Microsoft YaHei"/>
                <a:cs typeface="Microsoft YaHei"/>
              </a:rPr>
              <a:t>Method1 Data &amp; Study Area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F8EBDE8A-A7CA-1F8D-BDF2-6EDC93EE61B2}"/>
              </a:ext>
            </a:extLst>
          </p:cNvPr>
          <p:cNvSpPr>
            <a:spLocks noGrp="1"/>
          </p:cNvSpPr>
          <p:nvPr/>
        </p:nvSpPr>
        <p:spPr>
          <a:xfrm>
            <a:off x="5031772" y="2459822"/>
            <a:ext cx="6705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2000" b="1">
                <a:solidFill>
                  <a:schemeClr val="accent5">
                    <a:lumMod val="75000"/>
                  </a:schemeClr>
                </a:solidFill>
                <a:latin typeface="Microsoft YaHei"/>
                <a:ea typeface="Microsoft YaHei"/>
                <a:cs typeface="Microsoft YaHei"/>
              </a:rPr>
              <a:t>Hourly O3</a:t>
            </a:r>
            <a:r>
              <a:rPr b="1">
                <a:solidFill>
                  <a:schemeClr val="accent5">
                    <a:lumMod val="75000"/>
                  </a:schemeClr>
                </a:solidFill>
                <a:latin typeface="Microsoft YaHei"/>
                <a:ea typeface="Microsoft YaHei"/>
                <a:cs typeface="Microsoft YaHei"/>
              </a:rPr>
              <a:t>​ </a:t>
            </a:r>
            <a:r>
              <a:rPr b="1">
                <a:solidFill>
                  <a:schemeClr val="bg2">
                    <a:lumMod val="50000"/>
                  </a:schemeClr>
                </a:solidFill>
                <a:latin typeface="Microsoft YaHei"/>
                <a:ea typeface="Microsoft YaHei"/>
                <a:cs typeface="Microsoft YaHei"/>
              </a:rPr>
              <a:t>→ </a:t>
            </a:r>
            <a:r>
              <a:rPr sz="2000" b="1">
                <a:solidFill>
                  <a:schemeClr val="accent5">
                    <a:lumMod val="75000"/>
                  </a:schemeClr>
                </a:solidFill>
                <a:latin typeface="Microsoft YaHei"/>
                <a:ea typeface="Microsoft YaHei"/>
                <a:cs typeface="Microsoft YaHei"/>
              </a:rPr>
              <a:t>8-h rolling mean </a:t>
            </a:r>
            <a:r>
              <a:rPr b="1">
                <a:solidFill>
                  <a:schemeClr val="bg2">
                    <a:lumMod val="50000"/>
                  </a:schemeClr>
                </a:solidFill>
                <a:latin typeface="Microsoft YaHei"/>
                <a:ea typeface="Microsoft YaHei"/>
                <a:cs typeface="Microsoft YaHei"/>
              </a:rPr>
              <a:t>→ </a:t>
            </a:r>
            <a:r>
              <a:rPr sz="2000" b="1">
                <a:solidFill>
                  <a:schemeClr val="accent5">
                    <a:lumMod val="75000"/>
                  </a:schemeClr>
                </a:solidFill>
                <a:latin typeface="Microsoft YaHei"/>
                <a:ea typeface="Microsoft YaHei"/>
                <a:cs typeface="Microsoft YaHei"/>
              </a:rPr>
              <a:t>Daily MDA8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92B3AD8A-F57A-0E43-68EB-30226BFA6C64}"/>
              </a:ext>
            </a:extLst>
          </p:cNvPr>
          <p:cNvSpPr>
            <a:spLocks noGrp="1"/>
          </p:cNvSpPr>
          <p:nvPr/>
        </p:nvSpPr>
        <p:spPr>
          <a:xfrm>
            <a:off x="5003158" y="1429089"/>
            <a:ext cx="60940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b="1">
                <a:latin typeface="Microsoft YaHei"/>
                <a:ea typeface="Microsoft YaHei"/>
                <a:cs typeface="Microsoft YaHei"/>
              </a:rPr>
              <a:t>Air Quality</a:t>
            </a:r>
          </a:p>
          <a:p>
            <a:pPr>
              <a:buNone/>
            </a:pPr>
            <a:r>
              <a:rPr b="1">
                <a:latin typeface="Microsoft YaHei"/>
                <a:ea typeface="Microsoft YaHei"/>
                <a:cs typeface="Microsoft YaHei"/>
              </a:rPr>
              <a:t>MOENV monitoring stations</a:t>
            </a:r>
            <a:endParaRPr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1A100B66-C761-4F41-9DD4-617E01EE873B}"/>
              </a:ext>
            </a:extLst>
          </p:cNvPr>
          <p:cNvSpPr>
            <a:spLocks noGrp="1"/>
          </p:cNvSpPr>
          <p:nvPr/>
        </p:nvSpPr>
        <p:spPr>
          <a:xfrm>
            <a:off x="5003158" y="3244334"/>
            <a:ext cx="60940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Microsoft YaHei"/>
                <a:ea typeface="Microsoft YaHei"/>
                <a:cs typeface="Microsoft YaHei"/>
              </a:rPr>
              <a:t>2018–2025</a:t>
            </a: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58CEB52D-535E-6EDA-B9E2-2FFDFA38FB35}"/>
              </a:ext>
            </a:extLst>
          </p:cNvPr>
          <p:cNvSpPr>
            <a:spLocks noGrp="1"/>
          </p:cNvSpPr>
          <p:nvPr/>
        </p:nvSpPr>
        <p:spPr>
          <a:xfrm>
            <a:off x="5124489" y="5004559"/>
            <a:ext cx="5220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3200" b="0" i="0">
                <a:solidFill>
                  <a:srgbClr val="0D0D0D"/>
                </a:solidFill>
                <a:latin typeface="Microsoft YaHei"/>
                <a:ea typeface="Microsoft YaHei"/>
                <a:cs typeface="Microsoft YaHei"/>
              </a:rPr>
              <a:t>🌡  </a:t>
            </a:r>
            <a:endParaRPr sz="4400"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CB74C576-949D-185A-626B-117D15461EA7}"/>
              </a:ext>
            </a:extLst>
          </p:cNvPr>
          <p:cNvSpPr>
            <a:spLocks noGrp="1"/>
          </p:cNvSpPr>
          <p:nvPr/>
        </p:nvSpPr>
        <p:spPr>
          <a:xfrm>
            <a:off x="5003158" y="4224153"/>
            <a:ext cx="60940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>
                <a:latin typeface="Microsoft YaHei"/>
                <a:ea typeface="Microsoft YaHei"/>
                <a:cs typeface="Microsoft YaHei"/>
              </a:rPr>
              <a:t>Meteorology</a:t>
            </a:r>
          </a:p>
          <a:p>
            <a:r>
              <a:rPr b="1">
                <a:latin typeface="Microsoft YaHei"/>
                <a:ea typeface="Microsoft YaHei"/>
                <a:cs typeface="Microsoft YaHei"/>
              </a:rPr>
              <a:t>Station-level observations</a:t>
            </a:r>
            <a:endParaRPr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CE1E5935-459C-53DC-9E43-F3CE199D549D}"/>
              </a:ext>
            </a:extLst>
          </p:cNvPr>
          <p:cNvSpPr>
            <a:spLocks noGrp="1"/>
          </p:cNvSpPr>
          <p:nvPr/>
        </p:nvSpPr>
        <p:spPr>
          <a:xfrm>
            <a:off x="5646577" y="5143059"/>
            <a:ext cx="141669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0D0D0D"/>
                </a:solidFill>
                <a:latin typeface="Microsoft YaHei"/>
                <a:ea typeface="Microsoft YaHei"/>
                <a:cs typeface="Microsoft YaHei"/>
              </a:rPr>
              <a:t>Temperature</a:t>
            </a:r>
            <a:endParaRPr sz="1200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1C8728FE-BD0A-9CF9-152D-8D6CA0170F45}"/>
              </a:ext>
            </a:extLst>
          </p:cNvPr>
          <p:cNvSpPr>
            <a:spLocks noGrp="1"/>
          </p:cNvSpPr>
          <p:nvPr/>
        </p:nvSpPr>
        <p:spPr>
          <a:xfrm>
            <a:off x="7063274" y="5004559"/>
            <a:ext cx="5220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3200" b="0" i="0">
                <a:solidFill>
                  <a:srgbClr val="0D0D0D"/>
                </a:solidFill>
                <a:latin typeface="Microsoft YaHei"/>
                <a:ea typeface="Microsoft YaHei"/>
                <a:cs typeface="Microsoft YaHei"/>
              </a:rPr>
              <a:t>💨 </a:t>
            </a:r>
            <a:endParaRPr sz="4400"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0822A488-8C3B-1854-799D-9EA966FDFF5D}"/>
              </a:ext>
            </a:extLst>
          </p:cNvPr>
          <p:cNvSpPr>
            <a:spLocks noGrp="1"/>
          </p:cNvSpPr>
          <p:nvPr/>
        </p:nvSpPr>
        <p:spPr>
          <a:xfrm>
            <a:off x="7585362" y="5143059"/>
            <a:ext cx="141669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0D0D0D"/>
                </a:solidFill>
                <a:latin typeface="Microsoft YaHei"/>
                <a:ea typeface="Microsoft YaHei"/>
                <a:cs typeface="Microsoft YaHei"/>
              </a:rPr>
              <a:t>Wind speed </a:t>
            </a:r>
            <a:endParaRPr sz="1200"/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5C331C6C-1831-E4D4-E108-B58DCB823349}"/>
              </a:ext>
            </a:extLst>
          </p:cNvPr>
          <p:cNvSpPr>
            <a:spLocks noGrp="1"/>
          </p:cNvSpPr>
          <p:nvPr/>
        </p:nvSpPr>
        <p:spPr>
          <a:xfrm>
            <a:off x="9002059" y="5004559"/>
            <a:ext cx="5220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3200" b="0" i="0">
                <a:solidFill>
                  <a:srgbClr val="0D0D0D"/>
                </a:solidFill>
                <a:latin typeface="Microsoft YaHei"/>
                <a:ea typeface="Microsoft YaHei"/>
                <a:cs typeface="Microsoft YaHei"/>
              </a:rPr>
              <a:t>🌧 </a:t>
            </a:r>
            <a:endParaRPr sz="4400"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6AF5DE08-39F3-FE95-CD3A-A507F4472F98}"/>
              </a:ext>
            </a:extLst>
          </p:cNvPr>
          <p:cNvSpPr>
            <a:spLocks noGrp="1"/>
          </p:cNvSpPr>
          <p:nvPr/>
        </p:nvSpPr>
        <p:spPr>
          <a:xfrm>
            <a:off x="9524147" y="5143059"/>
            <a:ext cx="141669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0D0D0D"/>
                </a:solidFill>
                <a:latin typeface="Microsoft YaHei"/>
                <a:ea typeface="Microsoft YaHei"/>
                <a:cs typeface="Microsoft YaHei"/>
              </a:rPr>
              <a:t>Precipitation</a:t>
            </a:r>
            <a:endParaRPr sz="120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FD3B3491-C8B8-E892-5773-1919DC0F29E7}"/>
              </a:ext>
            </a:extLst>
          </p:cNvPr>
          <p:cNvSpPr>
            <a:spLocks noGrp="1"/>
          </p:cNvSpPr>
          <p:nvPr/>
        </p:nvSpPr>
        <p:spPr>
          <a:xfrm>
            <a:off x="6159603" y="5707915"/>
            <a:ext cx="5220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3200" b="0" i="0">
                <a:solidFill>
                  <a:srgbClr val="0D0D0D"/>
                </a:solidFill>
                <a:latin typeface="Microsoft YaHei"/>
                <a:ea typeface="Microsoft YaHei"/>
                <a:cs typeface="Microsoft YaHei"/>
              </a:rPr>
              <a:t>🧭 </a:t>
            </a:r>
            <a:endParaRPr sz="4400"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43407FCA-0717-2E1B-12DC-5762FEE18FE8}"/>
              </a:ext>
            </a:extLst>
          </p:cNvPr>
          <p:cNvSpPr>
            <a:spLocks noGrp="1"/>
          </p:cNvSpPr>
          <p:nvPr/>
        </p:nvSpPr>
        <p:spPr>
          <a:xfrm>
            <a:off x="6680718" y="5846415"/>
            <a:ext cx="150434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0D0D0D"/>
                </a:solidFill>
                <a:latin typeface="Microsoft YaHei"/>
                <a:ea typeface="Microsoft YaHei"/>
                <a:cs typeface="Microsoft YaHei"/>
              </a:rPr>
              <a:t>Wind direction</a:t>
            </a:r>
            <a:endParaRPr sz="1200"/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99DC5A41-A5C6-419E-E8E6-E82C238B4B3A}"/>
              </a:ext>
            </a:extLst>
          </p:cNvPr>
          <p:cNvSpPr>
            <a:spLocks noGrp="1"/>
          </p:cNvSpPr>
          <p:nvPr/>
        </p:nvSpPr>
        <p:spPr>
          <a:xfrm>
            <a:off x="8185067" y="5745996"/>
            <a:ext cx="52208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2800" b="0" i="0">
                <a:solidFill>
                  <a:srgbClr val="0D0D0D"/>
                </a:solidFill>
                <a:latin typeface="Microsoft YaHei"/>
                <a:ea typeface="Microsoft YaHei"/>
                <a:cs typeface="Microsoft YaHei"/>
              </a:rPr>
              <a:t>💧 </a:t>
            </a:r>
            <a:endParaRPr sz="4000"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28A6BDDD-B87C-7C61-0106-9A96B304293C}"/>
              </a:ext>
            </a:extLst>
          </p:cNvPr>
          <p:cNvSpPr>
            <a:spLocks noGrp="1"/>
          </p:cNvSpPr>
          <p:nvPr/>
        </p:nvSpPr>
        <p:spPr>
          <a:xfrm>
            <a:off x="8707155" y="5846415"/>
            <a:ext cx="174313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0D0D0D"/>
                </a:solidFill>
                <a:latin typeface="Microsoft YaHei"/>
                <a:ea typeface="Microsoft YaHei"/>
                <a:cs typeface="Microsoft YaHei"/>
              </a:rPr>
              <a:t>Relative humidity</a:t>
            </a:r>
            <a:endParaRPr sz="1200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6E459E00-916E-55DA-3378-A74E38BD989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9F68E2-31C2-4D90-A536-67698CDE3376}" type="slidenum">
              <a:rPr/>
              <a:t>9</a:t>
            </a:fld>
            <a:endParaRPr/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7F64C35C-E9A8-4C91-85E2-6D60E1FD4EA0}"/>
              </a:ext>
            </a:extLst>
          </p:cNvPr>
          <p:cNvSpPr>
            <a:spLocks noGrp="1"/>
          </p:cNvSpPr>
          <p:nvPr/>
        </p:nvSpPr>
        <p:spPr>
          <a:xfrm>
            <a:off x="411480" y="6391656"/>
            <a:ext cx="7863840" cy="42062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8900" tIns="38100" rIns="88900" bIns="38100" anchor="ctr">
            <a:normAutofit/>
          </a:bodyPr>
          <a:lstStyle/>
          <a:p>
            <a:pPr algn="l">
              <a:buNone/>
            </a:pPr>
            <a:r>
              <a:rPr sz="1100" b="1">
                <a:solidFill>
                  <a:srgbClr val="1F5C9E"/>
                </a:solidFill>
                <a:latin typeface="Microsoft JhengHei"/>
                <a:ea typeface="Microsoft JhengHei"/>
                <a:cs typeface="Microsoft JhengHei"/>
              </a:rPr>
              <a:t>【說明】</a:t>
            </a:r>
            <a:r>
              <a:rPr sz="1100">
                <a:solidFill>
                  <a:srgbClr val="222222"/>
                </a:solidFill>
                <a:latin typeface="Microsoft JhengHei"/>
                <a:ea typeface="Microsoft JhengHei"/>
                <a:cs typeface="Microsoft JhengHei"/>
              </a:rPr>
              <a:t>資料為環境部高雄 12 測站逐時臭氧(換算每日 MDA8)與同期氣象,另補中央氣象署日照時數,期間 2018–2025。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10409504-5FF7-EC6A-F219-2EBFB9BDBB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1968" y="340414"/>
            <a:ext cx="2248214" cy="1790950"/>
          </a:xfrm>
          <a:prstGeom prst="roundRect">
            <a:avLst>
              <a:gd name="adj" fmla="val 6557"/>
            </a:avLst>
          </a:prstGeom>
        </p:spPr>
      </p:pic>
    </p:spTree>
    <p:extLst>
      <p:ext uri="{BB962C8B-B14F-4D97-AF65-F5344CB8AC3E}">
        <p14:creationId xmlns:p14="http://schemas.microsoft.com/office/powerpoint/2010/main" val="28981482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字方塊 6">
            <a:extLst>
              <a:ext uri="{FF2B5EF4-FFF2-40B4-BE49-F238E27FC236}">
                <a16:creationId xmlns:a16="http://schemas.microsoft.com/office/drawing/2014/main" id="{468672B1-60E8-AB11-A1AA-A247D3932297}"/>
              </a:ext>
            </a:extLst>
          </p:cNvPr>
          <p:cNvSpPr>
            <a:spLocks noGrp="1"/>
          </p:cNvSpPr>
          <p:nvPr/>
        </p:nvSpPr>
        <p:spPr>
          <a:xfrm>
            <a:off x="884542" y="932537"/>
            <a:ext cx="606530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chemeClr val="accent5">
                    <a:lumMod val="50000"/>
                  </a:schemeClr>
                </a:solidFill>
                <a:latin typeface="Microsoft YaHei"/>
                <a:ea typeface="Microsoft YaHei"/>
                <a:cs typeface="Microsoft YaHei"/>
              </a:rPr>
              <a:t>1. Preprocessing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33F5339-105F-C472-4B32-753F511E1EAD}"/>
              </a:ext>
            </a:extLst>
          </p:cNvPr>
          <p:cNvSpPr>
            <a:spLocks noGrp="1"/>
          </p:cNvSpPr>
          <p:nvPr/>
        </p:nvSpPr>
        <p:spPr>
          <a:xfrm>
            <a:off x="1291424" y="1455757"/>
            <a:ext cx="525154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chemeClr val="bg2">
                    <a:lumMod val="50000"/>
                  </a:schemeClr>
                </a:solidFill>
                <a:latin typeface="Microsoft YaHei"/>
                <a:ea typeface="Microsoft YaHei"/>
                <a:cs typeface="Microsoft YaHei"/>
              </a:rPr>
              <a:t>QA/QC hourly data</a:t>
            </a:r>
            <a:br/>
            <a:r>
              <a:rPr sz="1600" b="1">
                <a:solidFill>
                  <a:schemeClr val="bg2">
                    <a:lumMod val="50000"/>
                  </a:schemeClr>
                </a:solidFill>
                <a:latin typeface="Microsoft YaHei"/>
                <a:ea typeface="Microsoft YaHei"/>
                <a:cs typeface="Microsoft YaHei"/>
              </a:rPr>
              <a:t>→ daily MDA8 O₃ and meteorological features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17D80094-AC45-6B06-680E-85A86F0F9385}"/>
              </a:ext>
            </a:extLst>
          </p:cNvPr>
          <p:cNvSpPr>
            <a:spLocks noGrp="1"/>
          </p:cNvSpPr>
          <p:nvPr/>
        </p:nvSpPr>
        <p:spPr>
          <a:xfrm>
            <a:off x="884542" y="2150593"/>
            <a:ext cx="947203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chemeClr val="accent5">
                    <a:lumMod val="50000"/>
                  </a:schemeClr>
                </a:solidFill>
                <a:latin typeface="Microsoft YaHei"/>
                <a:ea typeface="Microsoft YaHei"/>
                <a:cs typeface="Microsoft YaHei"/>
              </a:rPr>
              <a:t>2. Descriptive Analysis</a:t>
            </a:r>
            <a:r>
              <a:rPr sz="1400" b="1">
                <a:solidFill>
                  <a:schemeClr val="bg2">
                    <a:lumMod val="50000"/>
                  </a:schemeClr>
                </a:solidFill>
                <a:latin typeface="Microsoft YaHei"/>
                <a:ea typeface="Microsoft YaHei"/>
                <a:cs typeface="Microsoft YaHei"/>
              </a:rPr>
              <a:t> (每一年臭氧濃度是否變高或變低，春夏秋冬哪一季臭氧較高) 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64660D8A-949A-63C8-28D6-5B6760A72B99}"/>
              </a:ext>
            </a:extLst>
          </p:cNvPr>
          <p:cNvSpPr>
            <a:spLocks noGrp="1"/>
          </p:cNvSpPr>
          <p:nvPr/>
        </p:nvSpPr>
        <p:spPr>
          <a:xfrm>
            <a:off x="1291424" y="2673813"/>
            <a:ext cx="525154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chemeClr val="bg2">
                    <a:lumMod val="50000"/>
                  </a:schemeClr>
                </a:solidFill>
                <a:latin typeface="Microsoft YaHei"/>
                <a:ea typeface="Microsoft YaHei"/>
                <a:cs typeface="Microsoft YaHei"/>
              </a:rPr>
              <a:t>Annual, seasonal, diurnal, and site-level patterns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E3B29A06-6F6E-12E7-A614-DFF1950E3624}"/>
              </a:ext>
            </a:extLst>
          </p:cNvPr>
          <p:cNvSpPr>
            <a:spLocks noGrp="1"/>
          </p:cNvSpPr>
          <p:nvPr/>
        </p:nvSpPr>
        <p:spPr>
          <a:xfrm>
            <a:off x="884542" y="3122428"/>
            <a:ext cx="647519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chemeClr val="accent5">
                    <a:lumMod val="50000"/>
                  </a:schemeClr>
                </a:solidFill>
                <a:latin typeface="Microsoft YaHei"/>
                <a:ea typeface="Microsoft YaHei"/>
                <a:cs typeface="Microsoft YaHei"/>
              </a:rPr>
              <a:t>3. Driver</a:t>
            </a:r>
            <a:r>
              <a:rPr sz="1400" b="1">
                <a:solidFill>
                  <a:schemeClr val="bg2">
                    <a:lumMod val="50000"/>
                  </a:schemeClr>
                </a:solidFill>
                <a:latin typeface="Microsoft YaHei"/>
                <a:ea typeface="Microsoft YaHei"/>
                <a:cs typeface="Microsoft YaHei"/>
              </a:rPr>
              <a:t>(驅動因子，如前驅物、氣象條件)</a:t>
            </a:r>
            <a:r>
              <a:rPr sz="2800" b="1">
                <a:solidFill>
                  <a:schemeClr val="accent5">
                    <a:lumMod val="50000"/>
                  </a:schemeClr>
                </a:solidFill>
                <a:latin typeface="Microsoft YaHei"/>
                <a:ea typeface="Microsoft YaHei"/>
                <a:cs typeface="Microsoft YaHei"/>
              </a:rPr>
              <a:t> Modeling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F007511F-ACBC-CBD9-F724-013535261F66}"/>
              </a:ext>
            </a:extLst>
          </p:cNvPr>
          <p:cNvSpPr>
            <a:spLocks noGrp="1"/>
          </p:cNvSpPr>
          <p:nvPr/>
        </p:nvSpPr>
        <p:spPr>
          <a:xfrm>
            <a:off x="1291424" y="3645648"/>
            <a:ext cx="565842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u="sng">
                <a:solidFill>
                  <a:schemeClr val="bg2">
                    <a:lumMod val="50000"/>
                  </a:schemeClr>
                </a:solidFill>
                <a:latin typeface="Microsoft YaHei"/>
                <a:ea typeface="Microsoft YaHei"/>
                <a:cs typeface="Microsoft YaHei"/>
              </a:rPr>
              <a:t>Random Forest</a:t>
            </a:r>
            <a:r>
              <a:rPr sz="1600" b="1">
                <a:solidFill>
                  <a:schemeClr val="bg2">
                    <a:lumMod val="50000"/>
                  </a:schemeClr>
                </a:solidFill>
                <a:latin typeface="Microsoft YaHei"/>
                <a:ea typeface="Microsoft YaHei"/>
                <a:cs typeface="Microsoft YaHei"/>
              </a:rPr>
              <a:t>1 and </a:t>
            </a:r>
            <a:r>
              <a:rPr sz="1600" b="1" u="sng">
                <a:solidFill>
                  <a:schemeClr val="bg2">
                    <a:lumMod val="50000"/>
                  </a:schemeClr>
                </a:solidFill>
                <a:latin typeface="Microsoft YaHei"/>
                <a:ea typeface="Microsoft YaHei"/>
                <a:cs typeface="Microsoft YaHei"/>
              </a:rPr>
              <a:t>GAM</a:t>
            </a:r>
            <a:r>
              <a:rPr sz="1600" b="1">
                <a:solidFill>
                  <a:schemeClr val="bg2">
                    <a:lumMod val="50000"/>
                  </a:schemeClr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  <a:p>
            <a:r>
              <a:rPr sz="1600" b="1">
                <a:solidFill>
                  <a:schemeClr val="bg2">
                    <a:lumMod val="50000"/>
                  </a:schemeClr>
                </a:solidFill>
                <a:latin typeface="Microsoft YaHei"/>
                <a:ea typeface="Microsoft YaHei"/>
                <a:cs typeface="Microsoft YaHei"/>
              </a:rPr>
              <a:t>→ permutation importance and partial dependence</a:t>
            </a: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380FC9A8-3B17-8392-937A-CF94F1F9A488}"/>
              </a:ext>
            </a:extLst>
          </p:cNvPr>
          <p:cNvSpPr>
            <a:spLocks noGrp="1"/>
          </p:cNvSpPr>
          <p:nvPr/>
        </p:nvSpPr>
        <p:spPr>
          <a:xfrm>
            <a:off x="884541" y="4340484"/>
            <a:ext cx="1032679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chemeClr val="accent5">
                    <a:lumMod val="50000"/>
                  </a:schemeClr>
                </a:solidFill>
                <a:latin typeface="Microsoft YaHei"/>
                <a:ea typeface="Microsoft YaHei"/>
                <a:cs typeface="Microsoft YaHei"/>
              </a:rPr>
              <a:t>4. Event Analysis</a:t>
            </a:r>
            <a:r>
              <a:rPr sz="1400" b="1">
                <a:solidFill>
                  <a:schemeClr val="bg2">
                    <a:lumMod val="50000"/>
                  </a:schemeClr>
                </a:solidFill>
                <a:latin typeface="Microsoft YaHei"/>
                <a:ea typeface="Microsoft YaHei"/>
                <a:cs typeface="Microsoft YaHei"/>
              </a:rPr>
              <a:t> (針對「高臭氧事件」特別挑出來分析，看看這些事件發生時，氣象條件有什麼共同特徵。</a:t>
            </a: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B1ED8A90-A8AC-8DF7-A5CA-341D88503CE8}"/>
              </a:ext>
            </a:extLst>
          </p:cNvPr>
          <p:cNvSpPr>
            <a:spLocks noGrp="1"/>
          </p:cNvSpPr>
          <p:nvPr/>
        </p:nvSpPr>
        <p:spPr>
          <a:xfrm>
            <a:off x="1291424" y="4863704"/>
            <a:ext cx="647519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chemeClr val="bg2">
                    <a:lumMod val="50000"/>
                  </a:schemeClr>
                </a:solidFill>
                <a:latin typeface="Microsoft YaHei"/>
                <a:ea typeface="Microsoft YaHei"/>
                <a:cs typeface="Microsoft YaHei"/>
              </a:rPr>
              <a:t>Composite meteorological conditions on high-O₃ days</a:t>
            </a: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8A309EE5-D6EC-B7B5-0ACF-D6870A1029FB}"/>
              </a:ext>
            </a:extLst>
          </p:cNvPr>
          <p:cNvSpPr>
            <a:spLocks noGrp="1"/>
          </p:cNvSpPr>
          <p:nvPr/>
        </p:nvSpPr>
        <p:spPr>
          <a:xfrm>
            <a:off x="884542" y="5312317"/>
            <a:ext cx="606530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chemeClr val="accent5">
                    <a:lumMod val="50000"/>
                  </a:schemeClr>
                </a:solidFill>
                <a:latin typeface="Microsoft YaHei"/>
                <a:ea typeface="Microsoft YaHei"/>
                <a:cs typeface="Microsoft YaHei"/>
              </a:rPr>
              <a:t>5. Trend Analysis</a:t>
            </a: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77807216-6BD0-D585-721C-5BDBBDBEE9C5}"/>
              </a:ext>
            </a:extLst>
          </p:cNvPr>
          <p:cNvSpPr>
            <a:spLocks noGrp="1"/>
          </p:cNvSpPr>
          <p:nvPr/>
        </p:nvSpPr>
        <p:spPr>
          <a:xfrm>
            <a:off x="1291423" y="5835537"/>
            <a:ext cx="832713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u="sng">
                <a:solidFill>
                  <a:schemeClr val="bg2">
                    <a:lumMod val="50000"/>
                  </a:schemeClr>
                </a:solidFill>
                <a:latin typeface="Microsoft YaHei"/>
                <a:ea typeface="Microsoft YaHei"/>
                <a:cs typeface="Microsoft YaHei"/>
              </a:rPr>
              <a:t>Mann–Kendall</a:t>
            </a:r>
            <a:r>
              <a:rPr sz="1600" b="1">
                <a:solidFill>
                  <a:schemeClr val="bg2">
                    <a:lumMod val="50000"/>
                  </a:schemeClr>
                </a:solidFill>
                <a:latin typeface="Microsoft YaHei"/>
                <a:ea typeface="Microsoft YaHei"/>
                <a:cs typeface="Microsoft YaHei"/>
              </a:rPr>
              <a:t>3 and </a:t>
            </a:r>
            <a:r>
              <a:rPr sz="1600" b="1" u="sng">
                <a:solidFill>
                  <a:schemeClr val="bg2">
                    <a:lumMod val="50000"/>
                  </a:schemeClr>
                </a:solidFill>
                <a:latin typeface="Microsoft YaHei"/>
                <a:ea typeface="Microsoft YaHei"/>
                <a:cs typeface="Microsoft YaHei"/>
              </a:rPr>
              <a:t>Sen’s slope</a:t>
            </a:r>
            <a:r>
              <a:rPr sz="1600" b="1">
                <a:solidFill>
                  <a:schemeClr val="bg2">
                    <a:lumMod val="50000"/>
                  </a:schemeClr>
                </a:solidFill>
                <a:latin typeface="Microsoft YaHei"/>
                <a:ea typeface="Microsoft YaHei"/>
                <a:cs typeface="Microsoft YaHei"/>
              </a:rPr>
              <a:t>4 → threshold sensitivity as robustness check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0E578EC4-3210-A735-EFF4-70AD73474FC4}"/>
              </a:ext>
            </a:extLst>
          </p:cNvPr>
          <p:cNvSpPr>
            <a:spLocks noGrp="1"/>
          </p:cNvSpPr>
          <p:nvPr/>
        </p:nvSpPr>
        <p:spPr>
          <a:xfrm>
            <a:off x="0" y="6319520"/>
            <a:ext cx="12192000" cy="538480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213C2ED5-D8A7-6B52-1C4D-0D4F6A201CDE}"/>
              </a:ext>
            </a:extLst>
          </p:cNvPr>
          <p:cNvSpPr>
            <a:spLocks noGrp="1"/>
          </p:cNvSpPr>
          <p:nvPr/>
        </p:nvSpPr>
        <p:spPr>
          <a:xfrm>
            <a:off x="86360" y="309001"/>
            <a:ext cx="120345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F3C72"/>
                </a:solidFill>
                <a:latin typeface="Microsoft YaHei"/>
                <a:ea typeface="Microsoft YaHei"/>
                <a:cs typeface="Microsoft YaHei"/>
              </a:rPr>
              <a:t>Method2 Workflow</a:t>
            </a:r>
            <a:endParaRPr sz="2800" b="1" i="0">
              <a:solidFill>
                <a:srgbClr val="2F3C72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0" name="箭號: 向下 29">
            <a:extLst>
              <a:ext uri="{FF2B5EF4-FFF2-40B4-BE49-F238E27FC236}">
                <a16:creationId xmlns:a16="http://schemas.microsoft.com/office/drawing/2014/main" id="{AE77B30E-E40B-89E1-70A8-A1F5DADCFE7A}"/>
              </a:ext>
            </a:extLst>
          </p:cNvPr>
          <p:cNvSpPr>
            <a:spLocks noGrp="1"/>
          </p:cNvSpPr>
          <p:nvPr/>
        </p:nvSpPr>
        <p:spPr>
          <a:xfrm>
            <a:off x="3200400" y="2043292"/>
            <a:ext cx="307910" cy="184668"/>
          </a:xfrm>
          <a:prstGeom prst="downArrow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1" name="箭號: 向下 30">
            <a:extLst>
              <a:ext uri="{FF2B5EF4-FFF2-40B4-BE49-F238E27FC236}">
                <a16:creationId xmlns:a16="http://schemas.microsoft.com/office/drawing/2014/main" id="{C98E2C4E-76B8-9979-B464-F7D693FCB8F1}"/>
              </a:ext>
            </a:extLst>
          </p:cNvPr>
          <p:cNvSpPr>
            <a:spLocks noGrp="1"/>
          </p:cNvSpPr>
          <p:nvPr/>
        </p:nvSpPr>
        <p:spPr>
          <a:xfrm>
            <a:off x="3200400" y="2992748"/>
            <a:ext cx="307910" cy="184668"/>
          </a:xfrm>
          <a:prstGeom prst="downArrow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2" name="箭號: 向下 31">
            <a:extLst>
              <a:ext uri="{FF2B5EF4-FFF2-40B4-BE49-F238E27FC236}">
                <a16:creationId xmlns:a16="http://schemas.microsoft.com/office/drawing/2014/main" id="{5CFD67FD-EA1E-C149-F719-8401D9BE1AC2}"/>
              </a:ext>
            </a:extLst>
          </p:cNvPr>
          <p:cNvSpPr>
            <a:spLocks noGrp="1"/>
          </p:cNvSpPr>
          <p:nvPr/>
        </p:nvSpPr>
        <p:spPr>
          <a:xfrm>
            <a:off x="3200400" y="4229262"/>
            <a:ext cx="307910" cy="184668"/>
          </a:xfrm>
          <a:prstGeom prst="downArrow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3" name="箭號: 向下 32">
            <a:extLst>
              <a:ext uri="{FF2B5EF4-FFF2-40B4-BE49-F238E27FC236}">
                <a16:creationId xmlns:a16="http://schemas.microsoft.com/office/drawing/2014/main" id="{8623C424-7CBB-DA92-8B10-2A84139A9898}"/>
              </a:ext>
            </a:extLst>
          </p:cNvPr>
          <p:cNvSpPr>
            <a:spLocks noGrp="1"/>
          </p:cNvSpPr>
          <p:nvPr/>
        </p:nvSpPr>
        <p:spPr>
          <a:xfrm>
            <a:off x="3200400" y="5186867"/>
            <a:ext cx="307910" cy="184668"/>
          </a:xfrm>
          <a:prstGeom prst="downArrow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E4BC1BAA-395F-C910-2EF5-4672ADDE73F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9F68E2-31C2-4D90-A536-67698CDE3376}" type="slidenum">
              <a:rPr/>
              <a:t>10</a:t>
            </a:fld>
            <a:endParaRPr/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F07BB62D-2964-4774-AEEF-E109CB44CA04}"/>
              </a:ext>
            </a:extLst>
          </p:cNvPr>
          <p:cNvSpPr>
            <a:spLocks noGrp="1"/>
          </p:cNvSpPr>
          <p:nvPr/>
        </p:nvSpPr>
        <p:spPr>
          <a:xfrm>
            <a:off x="411480" y="6336792"/>
            <a:ext cx="7863840" cy="4754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8900" tIns="38100" rIns="88900" bIns="38100" anchor="ctr">
            <a:normAutofit/>
          </a:bodyPr>
          <a:lstStyle/>
          <a:p>
            <a:pPr algn="l">
              <a:buNone/>
            </a:pPr>
            <a:r>
              <a:rPr sz="1100" b="1">
                <a:solidFill>
                  <a:srgbClr val="1F5C9E"/>
                </a:solidFill>
                <a:latin typeface="Microsoft JhengHei"/>
                <a:ea typeface="Microsoft JhengHei"/>
                <a:cs typeface="Microsoft JhengHei"/>
              </a:rPr>
              <a:t>【說明】</a:t>
            </a:r>
            <a:r>
              <a:rPr sz="1100">
                <a:solidFill>
                  <a:srgbClr val="222222"/>
                </a:solidFill>
                <a:latin typeface="Microsoft JhengHei"/>
                <a:ea typeface="Microsoft JhengHei"/>
                <a:cs typeface="Microsoft JhengHei"/>
              </a:rPr>
              <a:t>分析五步:前處理與品管、描述性分析、以 RF/GAM 建模找驅動因子、事件分析,以及 Mann-Kendall/Sen's slope 趨勢檢定。</a:t>
            </a:r>
          </a:p>
        </p:txBody>
      </p:sp>
    </p:spTree>
    <p:extLst>
      <p:ext uri="{BB962C8B-B14F-4D97-AF65-F5344CB8AC3E}">
        <p14:creationId xmlns:p14="http://schemas.microsoft.com/office/powerpoint/2010/main" val="39876950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矩形: 圓角 42">
            <a:extLst>
              <a:ext uri="{FF2B5EF4-FFF2-40B4-BE49-F238E27FC236}">
                <a16:creationId xmlns:a16="http://schemas.microsoft.com/office/drawing/2014/main" id="{FA8A2573-F0BE-D06B-8319-A5183A92B408}"/>
              </a:ext>
            </a:extLst>
          </p:cNvPr>
          <p:cNvSpPr>
            <a:spLocks noGrp="1"/>
          </p:cNvSpPr>
          <p:nvPr/>
        </p:nvSpPr>
        <p:spPr>
          <a:xfrm>
            <a:off x="2218044" y="5224534"/>
            <a:ext cx="8220777" cy="1188251"/>
          </a:xfrm>
          <a:prstGeom prst="roundRect">
            <a:avLst>
              <a:gd name="adj" fmla="val 10630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81971BA-9A8E-5F99-5428-A20DC5A29973}"/>
              </a:ext>
            </a:extLst>
          </p:cNvPr>
          <p:cNvSpPr>
            <a:spLocks noGrp="1"/>
          </p:cNvSpPr>
          <p:nvPr/>
        </p:nvSpPr>
        <p:spPr>
          <a:xfrm>
            <a:off x="86360" y="309001"/>
            <a:ext cx="120345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F3C72"/>
                </a:solidFill>
                <a:latin typeface="Microsoft YaHei"/>
                <a:ea typeface="Microsoft YaHei"/>
                <a:cs typeface="Microsoft YaHei"/>
              </a:rPr>
              <a:t>Method</a:t>
            </a:r>
            <a:r>
              <a:rPr sz="2800" b="1" i="0">
                <a:solidFill>
                  <a:srgbClr val="2F3C72"/>
                </a:solidFill>
                <a:latin typeface="Microsoft YaHei"/>
                <a:ea typeface="Microsoft YaHei"/>
                <a:cs typeface="Microsoft YaHei"/>
              </a:rPr>
              <a:t>3 How we identify the drivers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FFE8C77A-8DA8-CE12-70F6-71AA0F68B903}"/>
              </a:ext>
            </a:extLst>
          </p:cNvPr>
          <p:cNvSpPr>
            <a:spLocks noGrp="1"/>
          </p:cNvSpPr>
          <p:nvPr/>
        </p:nvSpPr>
        <p:spPr>
          <a:xfrm>
            <a:off x="737938" y="1648639"/>
            <a:ext cx="354530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sz="3200" b="1">
                <a:solidFill>
                  <a:schemeClr val="accent5">
                    <a:lumMod val="50000"/>
                  </a:schemeClr>
                </a:solidFill>
                <a:latin typeface="Microsoft YaHei"/>
                <a:ea typeface="Microsoft YaHei"/>
                <a:cs typeface="Microsoft YaHei"/>
              </a:rPr>
              <a:t>Random Forest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751002BE-C384-D8F2-5959-DC2189B661B9}"/>
              </a:ext>
            </a:extLst>
          </p:cNvPr>
          <p:cNvSpPr>
            <a:spLocks noGrp="1"/>
          </p:cNvSpPr>
          <p:nvPr/>
        </p:nvSpPr>
        <p:spPr>
          <a:xfrm>
            <a:off x="1604211" y="2233414"/>
            <a:ext cx="98498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solidFill>
                  <a:schemeClr val="bg2">
                    <a:lumMod val="10000"/>
                  </a:schemeClr>
                </a:solidFill>
                <a:latin typeface="Microsoft YaHei"/>
                <a:ea typeface="Microsoft YaHei"/>
                <a:cs typeface="Microsoft YaHei"/>
              </a:rPr>
              <a:t>請很多棵決策樹各自依天氣猜當天臭氧、再平均</a:t>
            </a:r>
            <a:endParaRPr sz="140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ACE21DB1-9733-5E49-B090-3234C5CAA05F}"/>
              </a:ext>
            </a:extLst>
          </p:cNvPr>
          <p:cNvSpPr>
            <a:spLocks noGrp="1"/>
          </p:cNvSpPr>
          <p:nvPr/>
        </p:nvSpPr>
        <p:spPr>
          <a:xfrm>
            <a:off x="744789" y="3838820"/>
            <a:ext cx="123524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sz="3200" b="1">
                <a:solidFill>
                  <a:schemeClr val="accent5">
                    <a:lumMod val="50000"/>
                  </a:schemeClr>
                </a:solidFill>
                <a:latin typeface="Microsoft YaHei"/>
                <a:ea typeface="Microsoft YaHei"/>
                <a:cs typeface="Microsoft YaHei"/>
              </a:rPr>
              <a:t>GAM</a:t>
            </a: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3676F749-9480-21D5-9037-DDF18016D7B2}"/>
              </a:ext>
            </a:extLst>
          </p:cNvPr>
          <p:cNvSpPr>
            <a:spLocks noGrp="1"/>
          </p:cNvSpPr>
          <p:nvPr/>
        </p:nvSpPr>
        <p:spPr>
          <a:xfrm>
            <a:off x="1606412" y="4423595"/>
            <a:ext cx="98498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solidFill>
                  <a:schemeClr val="bg2">
                    <a:lumMod val="10000"/>
                  </a:schemeClr>
                </a:solidFill>
                <a:latin typeface="Microsoft YaHei"/>
                <a:ea typeface="Microsoft YaHei"/>
                <a:cs typeface="Microsoft YaHei"/>
              </a:rPr>
              <a:t>一種「會彎的迴歸」,能畫出每個因子跟臭氧的關係曲線。</a:t>
            </a:r>
            <a:endParaRPr sz="140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38" name="矩形: 圓角 37">
            <a:extLst>
              <a:ext uri="{FF2B5EF4-FFF2-40B4-BE49-F238E27FC236}">
                <a16:creationId xmlns:a16="http://schemas.microsoft.com/office/drawing/2014/main" id="{9A4F77D3-64C4-ACDE-DB1D-009DCD3D519A}"/>
              </a:ext>
            </a:extLst>
          </p:cNvPr>
          <p:cNvSpPr>
            <a:spLocks noGrp="1"/>
          </p:cNvSpPr>
          <p:nvPr/>
        </p:nvSpPr>
        <p:spPr>
          <a:xfrm>
            <a:off x="8351520" y="152401"/>
            <a:ext cx="3702518" cy="3931920"/>
          </a:xfrm>
          <a:prstGeom prst="roundRect">
            <a:avLst>
              <a:gd name="adj" fmla="val 10630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2D6CF5F0-45E1-E4C5-478D-D921B13DB3B8}"/>
              </a:ext>
            </a:extLst>
          </p:cNvPr>
          <p:cNvSpPr>
            <a:spLocks noGrp="1"/>
          </p:cNvSpPr>
          <p:nvPr/>
        </p:nvSpPr>
        <p:spPr>
          <a:xfrm>
            <a:off x="8351520" y="376776"/>
            <a:ext cx="370251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ctr">
              <a:buNone/>
            </a:pPr>
            <a:r>
              <a:rPr sz="2400" b="0" i="0">
                <a:solidFill>
                  <a:srgbClr val="0D0D0D"/>
                </a:solidFill>
                <a:latin typeface="ui-monospace"/>
                <a:ea typeface="ui-monospace"/>
                <a:cs typeface="ui-monospace"/>
              </a:rPr>
              <a:t>Meteorological variables</a:t>
            </a:r>
            <a:endParaRPr b="0" i="0">
              <a:solidFill>
                <a:srgbClr val="0D0D0D"/>
              </a:solidFill>
              <a:latin typeface="ui-monospace"/>
              <a:ea typeface="ui-monospace"/>
              <a:cs typeface="ui-monospace"/>
            </a:endParaRPr>
          </a:p>
          <a:p>
            <a:pPr marL="0" marR="0" indent="0" algn="ctr">
              <a:buNone/>
            </a:pPr>
            <a:r>
              <a:rPr b="0" i="0">
                <a:solidFill>
                  <a:srgbClr val="0D0D0D"/>
                </a:solidFill>
                <a:latin typeface="ui-monospace"/>
                <a:ea typeface="ui-monospace"/>
                <a:cs typeface="ui-monospace"/>
              </a:rPr>
              <a:t>(T, RH, WS, Sunshine, Rainfall)</a:t>
            </a:r>
          </a:p>
        </p:txBody>
      </p:sp>
      <p:sp>
        <p:nvSpPr>
          <p:cNvPr id="24" name="矩形: 圓角 23">
            <a:extLst>
              <a:ext uri="{FF2B5EF4-FFF2-40B4-BE49-F238E27FC236}">
                <a16:creationId xmlns:a16="http://schemas.microsoft.com/office/drawing/2014/main" id="{1EC6313B-0915-A755-34D4-CB5E82FF61E0}"/>
              </a:ext>
            </a:extLst>
          </p:cNvPr>
          <p:cNvSpPr>
            <a:spLocks noGrp="1"/>
          </p:cNvSpPr>
          <p:nvPr/>
        </p:nvSpPr>
        <p:spPr>
          <a:xfrm>
            <a:off x="8921847" y="1407073"/>
            <a:ext cx="2561864" cy="794647"/>
          </a:xfrm>
          <a:prstGeom prst="roundRect">
            <a:avLst/>
          </a:prstGeom>
          <a:solidFill>
            <a:srgbClr val="FFFF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8B6A8C43-F1D3-21AC-57C3-5523C25E92A4}"/>
              </a:ext>
            </a:extLst>
          </p:cNvPr>
          <p:cNvSpPr>
            <a:spLocks noGrp="1"/>
          </p:cNvSpPr>
          <p:nvPr/>
        </p:nvSpPr>
        <p:spPr>
          <a:xfrm>
            <a:off x="8632480" y="1448480"/>
            <a:ext cx="3140598" cy="589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ctr">
              <a:lnSpc>
                <a:spcPct val="150000"/>
              </a:lnSpc>
              <a:buNone/>
            </a:pPr>
            <a:r>
              <a:rPr sz="2400" b="0" i="0">
                <a:solidFill>
                  <a:srgbClr val="0D0D0D"/>
                </a:solidFill>
                <a:latin typeface="ui-monospace"/>
                <a:ea typeface="ui-monospace"/>
                <a:cs typeface="ui-monospace"/>
              </a:rPr>
              <a:t>Decision trees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55078DC1-C6BA-A999-5623-A5475092E550}"/>
              </a:ext>
            </a:extLst>
          </p:cNvPr>
          <p:cNvSpPr>
            <a:spLocks noGrp="1"/>
          </p:cNvSpPr>
          <p:nvPr/>
        </p:nvSpPr>
        <p:spPr>
          <a:xfrm>
            <a:off x="8803531" y="2564478"/>
            <a:ext cx="829376" cy="4898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ctr">
              <a:lnSpc>
                <a:spcPts val="1500"/>
              </a:lnSpc>
              <a:buNone/>
            </a:pPr>
            <a:r>
              <a:rPr b="0" i="0">
                <a:solidFill>
                  <a:srgbClr val="0D0D0D"/>
                </a:solidFill>
                <a:latin typeface="ui-monospace"/>
                <a:ea typeface="ui-monospace"/>
                <a:cs typeface="ui-monospace"/>
              </a:rPr>
              <a:t> Tree1     </a:t>
            </a:r>
          </a:p>
          <a:p>
            <a:pPr marL="0" marR="0" indent="0" algn="ctr">
              <a:lnSpc>
                <a:spcPts val="1500"/>
              </a:lnSpc>
              <a:buNone/>
            </a:pPr>
            <a:r>
              <a:rPr b="0" i="0">
                <a:solidFill>
                  <a:srgbClr val="0D0D0D"/>
                </a:solidFill>
                <a:latin typeface="ui-monospace"/>
                <a:ea typeface="ui-monospace"/>
                <a:cs typeface="ui-monospace"/>
              </a:rPr>
              <a:t>58</a:t>
            </a: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2418B302-9C92-B6F6-91C2-B9131058F5B0}"/>
              </a:ext>
            </a:extLst>
          </p:cNvPr>
          <p:cNvSpPr>
            <a:spLocks noGrp="1"/>
          </p:cNvSpPr>
          <p:nvPr/>
        </p:nvSpPr>
        <p:spPr>
          <a:xfrm>
            <a:off x="9474751" y="2564478"/>
            <a:ext cx="829376" cy="4898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ctr">
              <a:lnSpc>
                <a:spcPts val="1500"/>
              </a:lnSpc>
              <a:buNone/>
            </a:pPr>
            <a:r>
              <a:rPr b="0" i="0">
                <a:solidFill>
                  <a:srgbClr val="0D0D0D"/>
                </a:solidFill>
                <a:latin typeface="ui-monospace"/>
                <a:ea typeface="ui-monospace"/>
                <a:cs typeface="ui-monospace"/>
              </a:rPr>
              <a:t> Tree</a:t>
            </a:r>
            <a:r>
              <a:rPr>
                <a:solidFill>
                  <a:srgbClr val="0D0D0D"/>
                </a:solidFill>
                <a:latin typeface="ui-monospace"/>
                <a:ea typeface="ui-monospace"/>
                <a:cs typeface="ui-monospace"/>
              </a:rPr>
              <a:t>2</a:t>
            </a:r>
            <a:r>
              <a:rPr b="0" i="0">
                <a:solidFill>
                  <a:srgbClr val="0D0D0D"/>
                </a:solidFill>
                <a:latin typeface="ui-monospace"/>
                <a:ea typeface="ui-monospace"/>
                <a:cs typeface="ui-monospace"/>
              </a:rPr>
              <a:t>     </a:t>
            </a:r>
          </a:p>
          <a:p>
            <a:pPr marL="0" marR="0" indent="0" algn="ctr">
              <a:lnSpc>
                <a:spcPts val="1500"/>
              </a:lnSpc>
              <a:buNone/>
            </a:pPr>
            <a:r>
              <a:rPr>
                <a:solidFill>
                  <a:srgbClr val="0D0D0D"/>
                </a:solidFill>
                <a:latin typeface="ui-monospace"/>
                <a:ea typeface="ui-monospace"/>
                <a:cs typeface="ui-monospace"/>
              </a:rPr>
              <a:t>61</a:t>
            </a:r>
            <a:endParaRPr b="0" i="0">
              <a:solidFill>
                <a:srgbClr val="0D0D0D"/>
              </a:solidFill>
              <a:latin typeface="ui-monospace"/>
              <a:ea typeface="ui-monospace"/>
              <a:cs typeface="ui-monospace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E2BB14E0-AEDE-25DC-FE52-4BADC9E8F70F}"/>
              </a:ext>
            </a:extLst>
          </p:cNvPr>
          <p:cNvSpPr>
            <a:spLocks noGrp="1"/>
          </p:cNvSpPr>
          <p:nvPr/>
        </p:nvSpPr>
        <p:spPr>
          <a:xfrm>
            <a:off x="10145971" y="2564478"/>
            <a:ext cx="829376" cy="4898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ctr">
              <a:lnSpc>
                <a:spcPts val="1500"/>
              </a:lnSpc>
              <a:buNone/>
            </a:pPr>
            <a:r>
              <a:rPr b="0" i="0">
                <a:solidFill>
                  <a:srgbClr val="0D0D0D"/>
                </a:solidFill>
                <a:latin typeface="ui-monospace"/>
                <a:ea typeface="ui-monospace"/>
                <a:cs typeface="ui-monospace"/>
              </a:rPr>
              <a:t> Tree3     </a:t>
            </a:r>
          </a:p>
          <a:p>
            <a:pPr marL="0" marR="0" indent="0" algn="ctr">
              <a:lnSpc>
                <a:spcPts val="1500"/>
              </a:lnSpc>
              <a:buNone/>
            </a:pPr>
            <a:r>
              <a:rPr>
                <a:solidFill>
                  <a:srgbClr val="0D0D0D"/>
                </a:solidFill>
                <a:latin typeface="ui-monospace"/>
                <a:ea typeface="ui-monospace"/>
                <a:cs typeface="ui-monospace"/>
              </a:rPr>
              <a:t>63</a:t>
            </a:r>
            <a:endParaRPr b="0" i="0">
              <a:solidFill>
                <a:srgbClr val="0D0D0D"/>
              </a:solidFill>
              <a:latin typeface="ui-monospace"/>
              <a:ea typeface="ui-monospace"/>
              <a:cs typeface="ui-monospace"/>
            </a:endParaRPr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C032664E-2ED9-1A72-7906-47A2E7D58A84}"/>
              </a:ext>
            </a:extLst>
          </p:cNvPr>
          <p:cNvSpPr>
            <a:spLocks noGrp="1"/>
          </p:cNvSpPr>
          <p:nvPr/>
        </p:nvSpPr>
        <p:spPr>
          <a:xfrm>
            <a:off x="10817192" y="2564478"/>
            <a:ext cx="829376" cy="4898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ctr">
              <a:lnSpc>
                <a:spcPts val="1500"/>
              </a:lnSpc>
              <a:buNone/>
            </a:pPr>
            <a:r>
              <a:rPr b="0" i="0">
                <a:solidFill>
                  <a:srgbClr val="0D0D0D"/>
                </a:solidFill>
                <a:latin typeface="ui-monospace"/>
                <a:ea typeface="ui-monospace"/>
                <a:cs typeface="ui-monospace"/>
              </a:rPr>
              <a:t> Tree4     </a:t>
            </a:r>
          </a:p>
          <a:p>
            <a:pPr marL="0" marR="0" indent="0" algn="ctr">
              <a:lnSpc>
                <a:spcPts val="1500"/>
              </a:lnSpc>
              <a:buNone/>
            </a:pPr>
            <a:r>
              <a:rPr b="0" i="0">
                <a:solidFill>
                  <a:srgbClr val="0D0D0D"/>
                </a:solidFill>
                <a:latin typeface="ui-monospace"/>
                <a:ea typeface="ui-monospace"/>
                <a:cs typeface="ui-monospace"/>
              </a:rPr>
              <a:t>59</a:t>
            </a:r>
          </a:p>
        </p:txBody>
      </p:sp>
      <p:sp>
        <p:nvSpPr>
          <p:cNvPr id="33" name="箭號: 向下 32">
            <a:extLst>
              <a:ext uri="{FF2B5EF4-FFF2-40B4-BE49-F238E27FC236}">
                <a16:creationId xmlns:a16="http://schemas.microsoft.com/office/drawing/2014/main" id="{266C52BA-8127-2AF9-1D4F-12D14BDCFE13}"/>
              </a:ext>
            </a:extLst>
          </p:cNvPr>
          <p:cNvSpPr>
            <a:spLocks noGrp="1"/>
          </p:cNvSpPr>
          <p:nvPr/>
        </p:nvSpPr>
        <p:spPr>
          <a:xfrm>
            <a:off x="10116671" y="2241220"/>
            <a:ext cx="187456" cy="244257"/>
          </a:xfrm>
          <a:prstGeom prst="downArrow">
            <a:avLst/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5" name="箭號: 向下 34">
            <a:extLst>
              <a:ext uri="{FF2B5EF4-FFF2-40B4-BE49-F238E27FC236}">
                <a16:creationId xmlns:a16="http://schemas.microsoft.com/office/drawing/2014/main" id="{D7FB8CE3-49AC-F07A-F078-E44B9F2C01E3}"/>
              </a:ext>
            </a:extLst>
          </p:cNvPr>
          <p:cNvSpPr>
            <a:spLocks noGrp="1"/>
          </p:cNvSpPr>
          <p:nvPr/>
        </p:nvSpPr>
        <p:spPr>
          <a:xfrm>
            <a:off x="10116671" y="1122537"/>
            <a:ext cx="187456" cy="244257"/>
          </a:xfrm>
          <a:prstGeom prst="downArrow">
            <a:avLst/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6" name="箭號: 向下 35">
            <a:extLst>
              <a:ext uri="{FF2B5EF4-FFF2-40B4-BE49-F238E27FC236}">
                <a16:creationId xmlns:a16="http://schemas.microsoft.com/office/drawing/2014/main" id="{B46BA514-9E7E-5A34-3057-94A38FE1C1B3}"/>
              </a:ext>
            </a:extLst>
          </p:cNvPr>
          <p:cNvSpPr>
            <a:spLocks noGrp="1"/>
          </p:cNvSpPr>
          <p:nvPr/>
        </p:nvSpPr>
        <p:spPr>
          <a:xfrm>
            <a:off x="10116671" y="3096036"/>
            <a:ext cx="187456" cy="244257"/>
          </a:xfrm>
          <a:prstGeom prst="downArrow">
            <a:avLst/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E1939298-497A-49F1-047F-41C6ACA328BA}"/>
              </a:ext>
            </a:extLst>
          </p:cNvPr>
          <p:cNvSpPr>
            <a:spLocks noGrp="1"/>
          </p:cNvSpPr>
          <p:nvPr/>
        </p:nvSpPr>
        <p:spPr>
          <a:xfrm>
            <a:off x="8737600" y="3417114"/>
            <a:ext cx="29303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ctr">
              <a:buNone/>
            </a:pPr>
            <a:r>
              <a:rPr b="0" i="0">
                <a:solidFill>
                  <a:srgbClr val="0D0D0D"/>
                </a:solidFill>
                <a:latin typeface="ui-monospace"/>
                <a:ea typeface="ui-monospace"/>
                <a:cs typeface="ui-monospace"/>
              </a:rPr>
              <a:t> Final O₃ prediction = average</a:t>
            </a:r>
            <a:endParaRPr sz="1400" b="0" i="0">
              <a:solidFill>
                <a:srgbClr val="0D0D0D"/>
              </a:solidFill>
              <a:latin typeface="ui-monospace"/>
              <a:ea typeface="ui-monospace"/>
              <a:cs typeface="ui-monospace"/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7F243C46-E738-A54E-8B05-7D4F71A02660}"/>
              </a:ext>
            </a:extLst>
          </p:cNvPr>
          <p:cNvSpPr>
            <a:spLocks noGrp="1"/>
          </p:cNvSpPr>
          <p:nvPr/>
        </p:nvSpPr>
        <p:spPr>
          <a:xfrm>
            <a:off x="2489415" y="5495494"/>
            <a:ext cx="767803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>
                <a:latin typeface="Microsoft YaHei"/>
                <a:ea typeface="Microsoft YaHei"/>
                <a:cs typeface="Microsoft YaHei"/>
              </a:rPr>
              <a:t>把每條「直線」換成一條平滑曲線:臭氧 ≈ f₁(氣溫) + f₂(濕度) + f₃(日照) + …,每個 f 都是會彎的曲線。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FF97308A-1AA5-D871-B220-50AEFE302B8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9F68E2-31C2-4D90-A536-67698CDE3376}" type="slidenum">
              <a:rPr/>
              <a:t>11</a:t>
            </a:fld>
            <a:endParaRPr/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D14320AF-994F-47EC-9489-95076358192E}"/>
              </a:ext>
            </a:extLst>
          </p:cNvPr>
          <p:cNvSpPr>
            <a:spLocks noGrp="1"/>
          </p:cNvSpPr>
          <p:nvPr/>
        </p:nvSpPr>
        <p:spPr>
          <a:xfrm>
            <a:off x="411480" y="6464808"/>
            <a:ext cx="7863840" cy="3749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8900" tIns="38100" rIns="88900" bIns="38100" anchor="ctr">
            <a:normAutofit fontScale="92500"/>
          </a:bodyPr>
          <a:lstStyle/>
          <a:p>
            <a:pPr algn="l">
              <a:buNone/>
            </a:pPr>
            <a:r>
              <a:rPr sz="1100" b="1">
                <a:solidFill>
                  <a:srgbClr val="1F5C9E"/>
                </a:solidFill>
                <a:latin typeface="Microsoft JhengHei"/>
                <a:ea typeface="Microsoft JhengHei"/>
                <a:cs typeface="Microsoft JhengHei"/>
              </a:rPr>
              <a:t>【說明】</a:t>
            </a:r>
            <a:r>
              <a:rPr sz="1100">
                <a:solidFill>
                  <a:srgbClr val="222222"/>
                </a:solidFill>
                <a:latin typeface="Microsoft JhengHei"/>
                <a:ea typeface="Microsoft JhengHei"/>
                <a:cs typeface="Microsoft JhengHei"/>
              </a:rPr>
              <a:t>以兩種互補模型辨識驅動因子:隨機森林用多棵決策樹平均並找出重要變數;GAM 以平滑曲線呈現各因子與臭氧的關係形狀。</a:t>
            </a:r>
          </a:p>
        </p:txBody>
      </p:sp>
    </p:spTree>
    <p:extLst>
      <p:ext uri="{BB962C8B-B14F-4D97-AF65-F5344CB8AC3E}">
        <p14:creationId xmlns:p14="http://schemas.microsoft.com/office/powerpoint/2010/main" val="33516721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41A7FCB-E24F-71B2-5D46-B0D107CD694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9F68E2-31C2-4D90-A536-67698CDE3376}" type="slidenum">
              <a:rPr/>
              <a:t>12</a:t>
            </a:fld>
            <a:endParaRPr/>
          </a:p>
        </p:txBody>
      </p:sp>
      <p:graphicFrame>
        <p:nvGraphicFramePr>
          <p:cNvPr id="17" name="表格 8"/>
          <p:cNvGraphicFramePr/>
          <p:nvPr/>
        </p:nvGraphicFramePr>
        <p:xfrm>
          <a:off x="3814916" y="1163564"/>
          <a:ext cx="5428944" cy="1097280"/>
        </p:xfrm>
        <a:graphic>
          <a:graphicData uri="http://schemas.openxmlformats.org/drawingml/2006/table">
            <a:tbl>
              <a:tblPr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tblPr>
              <a:tblGrid>
                <a:gridCol w="27144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144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b="1">
                          <a:latin typeface="Microsoft YaHei"/>
                          <a:ea typeface="Microsoft YaHei"/>
                          <a:cs typeface="Microsoft YaHei"/>
                        </a:rPr>
                        <a:t>溫度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ED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b="1">
                          <a:latin typeface="Microsoft YaHei"/>
                          <a:ea typeface="Microsoft YaHei"/>
                          <a:cs typeface="Microsoft YaHei"/>
                        </a:rPr>
                        <a:t>臭氧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E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>
                          <a:latin typeface="Microsoft YaHei"/>
                          <a:ea typeface="Microsoft YaHei"/>
                          <a:cs typeface="Microsoft YaHei"/>
                        </a:rPr>
                        <a:t>60°C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>
                      <a:noFill/>
                    </a:lnB>
                    <a:solidFill>
                      <a:srgbClr val="FFFED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>
                          <a:latin typeface="Microsoft YaHei"/>
                          <a:ea typeface="Microsoft YaHei"/>
                          <a:cs typeface="Microsoft YaHei"/>
                        </a:rPr>
                        <a:t>30 ppm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>
                      <a:noFill/>
                    </a:lnB>
                    <a:solidFill>
                      <a:srgbClr val="FFFE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>
                          <a:latin typeface="Microsoft YaHei"/>
                          <a:ea typeface="Microsoft YaHei"/>
                          <a:cs typeface="Microsoft YaHei"/>
                        </a:rPr>
                        <a:t>70°C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ED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>
                          <a:latin typeface="Microsoft YaHei"/>
                          <a:ea typeface="Microsoft YaHei"/>
                          <a:cs typeface="Microsoft YaHei"/>
                        </a:rPr>
                        <a:t>20 ppm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E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" name="文字方塊 10">
            <a:extLst>
              <a:ext uri="{FF2B5EF4-FFF2-40B4-BE49-F238E27FC236}">
                <a16:creationId xmlns:a16="http://schemas.microsoft.com/office/drawing/2014/main" id="{A93C8A30-D955-5D78-C9BE-E788499D8851}"/>
              </a:ext>
            </a:extLst>
          </p:cNvPr>
          <p:cNvSpPr>
            <a:spLocks noGrp="1"/>
          </p:cNvSpPr>
          <p:nvPr/>
        </p:nvSpPr>
        <p:spPr>
          <a:xfrm>
            <a:off x="1868672" y="2680684"/>
            <a:ext cx="6119036" cy="12899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b="1">
                <a:latin typeface="Microsoft YaHei"/>
                <a:ea typeface="Microsoft YaHei"/>
                <a:cs typeface="Microsoft YaHei"/>
              </a:rPr>
              <a:t>溫度 &lt; 65°C？</a:t>
            </a:r>
          </a:p>
          <a:p>
            <a:pPr>
              <a:lnSpc>
                <a:spcPct val="150000"/>
              </a:lnSpc>
              <a:buNone/>
            </a:pPr>
            <a:r>
              <a:rPr>
                <a:latin typeface="Microsoft YaHei"/>
                <a:ea typeface="Microsoft YaHei"/>
                <a:cs typeface="Microsoft YaHei"/>
              </a:rPr>
              <a:t>├─ 是 → 30 ppm</a:t>
            </a:r>
          </a:p>
          <a:p>
            <a:pPr>
              <a:lnSpc>
                <a:spcPct val="150000"/>
              </a:lnSpc>
              <a:buNone/>
            </a:pPr>
            <a:r>
              <a:rPr>
                <a:latin typeface="Microsoft YaHei"/>
                <a:ea typeface="Microsoft YaHei"/>
                <a:cs typeface="Microsoft YaHei"/>
              </a:rPr>
              <a:t>└─ 否 → 20 ppm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144AAA1A-BC35-81CF-C295-E89D9B27BC68}"/>
              </a:ext>
            </a:extLst>
          </p:cNvPr>
          <p:cNvSpPr>
            <a:spLocks noGrp="1"/>
          </p:cNvSpPr>
          <p:nvPr/>
        </p:nvSpPr>
        <p:spPr>
          <a:xfrm>
            <a:off x="1868672" y="4703478"/>
            <a:ext cx="6119036" cy="8744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b="1">
                <a:latin typeface="Microsoft YaHei"/>
                <a:ea typeface="Microsoft YaHei"/>
                <a:cs typeface="Microsoft YaHei"/>
              </a:rPr>
              <a:t>50°C &lt; 65°C</a:t>
            </a:r>
          </a:p>
          <a:p>
            <a:pPr>
              <a:lnSpc>
                <a:spcPct val="150000"/>
              </a:lnSpc>
              <a:buNone/>
            </a:pPr>
            <a:r>
              <a:rPr>
                <a:latin typeface="Microsoft YaHei"/>
                <a:ea typeface="Microsoft YaHei"/>
                <a:cs typeface="Microsoft YaHei"/>
              </a:rPr>
              <a:t>→ 預測 30 ppm</a:t>
            </a:r>
          </a:p>
        </p:txBody>
      </p:sp>
      <p:sp>
        <p:nvSpPr>
          <p:cNvPr id="13" name="直線接點 12">
            <a:extLst>
              <a:ext uri="{FF2B5EF4-FFF2-40B4-BE49-F238E27FC236}">
                <a16:creationId xmlns:a16="http://schemas.microsoft.com/office/drawing/2014/main" id="{D7A80047-6997-407F-BEFF-14EC6CCF58F0}"/>
              </a:ext>
            </a:extLst>
          </p:cNvPr>
          <p:cNvSpPr>
            <a:spLocks noGrp="1"/>
          </p:cNvSpPr>
          <p:nvPr/>
        </p:nvSpPr>
        <p:spPr>
          <a:xfrm>
            <a:off x="1537291" y="4337033"/>
            <a:ext cx="9816509" cy="0"/>
          </a:xfrm>
          <a:prstGeom prst="line">
            <a:avLst/>
          </a:prstGeom>
          <a:ln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35E63680-4B34-734A-5FEE-AEC967A83657}"/>
              </a:ext>
            </a:extLst>
          </p:cNvPr>
          <p:cNvSpPr>
            <a:spLocks noGrp="1"/>
          </p:cNvSpPr>
          <p:nvPr/>
        </p:nvSpPr>
        <p:spPr>
          <a:xfrm>
            <a:off x="2998380" y="374392"/>
            <a:ext cx="110799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>
                <a:solidFill>
                  <a:schemeClr val="accent2">
                    <a:lumMod val="50000"/>
                  </a:schemeClr>
                </a:solidFill>
                <a:latin typeface="Microsoft YaHei"/>
                <a:ea typeface="Microsoft YaHei"/>
                <a:cs typeface="Microsoft YaHei"/>
              </a:rPr>
              <a:t>模式概念</a:t>
            </a:r>
          </a:p>
        </p:txBody>
      </p:sp>
      <p:sp>
        <p:nvSpPr>
          <p:cNvPr id="4" name="Rounded Rectangle 43">
            <a:extLst>
              <a:ext uri="{FF2B5EF4-FFF2-40B4-BE49-F238E27FC236}">
                <a16:creationId xmlns:a16="http://schemas.microsoft.com/office/drawing/2014/main" id="{78D52A10-2D39-892D-CD14-BF441C1CA4F6}"/>
              </a:ext>
            </a:extLst>
          </p:cNvPr>
          <p:cNvSpPr>
            <a:spLocks noGrp="1"/>
          </p:cNvSpPr>
          <p:nvPr/>
        </p:nvSpPr>
        <p:spPr>
          <a:xfrm>
            <a:off x="1271588" y="5981446"/>
            <a:ext cx="7863840" cy="3749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8900" tIns="38100" rIns="88900" bIns="38100" anchor="ctr">
            <a:normAutofit/>
          </a:bodyPr>
          <a:lstStyle/>
          <a:p>
            <a:pPr algn="l">
              <a:buNone/>
            </a:pPr>
            <a:r>
              <a:rPr sz="1100" b="1">
                <a:solidFill>
                  <a:srgbClr val="1F5C9E"/>
                </a:solidFill>
                <a:latin typeface="Microsoft JhengHei"/>
                <a:ea typeface="Microsoft JhengHei"/>
                <a:cs typeface="Microsoft JhengHei"/>
              </a:rPr>
              <a:t>【</a:t>
            </a:r>
            <a:r>
              <a:rPr sz="1100" b="1" err="1">
                <a:solidFill>
                  <a:srgbClr val="1F5C9E"/>
                </a:solidFill>
                <a:latin typeface="Microsoft JhengHei"/>
                <a:ea typeface="Microsoft JhengHei"/>
                <a:cs typeface="Microsoft JhengHei"/>
              </a:rPr>
              <a:t>說明</a:t>
            </a:r>
            <a:r>
              <a:rPr sz="1100" b="1">
                <a:solidFill>
                  <a:srgbClr val="1F5C9E"/>
                </a:solidFill>
                <a:latin typeface="Microsoft JhengHei"/>
                <a:ea typeface="Microsoft JhengHei"/>
                <a:cs typeface="Microsoft JhengHei"/>
              </a:rPr>
              <a:t>】</a:t>
            </a:r>
            <a:r>
              <a:rPr lang="zh-TW" altLang="en-US" sz="1100">
                <a:solidFill>
                  <a:srgbClr val="222222"/>
                </a:solidFill>
                <a:latin typeface="Microsoft JhengHei"/>
                <a:ea typeface="Microsoft JhengHei"/>
                <a:cs typeface="Microsoft JhengHei"/>
              </a:rPr>
              <a:t>隨機森林由多棵決策樹組成；每棵樹會依據變數門檻將資料分組，並以葉節點中的平均臭氧值作為預測結果。</a:t>
            </a:r>
            <a:endParaRPr sz="1100">
              <a:solidFill>
                <a:srgbClr val="222222"/>
              </a:solidFill>
              <a:latin typeface="Microsoft JhengHei"/>
              <a:ea typeface="Microsoft JhengHei"/>
              <a:cs typeface="Microsoft JhengHei"/>
            </a:endParaRPr>
          </a:p>
        </p:txBody>
      </p:sp>
    </p:spTree>
    <p:extLst>
      <p:ext uri="{BB962C8B-B14F-4D97-AF65-F5344CB8AC3E}">
        <p14:creationId xmlns:p14="http://schemas.microsoft.com/office/powerpoint/2010/main" val="2208068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7C81E13-E5CB-1B81-3046-C313DEA22D0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9F68E2-31C2-4D90-A536-67698CDE3376}" type="slidenum">
              <a:rPr/>
              <a:t>13</a:t>
            </a:fld>
            <a:endParaRPr/>
          </a:p>
        </p:txBody>
      </p:sp>
      <p:graphicFrame>
        <p:nvGraphicFramePr>
          <p:cNvPr id="31" name="表格 4"/>
          <p:cNvGraphicFramePr/>
          <p:nvPr/>
        </p:nvGraphicFramePr>
        <p:xfrm>
          <a:off x="2782530" y="1017119"/>
          <a:ext cx="7493718" cy="1828800"/>
        </p:xfrm>
        <a:graphic>
          <a:graphicData uri="http://schemas.openxmlformats.org/drawingml/2006/table">
            <a:tbl>
              <a:tblPr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tblPr>
              <a:tblGrid>
                <a:gridCol w="24979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97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979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b="1">
                          <a:latin typeface="Microsoft YaHei"/>
                          <a:ea typeface="Microsoft YaHei"/>
                          <a:cs typeface="Microsoft YaHei"/>
                        </a:rPr>
                        <a:t>溫度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ED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b="1">
                          <a:latin typeface="Microsoft YaHei"/>
                          <a:ea typeface="Microsoft YaHei"/>
                          <a:cs typeface="Microsoft YaHei"/>
                        </a:rPr>
                        <a:t>濕度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ED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b="1">
                          <a:latin typeface="Microsoft YaHei"/>
                          <a:ea typeface="Microsoft YaHei"/>
                          <a:cs typeface="Microsoft YaHei"/>
                        </a:rPr>
                        <a:t>臭氧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E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>
                          <a:latin typeface="Microsoft YaHei"/>
                          <a:ea typeface="Microsoft YaHei"/>
                          <a:cs typeface="Microsoft YaHei"/>
                        </a:rPr>
                        <a:t>25°C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>
                      <a:noFill/>
                    </a:lnB>
                    <a:solidFill>
                      <a:srgbClr val="FFFED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>
                          <a:latin typeface="Microsoft YaHei"/>
                          <a:ea typeface="Microsoft YaHei"/>
                          <a:cs typeface="Microsoft YaHei"/>
                        </a:rPr>
                        <a:t>80%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>
                      <a:noFill/>
                    </a:lnB>
                    <a:solidFill>
                      <a:srgbClr val="FFFED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>
                          <a:latin typeface="Microsoft YaHei"/>
                          <a:ea typeface="Microsoft YaHei"/>
                          <a:cs typeface="Microsoft YaHei"/>
                        </a:rPr>
                        <a:t>30 ppb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>
                      <a:noFill/>
                    </a:lnB>
                    <a:solidFill>
                      <a:srgbClr val="FFFE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>
                          <a:latin typeface="Microsoft YaHei"/>
                          <a:ea typeface="Microsoft YaHei"/>
                          <a:cs typeface="Microsoft YaHei"/>
                        </a:rPr>
                        <a:t>27°C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ED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>
                          <a:latin typeface="Microsoft YaHei"/>
                          <a:ea typeface="Microsoft YaHei"/>
                          <a:cs typeface="Microsoft YaHei"/>
                        </a:rPr>
                        <a:t>75%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ED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>
                          <a:latin typeface="Microsoft YaHei"/>
                          <a:ea typeface="Microsoft YaHei"/>
                          <a:cs typeface="Microsoft YaHei"/>
                        </a:rPr>
                        <a:t>35 ppb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E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>
                          <a:latin typeface="Microsoft YaHei"/>
                          <a:ea typeface="Microsoft YaHei"/>
                          <a:cs typeface="Microsoft YaHei"/>
                        </a:rPr>
                        <a:t>32°C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ED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>
                          <a:latin typeface="Microsoft YaHei"/>
                          <a:ea typeface="Microsoft YaHei"/>
                          <a:cs typeface="Microsoft YaHei"/>
                        </a:rPr>
                        <a:t>60%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ED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>
                          <a:latin typeface="Microsoft YaHei"/>
                          <a:ea typeface="Microsoft YaHei"/>
                          <a:cs typeface="Microsoft YaHei"/>
                        </a:rPr>
                        <a:t>55 ppb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E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>
                          <a:latin typeface="Microsoft YaHei"/>
                          <a:ea typeface="Microsoft YaHei"/>
                          <a:cs typeface="Microsoft YaHei"/>
                        </a:rPr>
                        <a:t>34°C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ED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>
                          <a:latin typeface="Microsoft YaHei"/>
                          <a:ea typeface="Microsoft YaHei"/>
                          <a:cs typeface="Microsoft YaHei"/>
                        </a:rPr>
                        <a:t>50%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ED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>
                          <a:latin typeface="Microsoft YaHei"/>
                          <a:ea typeface="Microsoft YaHei"/>
                          <a:cs typeface="Microsoft YaHei"/>
                        </a:rPr>
                        <a:t>65 ppb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E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文字方塊 6">
            <a:extLst>
              <a:ext uri="{FF2B5EF4-FFF2-40B4-BE49-F238E27FC236}">
                <a16:creationId xmlns:a16="http://schemas.microsoft.com/office/drawing/2014/main" id="{538EA5AA-217A-0E91-E3EC-E1B0763E4973}"/>
              </a:ext>
            </a:extLst>
          </p:cNvPr>
          <p:cNvSpPr>
            <a:spLocks noGrp="1"/>
          </p:cNvSpPr>
          <p:nvPr/>
        </p:nvSpPr>
        <p:spPr>
          <a:xfrm>
            <a:off x="1868672" y="3079259"/>
            <a:ext cx="6119036" cy="12899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b="1">
                <a:latin typeface="Microsoft YaHei"/>
                <a:ea typeface="Microsoft YaHei"/>
                <a:cs typeface="Microsoft YaHei"/>
              </a:rPr>
              <a:t>例如今天</a:t>
            </a:r>
            <a:r>
              <a:rPr>
                <a:latin typeface="Microsoft YaHei"/>
                <a:ea typeface="Microsoft YaHei"/>
                <a:cs typeface="Microsoft YaHei"/>
              </a:rPr>
              <a:t>：</a:t>
            </a:r>
          </a:p>
          <a:p>
            <a:pPr marL="342900" lvl="0" indent="-342900">
              <a:lnSpc>
                <a:spcPct val="150000"/>
              </a:lnSpc>
              <a:buFont typeface="Arial"/>
              <a:buChar char="•"/>
            </a:pPr>
            <a:r>
              <a:rPr>
                <a:latin typeface="Microsoft YaHei"/>
                <a:ea typeface="Microsoft YaHei"/>
                <a:cs typeface="Microsoft YaHei"/>
              </a:rPr>
              <a:t>溫度 33°C </a:t>
            </a:r>
          </a:p>
          <a:p>
            <a:pPr marL="342900" lvl="0" indent="-342900">
              <a:lnSpc>
                <a:spcPct val="150000"/>
              </a:lnSpc>
              <a:buFont typeface="Arial"/>
              <a:buChar char="•"/>
            </a:pPr>
            <a:r>
              <a:rPr>
                <a:latin typeface="Microsoft YaHei"/>
                <a:ea typeface="Microsoft YaHei"/>
                <a:cs typeface="Microsoft YaHei"/>
              </a:rPr>
              <a:t>濕度 58% 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A2DD01AF-D577-FF32-3B27-26385F689424}"/>
              </a:ext>
            </a:extLst>
          </p:cNvPr>
          <p:cNvSpPr>
            <a:spLocks noGrp="1"/>
          </p:cNvSpPr>
          <p:nvPr/>
        </p:nvSpPr>
        <p:spPr>
          <a:xfrm>
            <a:off x="1868672" y="4835845"/>
            <a:ext cx="6119036" cy="17054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b="1">
                <a:latin typeface="Microsoft YaHei"/>
                <a:ea typeface="Microsoft YaHei"/>
                <a:cs typeface="Microsoft YaHei"/>
              </a:rPr>
              <a:t>判斷過程是</a:t>
            </a:r>
            <a:r>
              <a:rPr>
                <a:latin typeface="Microsoft YaHei"/>
                <a:ea typeface="Microsoft YaHei"/>
                <a:cs typeface="Microsoft YaHei"/>
              </a:rPr>
              <a:t>：</a:t>
            </a:r>
          </a:p>
          <a:p>
            <a:pPr>
              <a:lnSpc>
                <a:spcPct val="150000"/>
              </a:lnSpc>
              <a:buNone/>
            </a:pPr>
            <a:r>
              <a:rPr>
                <a:latin typeface="Microsoft YaHei"/>
                <a:ea typeface="Microsoft YaHei"/>
                <a:cs typeface="Microsoft YaHei"/>
              </a:rPr>
              <a:t>33°C &lt; 30°C？否</a:t>
            </a:r>
          </a:p>
          <a:p>
            <a:pPr>
              <a:lnSpc>
                <a:spcPct val="150000"/>
              </a:lnSpc>
              <a:buNone/>
            </a:pPr>
            <a:r>
              <a:rPr>
                <a:latin typeface="Microsoft YaHei"/>
                <a:ea typeface="Microsoft YaHei"/>
                <a:cs typeface="Microsoft YaHei"/>
              </a:rPr>
              <a:t>58% &lt; 55%？否</a:t>
            </a:r>
          </a:p>
          <a:p>
            <a:pPr>
              <a:lnSpc>
                <a:spcPct val="150000"/>
              </a:lnSpc>
              <a:buNone/>
            </a:pPr>
            <a:r>
              <a:rPr>
                <a:latin typeface="Microsoft YaHei"/>
                <a:ea typeface="Microsoft YaHei"/>
                <a:cs typeface="Microsoft YaHei"/>
              </a:rPr>
              <a:t>→ 進入臭氧 55 ppb 的葉節點</a:t>
            </a:r>
          </a:p>
        </p:txBody>
      </p:sp>
      <p:sp>
        <p:nvSpPr>
          <p:cNvPr id="10" name="直線接點 9">
            <a:extLst>
              <a:ext uri="{FF2B5EF4-FFF2-40B4-BE49-F238E27FC236}">
                <a16:creationId xmlns:a16="http://schemas.microsoft.com/office/drawing/2014/main" id="{F1F3CC96-6ED7-47AB-A4C2-223930427991}"/>
              </a:ext>
            </a:extLst>
          </p:cNvPr>
          <p:cNvSpPr>
            <a:spLocks noGrp="1"/>
          </p:cNvSpPr>
          <p:nvPr/>
        </p:nvSpPr>
        <p:spPr>
          <a:xfrm>
            <a:off x="1537291" y="4602504"/>
            <a:ext cx="9816509" cy="0"/>
          </a:xfrm>
          <a:prstGeom prst="line">
            <a:avLst/>
          </a:prstGeom>
          <a:ln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5BAA6416-FBC6-D495-2BAD-C2FC5AADB5C1}"/>
              </a:ext>
            </a:extLst>
          </p:cNvPr>
          <p:cNvSpPr>
            <a:spLocks noGrp="1"/>
          </p:cNvSpPr>
          <p:nvPr/>
        </p:nvSpPr>
        <p:spPr>
          <a:xfrm>
            <a:off x="2998380" y="374392"/>
            <a:ext cx="110799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>
                <a:solidFill>
                  <a:schemeClr val="accent2">
                    <a:lumMod val="50000"/>
                  </a:schemeClr>
                </a:solidFill>
                <a:latin typeface="Microsoft YaHei"/>
                <a:ea typeface="Microsoft YaHei"/>
                <a:cs typeface="Microsoft YaHei"/>
              </a:rPr>
              <a:t>模式概念</a:t>
            </a:r>
          </a:p>
        </p:txBody>
      </p:sp>
      <p:sp>
        <p:nvSpPr>
          <p:cNvPr id="4" name="Rounded Rectangle 43">
            <a:extLst>
              <a:ext uri="{FF2B5EF4-FFF2-40B4-BE49-F238E27FC236}">
                <a16:creationId xmlns:a16="http://schemas.microsoft.com/office/drawing/2014/main" id="{477CB024-8657-9FCF-1D1A-7D3254BBEDFA}"/>
              </a:ext>
            </a:extLst>
          </p:cNvPr>
          <p:cNvSpPr>
            <a:spLocks noGrp="1"/>
          </p:cNvSpPr>
          <p:nvPr/>
        </p:nvSpPr>
        <p:spPr>
          <a:xfrm>
            <a:off x="6246891" y="5465977"/>
            <a:ext cx="4599159" cy="65703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8900" tIns="38100" rIns="88900" bIns="38100" anchor="ctr">
            <a:normAutofit/>
          </a:bodyPr>
          <a:lstStyle/>
          <a:p>
            <a:pPr algn="l">
              <a:buNone/>
            </a:pPr>
            <a:r>
              <a:rPr sz="1200" b="1">
                <a:solidFill>
                  <a:srgbClr val="1F5C9E"/>
                </a:solidFill>
                <a:latin typeface="Microsoft JhengHei"/>
                <a:ea typeface="Microsoft JhengHei"/>
                <a:cs typeface="Microsoft JhengHei"/>
              </a:rPr>
              <a:t>【</a:t>
            </a:r>
            <a:r>
              <a:rPr sz="1200" b="1" err="1">
                <a:solidFill>
                  <a:srgbClr val="1F5C9E"/>
                </a:solidFill>
                <a:latin typeface="Microsoft JhengHei"/>
                <a:ea typeface="Microsoft JhengHei"/>
                <a:cs typeface="Microsoft JhengHei"/>
              </a:rPr>
              <a:t>說明</a:t>
            </a:r>
            <a:r>
              <a:rPr sz="1200" b="1">
                <a:solidFill>
                  <a:srgbClr val="1F5C9E"/>
                </a:solidFill>
                <a:latin typeface="Microsoft JhengHei"/>
                <a:ea typeface="Microsoft JhengHei"/>
                <a:cs typeface="Microsoft JhengHei"/>
              </a:rPr>
              <a:t>】</a:t>
            </a:r>
            <a:r>
              <a:rPr lang="zh-TW" altLang="en-US" sz="1200">
                <a:solidFill>
                  <a:srgbClr val="222222"/>
                </a:solidFill>
                <a:latin typeface="Microsoft JhengHei"/>
                <a:ea typeface="Microsoft JhengHei"/>
                <a:cs typeface="Microsoft JhengHei"/>
              </a:rPr>
              <a:t>決策樹會依序檢查溫度、濕度等條件，將資料分到葉節點；</a:t>
            </a:r>
            <a:r>
              <a:rPr lang="en-US" altLang="zh-TW" sz="1200">
                <a:solidFill>
                  <a:srgbClr val="222222"/>
                </a:solidFill>
                <a:latin typeface="Microsoft JhengHei"/>
                <a:ea typeface="Microsoft JhengHei"/>
                <a:cs typeface="Microsoft JhengHei"/>
              </a:rPr>
              <a:t>Random Forest </a:t>
            </a:r>
            <a:r>
              <a:rPr lang="zh-TW" altLang="en-US" sz="1200">
                <a:solidFill>
                  <a:srgbClr val="222222"/>
                </a:solidFill>
                <a:latin typeface="Microsoft JhengHei"/>
                <a:ea typeface="Microsoft JhengHei"/>
                <a:cs typeface="Microsoft JhengHei"/>
              </a:rPr>
              <a:t>則整合多棵樹，使預測較穩定。</a:t>
            </a:r>
            <a:endParaRPr sz="1200">
              <a:solidFill>
                <a:srgbClr val="222222"/>
              </a:solidFill>
              <a:latin typeface="Microsoft JhengHei"/>
              <a:ea typeface="Microsoft JhengHei"/>
              <a:cs typeface="Microsoft JhengHei"/>
            </a:endParaRPr>
          </a:p>
        </p:txBody>
      </p:sp>
    </p:spTree>
    <p:extLst>
      <p:ext uri="{BB962C8B-B14F-4D97-AF65-F5344CB8AC3E}">
        <p14:creationId xmlns:p14="http://schemas.microsoft.com/office/powerpoint/2010/main" val="26927786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: 圓角 7">
            <a:extLst>
              <a:ext uri="{FF2B5EF4-FFF2-40B4-BE49-F238E27FC236}">
                <a16:creationId xmlns:a16="http://schemas.microsoft.com/office/drawing/2014/main" id="{45699EDB-A34F-CD95-4D99-DCC1F19A8475}"/>
              </a:ext>
            </a:extLst>
          </p:cNvPr>
          <p:cNvSpPr>
            <a:spLocks noGrp="1"/>
          </p:cNvSpPr>
          <p:nvPr/>
        </p:nvSpPr>
        <p:spPr>
          <a:xfrm>
            <a:off x="1098810" y="5407924"/>
            <a:ext cx="3253562" cy="1024771"/>
          </a:xfrm>
          <a:prstGeom prst="roundRect">
            <a:avLst/>
          </a:prstGeom>
          <a:solidFill>
            <a:schemeClr val="bg2"/>
          </a:solidFill>
          <a:ln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F5143D28-2D87-7C2F-E581-16C520B67BA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9F68E2-31C2-4D90-A536-67698CDE3376}" type="slidenum">
              <a:rPr/>
              <a:t>14</a:t>
            </a:fld>
            <a:endParaRPr/>
          </a:p>
        </p:txBody>
      </p:sp>
      <p:graphicFrame>
        <p:nvGraphicFramePr>
          <p:cNvPr id="16" name="表格 2"/>
          <p:cNvGraphicFramePr/>
          <p:nvPr/>
        </p:nvGraphicFramePr>
        <p:xfrm>
          <a:off x="838200" y="1554742"/>
          <a:ext cx="10515600" cy="2923373"/>
        </p:xfrm>
        <a:graphic>
          <a:graphicData uri="http://schemas.openxmlformats.org/drawingml/2006/table">
            <a:tbl>
              <a:tblPr/>
              <a:tblGrid>
                <a:gridCol w="22984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469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702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84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b="1">
                          <a:latin typeface="Microsoft YaHei"/>
                          <a:ea typeface="Microsoft YaHei"/>
                          <a:cs typeface="Microsoft YaHei"/>
                        </a:rPr>
                        <a:t>參數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b="1">
                          <a:latin typeface="Microsoft YaHei"/>
                          <a:ea typeface="Microsoft YaHei"/>
                          <a:cs typeface="Microsoft YaHei"/>
                        </a:rPr>
                        <a:t>設定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b="1">
                          <a:latin typeface="Microsoft YaHei"/>
                          <a:ea typeface="Microsoft YaHei"/>
                          <a:cs typeface="Microsoft YaHei"/>
                        </a:rPr>
                        <a:t>意義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84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>
                          <a:latin typeface="Microsoft YaHei"/>
                          <a:ea typeface="Microsoft YaHei"/>
                          <a:cs typeface="Microsoft YaHei"/>
                        </a:rPr>
                        <a:t>n_estimators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>
                          <a:latin typeface="Microsoft YaHei"/>
                          <a:ea typeface="Microsoft YaHei"/>
                          <a:cs typeface="Microsoft YaHei"/>
                        </a:rPr>
                        <a:t>500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>
                          <a:latin typeface="Microsoft YaHei"/>
                          <a:ea typeface="Microsoft YaHei"/>
                          <a:cs typeface="Microsoft YaHei"/>
                        </a:rPr>
                        <a:t>建 500 棵樹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588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>
                          <a:latin typeface="Microsoft YaHei"/>
                          <a:ea typeface="Microsoft YaHei"/>
                          <a:cs typeface="Microsoft YaHei"/>
                        </a:rPr>
                        <a:t>min_samples_leaf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>
                          <a:latin typeface="Microsoft YaHei"/>
                          <a:ea typeface="Microsoft YaHei"/>
                          <a:cs typeface="Microsoft YaHei"/>
                        </a:rPr>
                        <a:t>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>
                          <a:latin typeface="Microsoft YaHei"/>
                          <a:ea typeface="Microsoft YaHei"/>
                          <a:cs typeface="Microsoft YaHei"/>
                        </a:rPr>
                        <a:t>每個葉節點至少 5 筆資料 </a:t>
                      </a:r>
                      <a:r>
                        <a:rPr sz="1400">
                          <a:solidFill>
                            <a:schemeClr val="bg2">
                              <a:lumMod val="50000"/>
                            </a:schemeClr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(模型訓練時，每一棵樹在建立規則時，最終分組不能少於 5 筆觀測資料。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</a:rPr>
                        <a:t>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84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>
                          <a:latin typeface="Microsoft YaHei"/>
                          <a:ea typeface="Microsoft YaHei"/>
                          <a:cs typeface="Microsoft YaHei"/>
                        </a:rPr>
                        <a:t>random_state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>
                          <a:latin typeface="Microsoft YaHei"/>
                          <a:ea typeface="Microsoft YaHei"/>
                          <a:cs typeface="Microsoft YaHei"/>
                        </a:rPr>
                        <a:t>42 </a:t>
                      </a:r>
                      <a:r>
                        <a:rPr sz="1400">
                          <a:solidFill>
                            <a:schemeClr val="bg2">
                              <a:lumMod val="50000"/>
                            </a:schemeClr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(數字沒有特殊意義，42 只是程式範例中常見的習慣值。)</a:t>
                      </a:r>
                      <a:endParaRPr>
                        <a:solidFill>
                          <a:schemeClr val="bg2">
                            <a:lumMod val="50000"/>
                          </a:schemeClr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>
                          <a:latin typeface="Microsoft YaHei"/>
                          <a:ea typeface="Microsoft YaHei"/>
                          <a:cs typeface="Microsoft YaHei"/>
                        </a:rPr>
                        <a:t>固定隨機種子，結果可重現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84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err="1">
                          <a:latin typeface="Microsoft YaHei"/>
                          <a:ea typeface="Microsoft YaHei"/>
                          <a:cs typeface="Microsoft YaHei"/>
                        </a:rPr>
                        <a:t>oob_score</a:t>
                      </a:r>
                      <a:endParaRPr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>
                          <a:latin typeface="Microsoft YaHei"/>
                          <a:ea typeface="Microsoft YaHei"/>
                          <a:cs typeface="Microsoft YaHei"/>
                        </a:rPr>
                        <a:t>True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err="1">
                          <a:latin typeface="Microsoft YaHei"/>
                          <a:ea typeface="Microsoft YaHei"/>
                          <a:cs typeface="Microsoft YaHei"/>
                        </a:rPr>
                        <a:t>計算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</a:rPr>
                        <a:t> R²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文字方塊 6">
            <a:extLst>
              <a:ext uri="{FF2B5EF4-FFF2-40B4-BE49-F238E27FC236}">
                <a16:creationId xmlns:a16="http://schemas.microsoft.com/office/drawing/2014/main" id="{5708F179-3E48-2601-1522-84065751EABD}"/>
              </a:ext>
            </a:extLst>
          </p:cNvPr>
          <p:cNvSpPr>
            <a:spLocks noGrp="1"/>
          </p:cNvSpPr>
          <p:nvPr/>
        </p:nvSpPr>
        <p:spPr>
          <a:xfrm>
            <a:off x="1271588" y="5439824"/>
            <a:ext cx="6119036" cy="8744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b="1">
                <a:latin typeface="Microsoft YaHei"/>
                <a:ea typeface="Microsoft YaHei"/>
                <a:cs typeface="Microsoft YaHei"/>
              </a:rPr>
              <a:t>訓練資料：</a:t>
            </a:r>
            <a:r>
              <a:rPr>
                <a:latin typeface="Microsoft YaHei"/>
                <a:ea typeface="Microsoft YaHei"/>
                <a:cs typeface="Microsoft YaHei"/>
              </a:rPr>
              <a:t>2018–2023 年</a:t>
            </a:r>
            <a:br/>
            <a:r>
              <a:rPr b="1">
                <a:latin typeface="Microsoft YaHei"/>
                <a:ea typeface="Microsoft YaHei"/>
                <a:cs typeface="Microsoft YaHei"/>
              </a:rPr>
              <a:t>測試資料：</a:t>
            </a:r>
            <a:r>
              <a:rPr>
                <a:latin typeface="Microsoft YaHei"/>
                <a:ea typeface="Microsoft YaHei"/>
                <a:cs typeface="Microsoft YaHei"/>
              </a:rPr>
              <a:t>2024–2025 年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3325C754-FE55-46A1-F73C-F7A2C39D9A6E}"/>
              </a:ext>
            </a:extLst>
          </p:cNvPr>
          <p:cNvSpPr>
            <a:spLocks noGrp="1"/>
          </p:cNvSpPr>
          <p:nvPr/>
        </p:nvSpPr>
        <p:spPr>
          <a:xfrm>
            <a:off x="2998380" y="374392"/>
            <a:ext cx="110799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>
                <a:solidFill>
                  <a:schemeClr val="accent2">
                    <a:lumMod val="50000"/>
                  </a:schemeClr>
                </a:solidFill>
                <a:latin typeface="Microsoft YaHei"/>
                <a:ea typeface="Microsoft YaHei"/>
                <a:cs typeface="Microsoft YaHei"/>
              </a:rPr>
              <a:t>模式概念</a:t>
            </a:r>
          </a:p>
        </p:txBody>
      </p:sp>
      <p:pic>
        <p:nvPicPr>
          <p:cNvPr id="19" name="圖片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6456" y="4651271"/>
            <a:ext cx="5953956" cy="1781424"/>
          </a:xfrm>
          <a:prstGeom prst="roundRect">
            <a:avLst>
              <a:gd name="adj" fmla="val 6520"/>
            </a:avLst>
          </a:prstGeom>
          <a:ln w="19050">
            <a:solidFill>
              <a:schemeClr val="tx1"/>
            </a:solidFill>
          </a:ln>
        </p:spPr>
      </p:pic>
      <p:sp>
        <p:nvSpPr>
          <p:cNvPr id="13" name="【說明】補充框">
            <a:extLst>
              <a:ext uri="{FF2B5EF4-FFF2-40B4-BE49-F238E27FC236}">
                <a16:creationId xmlns:a16="http://schemas.microsoft.com/office/drawing/2014/main" id="{18BA3EE4-7218-4703-AABC-94866DABC51D}"/>
              </a:ext>
            </a:extLst>
          </p:cNvPr>
          <p:cNvSpPr>
            <a:spLocks noGrp="1"/>
          </p:cNvSpPr>
          <p:nvPr/>
        </p:nvSpPr>
        <p:spPr>
          <a:xfrm>
            <a:off x="838200" y="863918"/>
            <a:ext cx="6286500" cy="570629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7144">
            <a:solidFill>
              <a:srgbClr val="C9CDD3"/>
            </a:solidFill>
            <a:prstDash val="solid"/>
          </a:ln>
        </p:spPr>
        <p:txBody>
          <a:bodyPr/>
          <a:lstStyle/>
          <a:p>
            <a:pPr>
              <a:defRPr sz="750">
                <a:solidFill>
                  <a:srgbClr val="4D4D4D"/>
                </a:solidFill>
              </a:defRPr>
            </a:pPr>
            <a:r>
              <a:rPr sz="1200" b="1">
                <a:solidFill>
                  <a:srgbClr val="1F5C9E"/>
                </a:solidFill>
                <a:latin typeface="Microsoft JhengHei"/>
                <a:ea typeface="Microsoft JhengHei"/>
              </a:rPr>
              <a:t>【</a:t>
            </a:r>
            <a:r>
              <a:rPr sz="1200" b="1" err="1">
                <a:solidFill>
                  <a:srgbClr val="1F5C9E"/>
                </a:solidFill>
                <a:latin typeface="Microsoft JhengHei"/>
                <a:ea typeface="Microsoft JhengHei"/>
              </a:rPr>
              <a:t>說明</a:t>
            </a:r>
            <a:r>
              <a:rPr sz="1200" b="1">
                <a:solidFill>
                  <a:srgbClr val="1F5C9E"/>
                </a:solidFill>
                <a:latin typeface="Microsoft JhengHei"/>
                <a:ea typeface="Microsoft JhengHei"/>
              </a:rPr>
              <a:t>】 </a:t>
            </a:r>
            <a:r>
              <a:rPr sz="1200">
                <a:solidFill>
                  <a:srgbClr val="4D4D4D"/>
                </a:solidFill>
              </a:rPr>
              <a:t>RF 以 2018–2023 年訓練、2024–2025 年測試；500 </a:t>
            </a:r>
            <a:r>
              <a:rPr sz="1200" err="1">
                <a:solidFill>
                  <a:srgbClr val="4D4D4D"/>
                </a:solidFill>
              </a:rPr>
              <a:t>棵樹提升穩定性，葉節點最少</a:t>
            </a:r>
            <a:r>
              <a:rPr sz="1200">
                <a:solidFill>
                  <a:srgbClr val="4D4D4D"/>
                </a:solidFill>
              </a:rPr>
              <a:t> 5 </a:t>
            </a:r>
            <a:r>
              <a:rPr sz="1200" err="1">
                <a:solidFill>
                  <a:srgbClr val="4D4D4D"/>
                </a:solidFill>
              </a:rPr>
              <a:t>筆資料可降低過度配適</a:t>
            </a:r>
            <a:r>
              <a:rPr sz="1200">
                <a:solidFill>
                  <a:srgbClr val="4D4D4D"/>
                </a:solidFill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23644073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8D52329-7C14-15B7-A149-EA35C98AB09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9F68E2-31C2-4D90-A536-67698CDE3376}" type="slidenum">
              <a:rPr/>
              <a:t>15</a:t>
            </a:fld>
            <a:endParaRPr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E093BC44-7108-D55E-CA1A-B2FFE191BA05}"/>
              </a:ext>
            </a:extLst>
          </p:cNvPr>
          <p:cNvSpPr>
            <a:spLocks noGrp="1"/>
          </p:cNvSpPr>
          <p:nvPr/>
        </p:nvSpPr>
        <p:spPr>
          <a:xfrm>
            <a:off x="2998380" y="374392"/>
            <a:ext cx="110799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>
                <a:solidFill>
                  <a:schemeClr val="accent2">
                    <a:lumMod val="50000"/>
                  </a:schemeClr>
                </a:solidFill>
                <a:latin typeface="Microsoft YaHei"/>
                <a:ea typeface="Microsoft YaHei"/>
                <a:cs typeface="Microsoft YaHei"/>
              </a:rPr>
              <a:t>結果產出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62152D6F-8F2B-85DB-F5D1-088F2FBCB455}"/>
              </a:ext>
            </a:extLst>
          </p:cNvPr>
          <p:cNvSpPr>
            <a:spLocks noGrp="1"/>
          </p:cNvSpPr>
          <p:nvPr/>
        </p:nvSpPr>
        <p:spPr>
          <a:xfrm>
            <a:off x="1292850" y="1586196"/>
            <a:ext cx="10434862" cy="458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b="1">
                <a:latin typeface="Microsoft YaHei"/>
                <a:ea typeface="Microsoft YaHei"/>
                <a:cs typeface="Microsoft YaHei"/>
              </a:rPr>
              <a:t>1. Model performance: R2 / RMSE / MAE for regression; </a:t>
            </a:r>
            <a:r>
              <a:rPr b="1" u="sng">
                <a:latin typeface="Microsoft YaHei"/>
                <a:ea typeface="Microsoft YaHei"/>
                <a:cs typeface="Microsoft YaHei"/>
              </a:rPr>
              <a:t>AUC</a:t>
            </a:r>
            <a:r>
              <a:rPr b="1">
                <a:latin typeface="Microsoft YaHei"/>
                <a:ea typeface="Microsoft YaHei"/>
                <a:cs typeface="Microsoft YaHei"/>
              </a:rPr>
              <a:t> / </a:t>
            </a:r>
            <a:r>
              <a:rPr b="1" u="sng">
                <a:latin typeface="Microsoft YaHei"/>
                <a:ea typeface="Microsoft YaHei"/>
                <a:cs typeface="Microsoft YaHei"/>
              </a:rPr>
              <a:t>F1</a:t>
            </a:r>
            <a:r>
              <a:rPr b="1">
                <a:latin typeface="Microsoft YaHei"/>
                <a:ea typeface="Microsoft YaHei"/>
                <a:cs typeface="Microsoft YaHei"/>
              </a:rPr>
              <a:t> for classification</a:t>
            </a:r>
            <a:endParaRPr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9C3F2D0A-BEB8-A1FC-3966-BBBDCFA53640}"/>
              </a:ext>
            </a:extLst>
          </p:cNvPr>
          <p:cNvSpPr>
            <a:spLocks noGrp="1"/>
          </p:cNvSpPr>
          <p:nvPr/>
        </p:nvSpPr>
        <p:spPr>
          <a:xfrm>
            <a:off x="3976578" y="1984847"/>
            <a:ext cx="82263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chemeClr val="bg2">
                    <a:lumMod val="50000"/>
                  </a:schemeClr>
                </a:solidFill>
                <a:latin typeface="Microsoft YaHei"/>
                <a:ea typeface="Microsoft YaHei"/>
                <a:cs typeface="Microsoft YaHei"/>
              </a:rPr>
              <a:t>Area Under the ROC Curve : 模型能不能把「高臭氧事件日」和「非事件日」分開。 </a:t>
            </a:r>
            <a:endParaRPr sz="1600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5DF16A3F-12E1-556F-727F-16F7A261B75D}"/>
              </a:ext>
            </a:extLst>
          </p:cNvPr>
          <p:cNvSpPr>
            <a:spLocks noGrp="1"/>
          </p:cNvSpPr>
          <p:nvPr/>
        </p:nvSpPr>
        <p:spPr>
          <a:xfrm>
            <a:off x="6581553" y="1307139"/>
            <a:ext cx="42549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chemeClr val="bg2">
                    <a:lumMod val="50000"/>
                  </a:schemeClr>
                </a:solidFill>
                <a:latin typeface="Microsoft YaHei"/>
                <a:ea typeface="Microsoft YaHei"/>
                <a:cs typeface="Microsoft YaHei"/>
              </a:rPr>
              <a:t>Precision (精確率)和 Recall (召回率)的綜合指標。F1 = 2 × Precision × Recall / (Precision + Recall)</a:t>
            </a:r>
            <a:endParaRPr sz="160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2C814E3A-A9CC-EF80-A093-89646614E254}"/>
              </a:ext>
            </a:extLst>
          </p:cNvPr>
          <p:cNvSpPr>
            <a:spLocks noGrp="1"/>
          </p:cNvSpPr>
          <p:nvPr/>
        </p:nvSpPr>
        <p:spPr>
          <a:xfrm>
            <a:off x="1303473" y="2396172"/>
            <a:ext cx="1092041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sz="1600">
                <a:latin typeface="Microsoft YaHei"/>
                <a:ea typeface="Microsoft YaHei"/>
                <a:cs typeface="Microsoft YaHei"/>
              </a:rPr>
              <a:t>F1跟AUC都會看臭氧有沒有大於等於60ppb的日子嗎，意思是說他們不是預測濃度，而回答是非題再看有多少對錯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B68D9DB0-4ABD-3664-FA2E-0963717243A7}"/>
              </a:ext>
            </a:extLst>
          </p:cNvPr>
          <p:cNvSpPr>
            <a:spLocks noGrp="1"/>
          </p:cNvSpPr>
          <p:nvPr/>
        </p:nvSpPr>
        <p:spPr>
          <a:xfrm>
            <a:off x="1292850" y="3158313"/>
            <a:ext cx="10434862" cy="458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b="1">
                <a:latin typeface="Microsoft YaHei"/>
                <a:ea typeface="Microsoft YaHei"/>
                <a:cs typeface="Microsoft YaHei"/>
              </a:rPr>
              <a:t>2. Variable importance: identifies key meteorological drivers </a:t>
            </a:r>
            <a:endParaRPr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7B006DD4-96AF-A26F-8CA9-185468901858}"/>
              </a:ext>
            </a:extLst>
          </p:cNvPr>
          <p:cNvSpPr>
            <a:spLocks noGrp="1"/>
          </p:cNvSpPr>
          <p:nvPr/>
        </p:nvSpPr>
        <p:spPr>
          <a:xfrm>
            <a:off x="1261662" y="3507609"/>
            <a:ext cx="987134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sz="1200">
                <a:solidFill>
                  <a:schemeClr val="bg2">
                    <a:lumMod val="50000"/>
                  </a:schemeClr>
                </a:solidFill>
                <a:latin typeface="Microsoft YaHei"/>
                <a:ea typeface="Microsoft YaHei"/>
                <a:cs typeface="Microsoft YaHei"/>
              </a:rPr>
              <a:t>變數重要性 : 哪些變數對模型最有幫助？</a:t>
            </a: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F2AC2C0C-9E74-5736-5288-85A96A6308CD}"/>
              </a:ext>
            </a:extLst>
          </p:cNvPr>
          <p:cNvSpPr>
            <a:spLocks noGrp="1"/>
          </p:cNvSpPr>
          <p:nvPr/>
        </p:nvSpPr>
        <p:spPr>
          <a:xfrm>
            <a:off x="1292850" y="3945530"/>
            <a:ext cx="1092041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sz="1600">
                <a:latin typeface="Microsoft YaHei"/>
                <a:ea typeface="Microsoft YaHei"/>
                <a:cs typeface="Microsoft YaHei"/>
              </a:rPr>
              <a:t>先看原始模型表現 → 一次</a:t>
            </a:r>
            <a:r>
              <a:rPr sz="1600" b="1" u="sng">
                <a:latin typeface="Microsoft YaHei"/>
                <a:ea typeface="Microsoft YaHei"/>
                <a:cs typeface="Microsoft YaHei"/>
              </a:rPr>
              <a:t>打亂</a:t>
            </a:r>
            <a:r>
              <a:rPr sz="1600">
                <a:latin typeface="Microsoft YaHei"/>
                <a:ea typeface="Microsoft YaHei"/>
                <a:cs typeface="Microsoft YaHei"/>
              </a:rPr>
              <a:t>一個變數 → 觀察模型表現下降多少 → 下降越多，該變數越重要</a:t>
            </a: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F94FD9ED-0A59-B09C-BCF1-349C1CDD0186}"/>
              </a:ext>
            </a:extLst>
          </p:cNvPr>
          <p:cNvSpPr>
            <a:spLocks noGrp="1"/>
          </p:cNvSpPr>
          <p:nvPr/>
        </p:nvSpPr>
        <p:spPr>
          <a:xfrm>
            <a:off x="3611468" y="4199224"/>
            <a:ext cx="82263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chemeClr val="bg2">
                    <a:lumMod val="50000"/>
                  </a:schemeClr>
                </a:solidFill>
                <a:latin typeface="Microsoft YaHei"/>
                <a:ea typeface="Microsoft YaHei"/>
                <a:cs typeface="Microsoft YaHei"/>
              </a:rPr>
              <a:t>把某一個變數的數值重新洗牌，讓它和原本那一天的臭氧值對不起來。</a:t>
            </a:r>
            <a:endParaRPr sz="1600"/>
          </a:p>
        </p:txBody>
      </p:sp>
      <p:sp>
        <p:nvSpPr>
          <p:cNvPr id="21" name="直線接點 20">
            <a:extLst>
              <a:ext uri="{FF2B5EF4-FFF2-40B4-BE49-F238E27FC236}">
                <a16:creationId xmlns:a16="http://schemas.microsoft.com/office/drawing/2014/main" id="{476A3C1D-2A77-4E3A-9395-1F84272BE63B}"/>
              </a:ext>
            </a:extLst>
          </p:cNvPr>
          <p:cNvSpPr>
            <a:spLocks noGrp="1"/>
          </p:cNvSpPr>
          <p:nvPr/>
        </p:nvSpPr>
        <p:spPr>
          <a:xfrm>
            <a:off x="1537291" y="2946520"/>
            <a:ext cx="9816509" cy="0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22" name="直線接點 21">
            <a:extLst>
              <a:ext uri="{FF2B5EF4-FFF2-40B4-BE49-F238E27FC236}">
                <a16:creationId xmlns:a16="http://schemas.microsoft.com/office/drawing/2014/main" id="{F18591A9-AF29-428D-8F70-45765D5DE9EF}"/>
              </a:ext>
            </a:extLst>
          </p:cNvPr>
          <p:cNvSpPr>
            <a:spLocks noGrp="1"/>
          </p:cNvSpPr>
          <p:nvPr/>
        </p:nvSpPr>
        <p:spPr>
          <a:xfrm>
            <a:off x="1537291" y="4688016"/>
            <a:ext cx="9816509" cy="0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E4BF6A53-CA9E-9ECD-3A38-F890851D4F9F}"/>
              </a:ext>
            </a:extLst>
          </p:cNvPr>
          <p:cNvSpPr>
            <a:spLocks noGrp="1"/>
          </p:cNvSpPr>
          <p:nvPr/>
        </p:nvSpPr>
        <p:spPr>
          <a:xfrm>
            <a:off x="1292850" y="4899810"/>
            <a:ext cx="10434862" cy="458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b="1">
                <a:latin typeface="Microsoft YaHei"/>
                <a:ea typeface="Microsoft YaHei"/>
                <a:cs typeface="Microsoft YaHei"/>
              </a:rPr>
              <a:t>3. Partial dependence: shows nonlinear O3 responses</a:t>
            </a:r>
            <a:endParaRPr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4B76C2A6-5F25-27C6-C31B-701A5B84FDC3}"/>
              </a:ext>
            </a:extLst>
          </p:cNvPr>
          <p:cNvSpPr>
            <a:spLocks noGrp="1"/>
          </p:cNvSpPr>
          <p:nvPr/>
        </p:nvSpPr>
        <p:spPr>
          <a:xfrm>
            <a:off x="1261662" y="5235123"/>
            <a:ext cx="987134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sz="1200">
                <a:solidFill>
                  <a:schemeClr val="bg2">
                    <a:lumMod val="50000"/>
                  </a:schemeClr>
                </a:solidFill>
                <a:latin typeface="Microsoft YaHei"/>
                <a:ea typeface="Microsoft YaHei"/>
                <a:cs typeface="Microsoft YaHei"/>
              </a:rPr>
              <a:t>部分依賴圖 : 變數變化時 O3 怎麼變？它不是重新訓練模型。它是在模型訓練好之後，拿來「測試模型怎麼想」。  </a:t>
            </a: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AE834420-BCC7-E8C4-E551-AB074EEC61FE}"/>
              </a:ext>
            </a:extLst>
          </p:cNvPr>
          <p:cNvSpPr>
            <a:spLocks noGrp="1"/>
          </p:cNvSpPr>
          <p:nvPr/>
        </p:nvSpPr>
        <p:spPr>
          <a:xfrm>
            <a:off x="1292850" y="5545408"/>
            <a:ext cx="1054499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sz="1600">
                <a:latin typeface="Microsoft YaHei"/>
                <a:ea typeface="Microsoft YaHei"/>
                <a:cs typeface="Microsoft YaHei"/>
              </a:rPr>
              <a:t>先假裝所有日子的溫度都是 25°C，然後讓模型預測 O3。→ 先假裝所有日子的溫度都是 25°C，然後讓模型預測 O3</a:t>
            </a:r>
          </a:p>
          <a:p>
            <a:pPr>
              <a:buNone/>
            </a:pPr>
            <a:r>
              <a:rPr sz="1600">
                <a:latin typeface="Microsoft YaHei"/>
                <a:ea typeface="Microsoft YaHei"/>
                <a:cs typeface="Microsoft YaHei"/>
              </a:rPr>
              <a:t>→ 觀察模型表現下降多少 → 再假裝所有日子的溫度都是 35°C，再預測一次。 → 最後劃出條線</a:t>
            </a:r>
          </a:p>
        </p:txBody>
      </p:sp>
      <p:sp>
        <p:nvSpPr>
          <p:cNvPr id="27" name="【說明】補充框">
            <a:extLst>
              <a:ext uri="{FF2B5EF4-FFF2-40B4-BE49-F238E27FC236}">
                <a16:creationId xmlns:a16="http://schemas.microsoft.com/office/drawing/2014/main" id="{0C5C6679-E869-4147-80FF-3CD2CA36D686}"/>
              </a:ext>
            </a:extLst>
          </p:cNvPr>
          <p:cNvSpPr>
            <a:spLocks noGrp="1"/>
          </p:cNvSpPr>
          <p:nvPr/>
        </p:nvSpPr>
        <p:spPr>
          <a:xfrm>
            <a:off x="914400" y="876300"/>
            <a:ext cx="6858000" cy="314325"/>
          </a:xfrm>
          <a:prstGeom prst="roundRect">
            <a:avLst>
              <a:gd name="adj" fmla="val 24242"/>
            </a:avLst>
          </a:prstGeom>
          <a:solidFill>
            <a:srgbClr val="FFFFFF"/>
          </a:solidFill>
          <a:ln w="7144">
            <a:solidFill>
              <a:srgbClr val="C9CDD3"/>
            </a:solidFill>
            <a:prstDash val="solid"/>
          </a:ln>
        </p:spPr>
        <p:txBody>
          <a:bodyPr/>
          <a:lstStyle/>
          <a:p>
            <a:pPr>
              <a:defRPr sz="750">
                <a:solidFill>
                  <a:srgbClr val="4D4D4D"/>
                </a:solidFill>
              </a:defRPr>
            </a:pPr>
            <a:r>
              <a:rPr sz="750">
                <a:solidFill>
                  <a:srgbClr val="4D4D4D"/>
                </a:solidFill>
              </a:rPr>
              <a:t>【說明】 RF 產出濃度回歸表現、事件分類能力、變數重要性與部分依賴圖，用來評估模型表現並辨識主要氣象驅動因子。</a:t>
            </a:r>
          </a:p>
        </p:txBody>
      </p:sp>
    </p:spTree>
    <p:extLst>
      <p:ext uri="{BB962C8B-B14F-4D97-AF65-F5344CB8AC3E}">
        <p14:creationId xmlns:p14="http://schemas.microsoft.com/office/powerpoint/2010/main" val="40141031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747922E-9909-165D-9483-21C7931414E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9F68E2-31C2-4D90-A536-67698CDE3376}" type="slidenum">
              <a:rPr/>
              <a:t>16</a:t>
            </a:fld>
            <a:endParaRPr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E4E1A5B2-6A10-7674-5AE1-0FE94BD724BB}"/>
              </a:ext>
            </a:extLst>
          </p:cNvPr>
          <p:cNvSpPr>
            <a:spLocks noGrp="1"/>
          </p:cNvSpPr>
          <p:nvPr/>
        </p:nvSpPr>
        <p:spPr>
          <a:xfrm>
            <a:off x="1292850" y="884447"/>
            <a:ext cx="10434862" cy="458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b="1">
                <a:latin typeface="Microsoft YaHei"/>
                <a:ea typeface="Microsoft YaHei"/>
                <a:cs typeface="Microsoft YaHei"/>
              </a:rPr>
              <a:t>GAM 的基本式子是：</a:t>
            </a:r>
            <a:endParaRPr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B678773F-A365-BE5E-1024-768EB450D9E7}"/>
              </a:ext>
            </a:extLst>
          </p:cNvPr>
          <p:cNvSpPr>
            <a:spLocks noGrp="1"/>
          </p:cNvSpPr>
          <p:nvPr/>
        </p:nvSpPr>
        <p:spPr>
          <a:xfrm>
            <a:off x="1757138" y="1506497"/>
            <a:ext cx="10434862" cy="49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>
                <a:latin typeface="Microsoft YaHei"/>
                <a:ea typeface="Microsoft YaHei"/>
                <a:cs typeface="Microsoft YaHei"/>
              </a:rPr>
              <a:t>MDA8 O3 = β0 + </a:t>
            </a:r>
            <a:r>
              <a:rPr sz="2000" b="1" u="sng">
                <a:solidFill>
                  <a:schemeClr val="accent2">
                    <a:lumMod val="50000"/>
                  </a:schemeClr>
                </a:solidFill>
                <a:latin typeface="Microsoft YaHei"/>
                <a:ea typeface="Microsoft YaHei"/>
                <a:cs typeface="Microsoft YaHei"/>
              </a:rPr>
              <a:t>s(temp_max) </a:t>
            </a:r>
            <a:r>
              <a:rPr>
                <a:latin typeface="Microsoft YaHei"/>
                <a:ea typeface="Microsoft YaHei"/>
                <a:cs typeface="Microsoft YaHei"/>
              </a:rPr>
              <a:t>+ s(rh_mean) + s(wind_speed) + s(rain) + ...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3FA4A333-E032-0150-3BB8-8C04E4EC484E}"/>
              </a:ext>
            </a:extLst>
          </p:cNvPr>
          <p:cNvSpPr>
            <a:spLocks noGrp="1"/>
          </p:cNvSpPr>
          <p:nvPr/>
        </p:nvSpPr>
        <p:spPr>
          <a:xfrm>
            <a:off x="5402285" y="374392"/>
            <a:ext cx="110799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>
                <a:solidFill>
                  <a:schemeClr val="accent2">
                    <a:lumMod val="50000"/>
                  </a:schemeClr>
                </a:solidFill>
                <a:latin typeface="Microsoft YaHei"/>
                <a:ea typeface="Microsoft YaHei"/>
                <a:cs typeface="Microsoft YaHei"/>
              </a:rPr>
              <a:t>模式概念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240F9E1-FBAC-5228-8D71-27DDC624CFB8}"/>
              </a:ext>
            </a:extLst>
          </p:cNvPr>
          <p:cNvSpPr>
            <a:spLocks noGrp="1"/>
          </p:cNvSpPr>
          <p:nvPr/>
        </p:nvSpPr>
        <p:spPr>
          <a:xfrm>
            <a:off x="1292850" y="2169263"/>
            <a:ext cx="10434862" cy="458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b="1">
                <a:latin typeface="Microsoft YaHei"/>
                <a:ea typeface="Microsoft YaHei"/>
                <a:cs typeface="Microsoft YaHei"/>
              </a:rPr>
              <a:t>其中每一條平滑曲線可以寫成：</a:t>
            </a:r>
            <a:endParaRPr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41F4D325-1197-261B-B258-68A97D7AAD24}"/>
              </a:ext>
            </a:extLst>
          </p:cNvPr>
          <p:cNvSpPr>
            <a:spLocks noGrp="1"/>
          </p:cNvSpPr>
          <p:nvPr/>
        </p:nvSpPr>
        <p:spPr>
          <a:xfrm>
            <a:off x="1757138" y="2791313"/>
            <a:ext cx="10434862" cy="49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sz="2000" b="1" u="sng">
                <a:solidFill>
                  <a:schemeClr val="accent2">
                    <a:lumMod val="50000"/>
                  </a:schemeClr>
                </a:solidFill>
                <a:latin typeface="Microsoft YaHei"/>
                <a:ea typeface="Microsoft YaHei"/>
                <a:cs typeface="Microsoft YaHei"/>
              </a:rPr>
              <a:t>s(temp_max) </a:t>
            </a:r>
            <a:r>
              <a:rPr>
                <a:latin typeface="Microsoft YaHei"/>
                <a:ea typeface="Microsoft YaHei"/>
                <a:cs typeface="Microsoft YaHei"/>
              </a:rPr>
              <a:t>= β1B1(temp_max) + β2B2(temp_max) + ... + β10B10(temp_max)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3140F529-0006-0BE1-3173-55865DF0F7A7}"/>
              </a:ext>
            </a:extLst>
          </p:cNvPr>
          <p:cNvSpPr>
            <a:spLocks noGrp="1"/>
          </p:cNvSpPr>
          <p:nvPr/>
        </p:nvSpPr>
        <p:spPr>
          <a:xfrm>
            <a:off x="1292850" y="3449334"/>
            <a:ext cx="10434862" cy="1900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sz="2000">
                <a:latin typeface="Microsoft YaHei"/>
                <a:ea typeface="Microsoft YaHei"/>
                <a:cs typeface="Microsoft YaHei"/>
              </a:rPr>
              <a:t>這裡：</a:t>
            </a:r>
          </a:p>
          <a:p>
            <a:pPr marL="342900" lvl="0" indent="-342900">
              <a:lnSpc>
                <a:spcPct val="150000"/>
              </a:lnSpc>
              <a:buFont typeface="Arial"/>
              <a:buChar char="•"/>
            </a:pPr>
            <a:r>
              <a:rPr sz="2000">
                <a:latin typeface="Microsoft YaHei"/>
                <a:ea typeface="Microsoft YaHei"/>
                <a:cs typeface="Microsoft YaHei"/>
              </a:rPr>
              <a:t>B1, B2, ..., B10 是 spline 基底</a:t>
            </a:r>
          </a:p>
          <a:p>
            <a:pPr marL="342900" lvl="0" indent="-342900">
              <a:lnSpc>
                <a:spcPct val="150000"/>
              </a:lnSpc>
              <a:buFont typeface="Arial"/>
              <a:buChar char="•"/>
            </a:pPr>
            <a:r>
              <a:rPr sz="2000" b="1" u="sng">
                <a:latin typeface="Microsoft YaHei"/>
                <a:ea typeface="Microsoft YaHei"/>
                <a:cs typeface="Microsoft YaHei"/>
              </a:rPr>
              <a:t>β1, β2, ..., β10 </a:t>
            </a:r>
            <a:r>
              <a:rPr sz="2000">
                <a:latin typeface="Microsoft YaHei"/>
                <a:ea typeface="Microsoft YaHei"/>
                <a:cs typeface="Microsoft YaHei"/>
              </a:rPr>
              <a:t>是模型要估計的係數</a:t>
            </a:r>
          </a:p>
          <a:p>
            <a:pPr marL="342900" lvl="0" indent="-342900">
              <a:lnSpc>
                <a:spcPct val="150000"/>
              </a:lnSpc>
              <a:buFont typeface="Arial"/>
              <a:buChar char="•"/>
            </a:pPr>
            <a:r>
              <a:rPr sz="2000">
                <a:latin typeface="Microsoft YaHei"/>
                <a:ea typeface="Microsoft YaHei"/>
                <a:cs typeface="Microsoft YaHei"/>
              </a:rPr>
              <a:t>n_splines = 10 表示用 </a:t>
            </a:r>
            <a:r>
              <a:rPr sz="2000" b="1" u="sng">
                <a:latin typeface="Microsoft YaHei"/>
                <a:ea typeface="Microsoft YaHei"/>
                <a:cs typeface="Microsoft YaHei"/>
              </a:rPr>
              <a:t>10 個基底</a:t>
            </a:r>
            <a:r>
              <a:rPr sz="2000">
                <a:latin typeface="Microsoft YaHei"/>
                <a:ea typeface="Microsoft YaHei"/>
                <a:cs typeface="Microsoft YaHei"/>
              </a:rPr>
              <a:t>去組成這條曲線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47238890-2EEB-60FD-0EC1-D7CDDFE440A4}"/>
              </a:ext>
            </a:extLst>
          </p:cNvPr>
          <p:cNvSpPr>
            <a:spLocks noGrp="1"/>
          </p:cNvSpPr>
          <p:nvPr/>
        </p:nvSpPr>
        <p:spPr>
          <a:xfrm>
            <a:off x="6096000" y="4441898"/>
            <a:ext cx="401733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chemeClr val="bg2">
                    <a:lumMod val="50000"/>
                  </a:schemeClr>
                </a:solidFill>
                <a:latin typeface="Microsoft YaHei"/>
                <a:ea typeface="Microsoft YaHei"/>
                <a:cs typeface="Microsoft YaHei"/>
              </a:rPr>
              <a:t>Σ(實際 O3 - 預測 O3)² + λ × 曲線彎曲程度 (越小越好) : 用來判斷「哪一組 β 最好」的標準。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7C614C31-C29F-AEFB-A85D-31C671B6EC29}"/>
              </a:ext>
            </a:extLst>
          </p:cNvPr>
          <p:cNvSpPr>
            <a:spLocks noGrp="1"/>
          </p:cNvSpPr>
          <p:nvPr/>
        </p:nvSpPr>
        <p:spPr>
          <a:xfrm>
            <a:off x="7006468" y="4165265"/>
            <a:ext cx="401733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chemeClr val="bg2">
                    <a:lumMod val="50000"/>
                  </a:schemeClr>
                </a:solidFill>
                <a:latin typeface="Microsoft YaHei"/>
                <a:ea typeface="Microsoft YaHei"/>
                <a:cs typeface="Microsoft YaHei"/>
              </a:rPr>
              <a:t>預測誤差 + 平滑懲罰</a:t>
            </a: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B0CA6EE-3711-CEA5-91B9-5C137BCEAEEE}"/>
              </a:ext>
            </a:extLst>
          </p:cNvPr>
          <p:cNvSpPr>
            <a:spLocks noGrp="1"/>
          </p:cNvSpPr>
          <p:nvPr/>
        </p:nvSpPr>
        <p:spPr>
          <a:xfrm>
            <a:off x="2754051" y="5349406"/>
            <a:ext cx="442292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chemeClr val="bg2">
                    <a:lumMod val="50000"/>
                  </a:schemeClr>
                </a:solidFill>
                <a:latin typeface="Microsoft YaHei"/>
                <a:ea typeface="Microsoft YaHei"/>
                <a:cs typeface="Microsoft YaHei"/>
              </a:rPr>
              <a:t>用很多小段平滑曲線接起來，形成一條完整曲線的方法。 β1B1，也就是說，它是由很多小段的 三次多項式 接起來的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88F61170-78C0-0BA3-AA10-C04700C047C2}"/>
              </a:ext>
            </a:extLst>
          </p:cNvPr>
          <p:cNvSpPr>
            <a:spLocks noGrp="1"/>
          </p:cNvSpPr>
          <p:nvPr/>
        </p:nvSpPr>
        <p:spPr>
          <a:xfrm>
            <a:off x="1292850" y="5973553"/>
            <a:ext cx="10434862" cy="458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b="1">
                <a:latin typeface="Microsoft YaHei"/>
                <a:ea typeface="Microsoft YaHei"/>
                <a:cs typeface="Microsoft YaHei"/>
              </a:rPr>
              <a:t>程式根據資料矩陣，用數學方法直接算出讓總分最低的一組 β。</a:t>
            </a:r>
            <a:endParaRPr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7" name="【說明】補充框">
            <a:extLst>
              <a:ext uri="{FF2B5EF4-FFF2-40B4-BE49-F238E27FC236}">
                <a16:creationId xmlns:a16="http://schemas.microsoft.com/office/drawing/2014/main" id="{FF16E7F3-AFF8-4197-830F-71ECAF1005E4}"/>
              </a:ext>
            </a:extLst>
          </p:cNvPr>
          <p:cNvSpPr>
            <a:spLocks noGrp="1"/>
          </p:cNvSpPr>
          <p:nvPr/>
        </p:nvSpPr>
        <p:spPr>
          <a:xfrm>
            <a:off x="6572250" y="819150"/>
            <a:ext cx="4333875" cy="428625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7144">
            <a:solidFill>
              <a:srgbClr val="C9CDD3"/>
            </a:solidFill>
            <a:prstDash val="solid"/>
          </a:ln>
        </p:spPr>
        <p:txBody>
          <a:bodyPr/>
          <a:lstStyle/>
          <a:p>
            <a:pPr>
              <a:defRPr sz="750">
                <a:solidFill>
                  <a:srgbClr val="4D4D4D"/>
                </a:solidFill>
              </a:defRPr>
            </a:pPr>
            <a:r>
              <a:rPr sz="750">
                <a:solidFill>
                  <a:srgbClr val="4D4D4D"/>
                </a:solidFill>
              </a:rPr>
              <a:t>【說明】 GAM 將氣象因子表示為平滑函數，透過預測誤差與平滑懲罰估計各因子和 MDA8 O3 的非線性關係。</a:t>
            </a:r>
          </a:p>
        </p:txBody>
      </p:sp>
    </p:spTree>
    <p:extLst>
      <p:ext uri="{BB962C8B-B14F-4D97-AF65-F5344CB8AC3E}">
        <p14:creationId xmlns:p14="http://schemas.microsoft.com/office/powerpoint/2010/main" val="36363610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B0877FBF-4804-AC33-091A-D396B17904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9F68E2-31C2-4D90-A536-67698CDE3376}" type="slidenum">
              <a:rPr/>
              <a:t>17</a:t>
            </a:fld>
            <a:endParaRPr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D1DC51B3-DAB6-7BB2-563B-C4E2DFE7BB90}"/>
              </a:ext>
            </a:extLst>
          </p:cNvPr>
          <p:cNvSpPr>
            <a:spLocks noGrp="1"/>
          </p:cNvSpPr>
          <p:nvPr/>
        </p:nvSpPr>
        <p:spPr>
          <a:xfrm>
            <a:off x="5402285" y="374392"/>
            <a:ext cx="110799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>
                <a:solidFill>
                  <a:schemeClr val="accent2">
                    <a:lumMod val="50000"/>
                  </a:schemeClr>
                </a:solidFill>
                <a:latin typeface="Microsoft YaHei"/>
                <a:ea typeface="Microsoft YaHei"/>
                <a:cs typeface="Microsoft YaHei"/>
              </a:rPr>
              <a:t>結果產出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B7553FA6-271B-7955-4DED-8EFBD48771F2}"/>
              </a:ext>
            </a:extLst>
          </p:cNvPr>
          <p:cNvSpPr>
            <a:spLocks noGrp="1"/>
          </p:cNvSpPr>
          <p:nvPr/>
        </p:nvSpPr>
        <p:spPr>
          <a:xfrm>
            <a:off x="1292850" y="1586196"/>
            <a:ext cx="10434862" cy="458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b="1">
                <a:latin typeface="Microsoft YaHei"/>
                <a:ea typeface="Microsoft YaHei"/>
                <a:cs typeface="Microsoft YaHei"/>
              </a:rPr>
              <a:t>1. Model performance</a:t>
            </a:r>
            <a:endParaRPr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D24D48EE-17E5-F582-70B0-729E33FEB9D6}"/>
              </a:ext>
            </a:extLst>
          </p:cNvPr>
          <p:cNvSpPr>
            <a:spLocks noGrp="1"/>
          </p:cNvSpPr>
          <p:nvPr/>
        </p:nvSpPr>
        <p:spPr>
          <a:xfrm>
            <a:off x="1303473" y="2215419"/>
            <a:ext cx="1092041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sz="1600">
                <a:latin typeface="Microsoft YaHei"/>
                <a:ea typeface="Microsoft YaHei"/>
                <a:cs typeface="Microsoft YaHei"/>
              </a:rPr>
              <a:t>R2、RMS、EMAE，看 GAM 對 2024–2025 年 MDA8 O3 的解釋能力。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50161F4D-AA5D-E8BB-53E0-940C1CE07783}"/>
              </a:ext>
            </a:extLst>
          </p:cNvPr>
          <p:cNvSpPr>
            <a:spLocks noGrp="1"/>
          </p:cNvSpPr>
          <p:nvPr/>
        </p:nvSpPr>
        <p:spPr>
          <a:xfrm>
            <a:off x="1292850" y="3041530"/>
            <a:ext cx="10434862" cy="458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b="1">
                <a:latin typeface="Microsoft YaHei"/>
                <a:ea typeface="Microsoft YaHei"/>
                <a:cs typeface="Microsoft YaHei"/>
              </a:rPr>
              <a:t>2. Smooth effect curves  </a:t>
            </a:r>
            <a:endParaRPr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4E8FEB55-B040-9F7A-D870-1990D0F9D146}"/>
              </a:ext>
            </a:extLst>
          </p:cNvPr>
          <p:cNvSpPr>
            <a:spLocks noGrp="1"/>
          </p:cNvSpPr>
          <p:nvPr/>
        </p:nvSpPr>
        <p:spPr>
          <a:xfrm>
            <a:off x="1303473" y="3670753"/>
            <a:ext cx="1092041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sz="1600">
                <a:latin typeface="Microsoft YaHei"/>
                <a:ea typeface="Microsoft YaHei"/>
                <a:cs typeface="Microsoft YaHei"/>
              </a:rPr>
              <a:t>各氣象變數的平滑效果曲線，例如</a:t>
            </a:r>
            <a:r>
              <a:rPr sz="1600">
                <a:latin typeface="PMingLiU"/>
                <a:ea typeface="PMingLiU"/>
                <a:cs typeface="PMingLiU"/>
              </a:rPr>
              <a:t>：</a:t>
            </a:r>
            <a:r>
              <a:rPr sz="1600">
                <a:latin typeface="Microsoft YaHei"/>
                <a:ea typeface="Microsoft YaHei"/>
                <a:cs typeface="Microsoft YaHei"/>
              </a:rPr>
              <a:t>temp_max 對 MDA8 O3 的平滑曲線、rh_mean 對 MDA8 O3 的平滑曲線</a:t>
            </a:r>
          </a:p>
        </p:txBody>
      </p:sp>
      <p:sp>
        <p:nvSpPr>
          <p:cNvPr id="17" name="【說明】補充框">
            <a:extLst>
              <a:ext uri="{FF2B5EF4-FFF2-40B4-BE49-F238E27FC236}">
                <a16:creationId xmlns:a16="http://schemas.microsoft.com/office/drawing/2014/main" id="{85BAEC9B-F4CF-46DC-81C1-E84B6945FDBC}"/>
              </a:ext>
            </a:extLst>
          </p:cNvPr>
          <p:cNvSpPr>
            <a:spLocks noGrp="1"/>
          </p:cNvSpPr>
          <p:nvPr/>
        </p:nvSpPr>
        <p:spPr>
          <a:xfrm>
            <a:off x="952500" y="4495800"/>
            <a:ext cx="5905500" cy="28575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144">
            <a:solidFill>
              <a:srgbClr val="C9CDD3"/>
            </a:solidFill>
            <a:prstDash val="solid"/>
          </a:ln>
        </p:spPr>
        <p:txBody>
          <a:bodyPr/>
          <a:lstStyle/>
          <a:p>
            <a:pPr>
              <a:defRPr sz="750">
                <a:solidFill>
                  <a:srgbClr val="4D4D4D"/>
                </a:solidFill>
              </a:defRPr>
            </a:pPr>
            <a:r>
              <a:rPr sz="750">
                <a:solidFill>
                  <a:srgbClr val="4D4D4D"/>
                </a:solidFill>
              </a:rPr>
              <a:t>【說明】 GAM 主要輸出模型表現與平滑效果曲線，用來判斷各氣象因子對 MDA8 O3 的影響方向與非線性形狀。</a:t>
            </a:r>
          </a:p>
        </p:txBody>
      </p:sp>
    </p:spTree>
    <p:extLst>
      <p:ext uri="{BB962C8B-B14F-4D97-AF65-F5344CB8AC3E}">
        <p14:creationId xmlns:p14="http://schemas.microsoft.com/office/powerpoint/2010/main" val="3677847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文字方塊 49">
            <a:extLst>
              <a:ext uri="{FF2B5EF4-FFF2-40B4-BE49-F238E27FC236}">
                <a16:creationId xmlns:a16="http://schemas.microsoft.com/office/drawing/2014/main" id="{48A80998-FBB2-65B1-B84E-C53166DE8364}"/>
              </a:ext>
            </a:extLst>
          </p:cNvPr>
          <p:cNvSpPr>
            <a:spLocks noGrp="1"/>
          </p:cNvSpPr>
          <p:nvPr/>
        </p:nvSpPr>
        <p:spPr>
          <a:xfrm>
            <a:off x="86360" y="299169"/>
            <a:ext cx="120345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sz="1600" b="1" i="0">
                <a:solidFill>
                  <a:srgbClr val="2F3C72"/>
                </a:solidFill>
                <a:latin typeface="Microsoft YaHei"/>
                <a:ea typeface="Microsoft YaHei"/>
                <a:cs typeface="Microsoft YaHei"/>
              </a:rPr>
              <a:t> Method3 How we identify the drivers</a:t>
            </a:r>
          </a:p>
        </p:txBody>
      </p:sp>
      <p:sp>
        <p:nvSpPr>
          <p:cNvPr id="43" name="矩形: 圓角 42">
            <a:extLst>
              <a:ext uri="{FF2B5EF4-FFF2-40B4-BE49-F238E27FC236}">
                <a16:creationId xmlns:a16="http://schemas.microsoft.com/office/drawing/2014/main" id="{A6AE44F9-F3A7-60F0-CD84-461F50EC7B7A}"/>
              </a:ext>
            </a:extLst>
          </p:cNvPr>
          <p:cNvSpPr>
            <a:spLocks noGrp="1"/>
          </p:cNvSpPr>
          <p:nvPr/>
        </p:nvSpPr>
        <p:spPr>
          <a:xfrm>
            <a:off x="2218044" y="5224534"/>
            <a:ext cx="8220777" cy="1188251"/>
          </a:xfrm>
          <a:prstGeom prst="roundRect">
            <a:avLst>
              <a:gd name="adj" fmla="val 10630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5216D7C0-917D-EADE-4C02-EEC416720FE6}"/>
              </a:ext>
            </a:extLst>
          </p:cNvPr>
          <p:cNvSpPr>
            <a:spLocks noGrp="1"/>
          </p:cNvSpPr>
          <p:nvPr/>
        </p:nvSpPr>
        <p:spPr>
          <a:xfrm>
            <a:off x="737938" y="1648639"/>
            <a:ext cx="354530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sz="3200" b="1">
                <a:solidFill>
                  <a:schemeClr val="accent5">
                    <a:lumMod val="50000"/>
                  </a:schemeClr>
                </a:solidFill>
                <a:latin typeface="Microsoft YaHei"/>
                <a:ea typeface="Microsoft YaHei"/>
                <a:cs typeface="Microsoft YaHei"/>
              </a:rPr>
              <a:t>Random Forest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C1A30B0C-CA26-9A85-F025-C8AFE86802BC}"/>
              </a:ext>
            </a:extLst>
          </p:cNvPr>
          <p:cNvSpPr>
            <a:spLocks noGrp="1"/>
          </p:cNvSpPr>
          <p:nvPr/>
        </p:nvSpPr>
        <p:spPr>
          <a:xfrm>
            <a:off x="1604211" y="2233414"/>
            <a:ext cx="984985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chemeClr val="bg2">
                    <a:lumMod val="10000"/>
                  </a:schemeClr>
                </a:solidFill>
                <a:latin typeface="Microsoft YaHei"/>
                <a:ea typeface="Microsoft YaHei"/>
                <a:cs typeface="Microsoft YaHei"/>
              </a:rPr>
              <a:t>請很多棵決策樹各自依天氣猜當天臭氧、再平均</a:t>
            </a:r>
            <a:endParaRPr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B79D310F-89CA-8F2B-6921-57045E80554E}"/>
              </a:ext>
            </a:extLst>
          </p:cNvPr>
          <p:cNvSpPr>
            <a:spLocks noGrp="1"/>
          </p:cNvSpPr>
          <p:nvPr/>
        </p:nvSpPr>
        <p:spPr>
          <a:xfrm>
            <a:off x="930443" y="3838820"/>
            <a:ext cx="123524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sz="3200" b="1">
                <a:solidFill>
                  <a:schemeClr val="accent5">
                    <a:lumMod val="50000"/>
                  </a:schemeClr>
                </a:solidFill>
                <a:latin typeface="Microsoft YaHei"/>
                <a:ea typeface="Microsoft YaHei"/>
                <a:cs typeface="Microsoft YaHei"/>
              </a:rPr>
              <a:t>GAM</a:t>
            </a: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BC283C65-F2A2-A5F7-C62B-F48DBCE2D680}"/>
              </a:ext>
            </a:extLst>
          </p:cNvPr>
          <p:cNvSpPr>
            <a:spLocks noGrp="1"/>
          </p:cNvSpPr>
          <p:nvPr/>
        </p:nvSpPr>
        <p:spPr>
          <a:xfrm>
            <a:off x="1796716" y="4423595"/>
            <a:ext cx="984985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chemeClr val="bg2">
                    <a:lumMod val="10000"/>
                  </a:schemeClr>
                </a:solidFill>
                <a:latin typeface="Microsoft YaHei"/>
                <a:ea typeface="Microsoft YaHei"/>
                <a:cs typeface="Microsoft YaHei"/>
              </a:rPr>
              <a:t>一種「會彎的迴歸」,能畫出每個因子跟臭氧的關係曲線。</a:t>
            </a:r>
            <a:endParaRPr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38" name="矩形: 圓角 37">
            <a:extLst>
              <a:ext uri="{FF2B5EF4-FFF2-40B4-BE49-F238E27FC236}">
                <a16:creationId xmlns:a16="http://schemas.microsoft.com/office/drawing/2014/main" id="{D2D543FD-1C7A-C716-8D65-641409007DDE}"/>
              </a:ext>
            </a:extLst>
          </p:cNvPr>
          <p:cNvSpPr>
            <a:spLocks noGrp="1"/>
          </p:cNvSpPr>
          <p:nvPr/>
        </p:nvSpPr>
        <p:spPr>
          <a:xfrm>
            <a:off x="8351520" y="152401"/>
            <a:ext cx="3702518" cy="3931920"/>
          </a:xfrm>
          <a:prstGeom prst="roundRect">
            <a:avLst>
              <a:gd name="adj" fmla="val 10630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494ACC01-7BBA-A234-BB85-600E60B246B2}"/>
              </a:ext>
            </a:extLst>
          </p:cNvPr>
          <p:cNvSpPr>
            <a:spLocks noGrp="1"/>
          </p:cNvSpPr>
          <p:nvPr/>
        </p:nvSpPr>
        <p:spPr>
          <a:xfrm>
            <a:off x="8351520" y="376776"/>
            <a:ext cx="370251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ctr">
              <a:buNone/>
            </a:pPr>
            <a:r>
              <a:rPr sz="2400" b="0" i="0">
                <a:solidFill>
                  <a:srgbClr val="0D0D0D"/>
                </a:solidFill>
                <a:latin typeface="ui-monospace"/>
                <a:ea typeface="ui-monospace"/>
                <a:cs typeface="ui-monospace"/>
              </a:rPr>
              <a:t>Meteorological variables</a:t>
            </a:r>
            <a:endParaRPr b="0" i="0">
              <a:solidFill>
                <a:srgbClr val="0D0D0D"/>
              </a:solidFill>
              <a:latin typeface="ui-monospace"/>
              <a:ea typeface="ui-monospace"/>
              <a:cs typeface="ui-monospace"/>
            </a:endParaRPr>
          </a:p>
          <a:p>
            <a:pPr marL="0" marR="0" indent="0" algn="ctr">
              <a:buNone/>
            </a:pPr>
            <a:r>
              <a:rPr b="0" i="0">
                <a:solidFill>
                  <a:srgbClr val="0D0D0D"/>
                </a:solidFill>
                <a:latin typeface="ui-monospace"/>
                <a:ea typeface="ui-monospace"/>
                <a:cs typeface="ui-monospace"/>
              </a:rPr>
              <a:t>(T, RH, WS, Sunshine, Rainfall)</a:t>
            </a:r>
          </a:p>
        </p:txBody>
      </p:sp>
      <p:sp>
        <p:nvSpPr>
          <p:cNvPr id="24" name="矩形: 圓角 23">
            <a:extLst>
              <a:ext uri="{FF2B5EF4-FFF2-40B4-BE49-F238E27FC236}">
                <a16:creationId xmlns:a16="http://schemas.microsoft.com/office/drawing/2014/main" id="{7F16BC4D-DB47-5DA6-6BE2-60BE2BA90250}"/>
              </a:ext>
            </a:extLst>
          </p:cNvPr>
          <p:cNvSpPr>
            <a:spLocks noGrp="1"/>
          </p:cNvSpPr>
          <p:nvPr/>
        </p:nvSpPr>
        <p:spPr>
          <a:xfrm>
            <a:off x="8921847" y="1407073"/>
            <a:ext cx="2561864" cy="794647"/>
          </a:xfrm>
          <a:prstGeom prst="roundRect">
            <a:avLst/>
          </a:prstGeom>
          <a:solidFill>
            <a:srgbClr val="FFFF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028E43CE-C883-13A0-4990-1B3070668112}"/>
              </a:ext>
            </a:extLst>
          </p:cNvPr>
          <p:cNvSpPr>
            <a:spLocks noGrp="1"/>
          </p:cNvSpPr>
          <p:nvPr/>
        </p:nvSpPr>
        <p:spPr>
          <a:xfrm>
            <a:off x="8632480" y="1448480"/>
            <a:ext cx="3140598" cy="589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ctr">
              <a:lnSpc>
                <a:spcPct val="150000"/>
              </a:lnSpc>
              <a:buNone/>
            </a:pPr>
            <a:r>
              <a:rPr sz="2400" b="0" i="0">
                <a:solidFill>
                  <a:srgbClr val="0D0D0D"/>
                </a:solidFill>
                <a:latin typeface="ui-monospace"/>
                <a:ea typeface="ui-monospace"/>
                <a:cs typeface="ui-monospace"/>
              </a:rPr>
              <a:t>Decision trees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A3DD5D6D-7BC8-0A44-408B-F2B84C2D8265}"/>
              </a:ext>
            </a:extLst>
          </p:cNvPr>
          <p:cNvSpPr>
            <a:spLocks noGrp="1"/>
          </p:cNvSpPr>
          <p:nvPr/>
        </p:nvSpPr>
        <p:spPr>
          <a:xfrm>
            <a:off x="8803531" y="2564478"/>
            <a:ext cx="829376" cy="4898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ctr">
              <a:lnSpc>
                <a:spcPts val="1500"/>
              </a:lnSpc>
              <a:buNone/>
            </a:pPr>
            <a:r>
              <a:rPr b="0" i="0">
                <a:solidFill>
                  <a:srgbClr val="0D0D0D"/>
                </a:solidFill>
                <a:latin typeface="ui-monospace"/>
                <a:ea typeface="ui-monospace"/>
                <a:cs typeface="ui-monospace"/>
              </a:rPr>
              <a:t> Tree1     </a:t>
            </a:r>
          </a:p>
          <a:p>
            <a:pPr marL="0" marR="0" indent="0" algn="ctr">
              <a:lnSpc>
                <a:spcPts val="1500"/>
              </a:lnSpc>
              <a:buNone/>
            </a:pPr>
            <a:r>
              <a:rPr b="0" i="0">
                <a:solidFill>
                  <a:srgbClr val="0D0D0D"/>
                </a:solidFill>
                <a:latin typeface="ui-monospace"/>
                <a:ea typeface="ui-monospace"/>
                <a:cs typeface="ui-monospace"/>
              </a:rPr>
              <a:t>58</a:t>
            </a: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BACEB46C-B786-F2CC-B529-90BD58250F6F}"/>
              </a:ext>
            </a:extLst>
          </p:cNvPr>
          <p:cNvSpPr>
            <a:spLocks noGrp="1"/>
          </p:cNvSpPr>
          <p:nvPr/>
        </p:nvSpPr>
        <p:spPr>
          <a:xfrm>
            <a:off x="9474751" y="2564478"/>
            <a:ext cx="829376" cy="4898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ctr">
              <a:lnSpc>
                <a:spcPts val="1500"/>
              </a:lnSpc>
              <a:buNone/>
            </a:pPr>
            <a:r>
              <a:rPr b="0" i="0">
                <a:solidFill>
                  <a:srgbClr val="0D0D0D"/>
                </a:solidFill>
                <a:latin typeface="ui-monospace"/>
                <a:ea typeface="ui-monospace"/>
                <a:cs typeface="ui-monospace"/>
              </a:rPr>
              <a:t> Tree</a:t>
            </a:r>
            <a:r>
              <a:rPr>
                <a:solidFill>
                  <a:srgbClr val="0D0D0D"/>
                </a:solidFill>
                <a:latin typeface="ui-monospace"/>
                <a:ea typeface="ui-monospace"/>
                <a:cs typeface="ui-monospace"/>
              </a:rPr>
              <a:t>2</a:t>
            </a:r>
            <a:r>
              <a:rPr b="0" i="0">
                <a:solidFill>
                  <a:srgbClr val="0D0D0D"/>
                </a:solidFill>
                <a:latin typeface="ui-monospace"/>
                <a:ea typeface="ui-monospace"/>
                <a:cs typeface="ui-monospace"/>
              </a:rPr>
              <a:t>     </a:t>
            </a:r>
          </a:p>
          <a:p>
            <a:pPr marL="0" marR="0" indent="0" algn="ctr">
              <a:lnSpc>
                <a:spcPts val="1500"/>
              </a:lnSpc>
              <a:buNone/>
            </a:pPr>
            <a:r>
              <a:rPr>
                <a:solidFill>
                  <a:srgbClr val="0D0D0D"/>
                </a:solidFill>
                <a:latin typeface="ui-monospace"/>
                <a:ea typeface="ui-monospace"/>
                <a:cs typeface="ui-monospace"/>
              </a:rPr>
              <a:t>61</a:t>
            </a:r>
            <a:endParaRPr b="0" i="0">
              <a:solidFill>
                <a:srgbClr val="0D0D0D"/>
              </a:solidFill>
              <a:latin typeface="ui-monospace"/>
              <a:ea typeface="ui-monospace"/>
              <a:cs typeface="ui-monospace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551D67B8-4764-6A92-FEA3-1C5C426AF8D6}"/>
              </a:ext>
            </a:extLst>
          </p:cNvPr>
          <p:cNvSpPr>
            <a:spLocks noGrp="1"/>
          </p:cNvSpPr>
          <p:nvPr/>
        </p:nvSpPr>
        <p:spPr>
          <a:xfrm>
            <a:off x="10145971" y="2564478"/>
            <a:ext cx="829376" cy="4898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ctr">
              <a:lnSpc>
                <a:spcPts val="1500"/>
              </a:lnSpc>
              <a:buNone/>
            </a:pPr>
            <a:r>
              <a:rPr b="0" i="0">
                <a:solidFill>
                  <a:srgbClr val="0D0D0D"/>
                </a:solidFill>
                <a:latin typeface="ui-monospace"/>
                <a:ea typeface="ui-monospace"/>
                <a:cs typeface="ui-monospace"/>
              </a:rPr>
              <a:t> Tree3     </a:t>
            </a:r>
          </a:p>
          <a:p>
            <a:pPr marL="0" marR="0" indent="0" algn="ctr">
              <a:lnSpc>
                <a:spcPts val="1500"/>
              </a:lnSpc>
              <a:buNone/>
            </a:pPr>
            <a:r>
              <a:rPr>
                <a:solidFill>
                  <a:srgbClr val="0D0D0D"/>
                </a:solidFill>
                <a:latin typeface="ui-monospace"/>
                <a:ea typeface="ui-monospace"/>
                <a:cs typeface="ui-monospace"/>
              </a:rPr>
              <a:t>63</a:t>
            </a:r>
            <a:endParaRPr b="0" i="0">
              <a:solidFill>
                <a:srgbClr val="0D0D0D"/>
              </a:solidFill>
              <a:latin typeface="ui-monospace"/>
              <a:ea typeface="ui-monospace"/>
              <a:cs typeface="ui-monospace"/>
            </a:endParaRPr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812EC60D-195E-8449-BA3A-192C15896DE8}"/>
              </a:ext>
            </a:extLst>
          </p:cNvPr>
          <p:cNvSpPr>
            <a:spLocks noGrp="1"/>
          </p:cNvSpPr>
          <p:nvPr/>
        </p:nvSpPr>
        <p:spPr>
          <a:xfrm>
            <a:off x="10817192" y="2564478"/>
            <a:ext cx="829376" cy="4898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ctr">
              <a:lnSpc>
                <a:spcPts val="1500"/>
              </a:lnSpc>
              <a:buNone/>
            </a:pPr>
            <a:r>
              <a:rPr b="0" i="0">
                <a:solidFill>
                  <a:srgbClr val="0D0D0D"/>
                </a:solidFill>
                <a:latin typeface="ui-monospace"/>
                <a:ea typeface="ui-monospace"/>
                <a:cs typeface="ui-monospace"/>
              </a:rPr>
              <a:t> Tree4     </a:t>
            </a:r>
          </a:p>
          <a:p>
            <a:pPr marL="0" marR="0" indent="0" algn="ctr">
              <a:lnSpc>
                <a:spcPts val="1500"/>
              </a:lnSpc>
              <a:buNone/>
            </a:pPr>
            <a:r>
              <a:rPr b="0" i="0">
                <a:solidFill>
                  <a:srgbClr val="0D0D0D"/>
                </a:solidFill>
                <a:latin typeface="ui-monospace"/>
                <a:ea typeface="ui-monospace"/>
                <a:cs typeface="ui-monospace"/>
              </a:rPr>
              <a:t>59</a:t>
            </a:r>
          </a:p>
        </p:txBody>
      </p:sp>
      <p:sp>
        <p:nvSpPr>
          <p:cNvPr id="33" name="箭號: 向下 32">
            <a:extLst>
              <a:ext uri="{FF2B5EF4-FFF2-40B4-BE49-F238E27FC236}">
                <a16:creationId xmlns:a16="http://schemas.microsoft.com/office/drawing/2014/main" id="{2759F9F8-CE0B-50BC-332C-30FE23B19AFD}"/>
              </a:ext>
            </a:extLst>
          </p:cNvPr>
          <p:cNvSpPr>
            <a:spLocks noGrp="1"/>
          </p:cNvSpPr>
          <p:nvPr/>
        </p:nvSpPr>
        <p:spPr>
          <a:xfrm>
            <a:off x="10116671" y="2241220"/>
            <a:ext cx="187456" cy="244257"/>
          </a:xfrm>
          <a:prstGeom prst="downArrow">
            <a:avLst/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5" name="箭號: 向下 34">
            <a:extLst>
              <a:ext uri="{FF2B5EF4-FFF2-40B4-BE49-F238E27FC236}">
                <a16:creationId xmlns:a16="http://schemas.microsoft.com/office/drawing/2014/main" id="{4B9624B8-20F1-4CBB-0D46-06AC248D0F76}"/>
              </a:ext>
            </a:extLst>
          </p:cNvPr>
          <p:cNvSpPr>
            <a:spLocks noGrp="1"/>
          </p:cNvSpPr>
          <p:nvPr/>
        </p:nvSpPr>
        <p:spPr>
          <a:xfrm>
            <a:off x="10116671" y="1122537"/>
            <a:ext cx="187456" cy="244257"/>
          </a:xfrm>
          <a:prstGeom prst="downArrow">
            <a:avLst/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6" name="箭號: 向下 35">
            <a:extLst>
              <a:ext uri="{FF2B5EF4-FFF2-40B4-BE49-F238E27FC236}">
                <a16:creationId xmlns:a16="http://schemas.microsoft.com/office/drawing/2014/main" id="{C5CAE12D-8740-7E67-B638-4C3DEECE0241}"/>
              </a:ext>
            </a:extLst>
          </p:cNvPr>
          <p:cNvSpPr>
            <a:spLocks noGrp="1"/>
          </p:cNvSpPr>
          <p:nvPr/>
        </p:nvSpPr>
        <p:spPr>
          <a:xfrm>
            <a:off x="10116671" y="3096036"/>
            <a:ext cx="187456" cy="244257"/>
          </a:xfrm>
          <a:prstGeom prst="downArrow">
            <a:avLst/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38BA8691-68BE-0E57-4E6A-1BC938016F11}"/>
              </a:ext>
            </a:extLst>
          </p:cNvPr>
          <p:cNvSpPr>
            <a:spLocks noGrp="1"/>
          </p:cNvSpPr>
          <p:nvPr/>
        </p:nvSpPr>
        <p:spPr>
          <a:xfrm>
            <a:off x="8737600" y="3417114"/>
            <a:ext cx="29303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ctr">
              <a:buNone/>
            </a:pPr>
            <a:r>
              <a:rPr b="0" i="0">
                <a:solidFill>
                  <a:srgbClr val="0D0D0D"/>
                </a:solidFill>
                <a:latin typeface="ui-monospace"/>
                <a:ea typeface="ui-monospace"/>
                <a:cs typeface="ui-monospace"/>
              </a:rPr>
              <a:t> Final O₃ prediction = average</a:t>
            </a:r>
            <a:endParaRPr sz="1400" b="0" i="0">
              <a:solidFill>
                <a:srgbClr val="0D0D0D"/>
              </a:solidFill>
              <a:latin typeface="ui-monospace"/>
              <a:ea typeface="ui-monospace"/>
              <a:cs typeface="ui-monospace"/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15333D54-EDC4-73A6-E4E8-146582AE9ED3}"/>
              </a:ext>
            </a:extLst>
          </p:cNvPr>
          <p:cNvSpPr>
            <a:spLocks noGrp="1"/>
          </p:cNvSpPr>
          <p:nvPr/>
        </p:nvSpPr>
        <p:spPr>
          <a:xfrm>
            <a:off x="2489415" y="5495494"/>
            <a:ext cx="767803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>
                <a:latin typeface="Microsoft YaHei"/>
                <a:ea typeface="Microsoft YaHei"/>
                <a:cs typeface="Microsoft YaHei"/>
              </a:rPr>
              <a:t>把每條「直線」換成一條平滑曲線:臭氧 ≈ f₁(氣溫) + f₂(濕度) + f₃(日照) + …,每個 f 都是會彎的曲線。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BBC3A9DF-4218-A755-6F97-6439BF4800B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>
              <a:alpha val="8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4705DE5D-084B-7945-317B-F747A1E9FF84}"/>
              </a:ext>
            </a:extLst>
          </p:cNvPr>
          <p:cNvSpPr>
            <a:spLocks noGrp="1"/>
          </p:cNvSpPr>
          <p:nvPr/>
        </p:nvSpPr>
        <p:spPr>
          <a:xfrm>
            <a:off x="1883004" y="2660821"/>
            <a:ext cx="7138022" cy="1656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sz="3600" b="1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"/>
                <a:ea typeface="Microsoft YaHei"/>
                <a:cs typeface="Microsoft YaHei"/>
              </a:rPr>
              <a:t>為什麼兩個都用</a:t>
            </a:r>
            <a:r>
              <a:rPr sz="36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"/>
                <a:ea typeface="Microsoft YaHei"/>
                <a:cs typeface="Microsoft YaHei"/>
              </a:rPr>
              <a:t> : RF </a:t>
            </a:r>
            <a:r>
              <a:rPr sz="3600" b="1" u="sng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"/>
                <a:ea typeface="Microsoft YaHei"/>
                <a:cs typeface="Microsoft YaHei"/>
              </a:rPr>
              <a:t>準但像黑盒</a:t>
            </a:r>
            <a:r>
              <a:rPr sz="3600" b="1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"/>
                <a:ea typeface="Microsoft YaHei"/>
                <a:cs typeface="Microsoft YaHei"/>
              </a:rPr>
              <a:t>、GAM</a:t>
            </a:r>
            <a:r>
              <a:rPr sz="36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"/>
                <a:ea typeface="Microsoft YaHei"/>
                <a:cs typeface="Microsoft YaHei"/>
              </a:rPr>
              <a:t> </a:t>
            </a:r>
            <a:r>
              <a:rPr sz="3600" b="1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"/>
                <a:ea typeface="Microsoft YaHei"/>
                <a:cs typeface="Microsoft YaHei"/>
              </a:rPr>
              <a:t>透明</a:t>
            </a:r>
            <a:r>
              <a:rPr sz="3600" b="1" u="sng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"/>
                <a:ea typeface="Microsoft YaHei"/>
                <a:cs typeface="Microsoft YaHei"/>
              </a:rPr>
              <a:t>看得到形狀</a:t>
            </a:r>
            <a:r>
              <a:rPr sz="3600" b="1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"/>
                <a:ea typeface="Microsoft YaHei"/>
                <a:cs typeface="Microsoft YaHei"/>
              </a:rPr>
              <a:t>,</a:t>
            </a:r>
            <a:r>
              <a:rPr sz="3600" b="1" u="sng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"/>
                <a:ea typeface="Microsoft YaHei"/>
                <a:cs typeface="Microsoft YaHei"/>
              </a:rPr>
              <a:t>互相印證</a:t>
            </a:r>
            <a:endParaRPr sz="3600" b="1" u="sng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20BE0541-A927-93EE-DE0D-79A6BF91D60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9F68E2-31C2-4D90-A536-67698CDE3376}" type="slidenum">
              <a:rPr/>
              <a:t>18</a:t>
            </a:fld>
            <a:endParaRPr/>
          </a:p>
        </p:txBody>
      </p:sp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819913EC-F492-452F-8306-F4DAB15383DA}"/>
              </a:ext>
            </a:extLst>
          </p:cNvPr>
          <p:cNvSpPr>
            <a:spLocks noGrp="1"/>
          </p:cNvSpPr>
          <p:nvPr/>
        </p:nvSpPr>
        <p:spPr>
          <a:xfrm>
            <a:off x="411480" y="6464808"/>
            <a:ext cx="7863840" cy="3749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8900" tIns="38100" rIns="88900" bIns="38100" anchor="ctr">
            <a:normAutofit/>
          </a:bodyPr>
          <a:lstStyle/>
          <a:p>
            <a:pPr algn="l">
              <a:buNone/>
            </a:pPr>
            <a:r>
              <a:rPr sz="1100" b="1">
                <a:solidFill>
                  <a:srgbClr val="1F5C9E"/>
                </a:solidFill>
                <a:latin typeface="Microsoft JhengHei"/>
                <a:ea typeface="Microsoft JhengHei"/>
                <a:cs typeface="Microsoft JhengHei"/>
              </a:rPr>
              <a:t>【說明】</a:t>
            </a:r>
            <a:r>
              <a:rPr sz="1100">
                <a:solidFill>
                  <a:srgbClr val="222222"/>
                </a:solidFill>
                <a:latin typeface="Microsoft JhengHei"/>
                <a:ea typeface="Microsoft JhengHei"/>
                <a:cs typeface="Microsoft JhengHei"/>
              </a:rPr>
              <a:t>隨機森林預測力強但如黑盒、難解釋;GAM 透明可看關係形狀但彈性較低;兩者並用、結論一致以提高可信度。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626194C4-CBC9-E33E-823E-3B0028D526AC}"/>
              </a:ext>
            </a:extLst>
          </p:cNvPr>
          <p:cNvSpPr>
            <a:spLocks noGrp="1"/>
          </p:cNvSpPr>
          <p:nvPr/>
        </p:nvSpPr>
        <p:spPr>
          <a:xfrm>
            <a:off x="3609534" y="4266256"/>
            <a:ext cx="442292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600">
                <a:solidFill>
                  <a:schemeClr val="bg1"/>
                </a:solidFill>
                <a:latin typeface="Microsoft YaHei"/>
                <a:ea typeface="Microsoft YaHei"/>
                <a:cs typeface="Microsoft YaHei"/>
              </a:rPr>
              <a:t>它會直接畫出每個變數和 O3 的關係曲線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B374D5BC-85F7-FF9C-4537-BD9D498FE626}"/>
              </a:ext>
            </a:extLst>
          </p:cNvPr>
          <p:cNvSpPr>
            <a:spLocks noGrp="1"/>
          </p:cNvSpPr>
          <p:nvPr/>
        </p:nvSpPr>
        <p:spPr>
          <a:xfrm>
            <a:off x="3359888" y="2543850"/>
            <a:ext cx="79875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600">
                <a:solidFill>
                  <a:schemeClr val="bg1"/>
                </a:solidFill>
                <a:latin typeface="Microsoft YaHei"/>
                <a:ea typeface="Microsoft YaHei"/>
                <a:cs typeface="Microsoft YaHei"/>
              </a:rPr>
              <a:t>Random Forest </a:t>
            </a:r>
            <a:r>
              <a:rPr sz="1600" err="1">
                <a:solidFill>
                  <a:schemeClr val="bg1"/>
                </a:solidFill>
                <a:latin typeface="Microsoft YaHei"/>
                <a:ea typeface="Microsoft YaHei"/>
                <a:cs typeface="Microsoft YaHei"/>
              </a:rPr>
              <a:t>由很多棵決策樹組成，可以抓到很複雜的關係，通常預測比GAM準</a:t>
            </a:r>
            <a:endParaRPr sz="1600">
              <a:solidFill>
                <a:schemeClr val="bg1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7FA9625A-A1C1-A90E-D28C-438F29A3B5F7}"/>
              </a:ext>
            </a:extLst>
          </p:cNvPr>
          <p:cNvSpPr>
            <a:spLocks noGrp="1"/>
          </p:cNvSpPr>
          <p:nvPr/>
        </p:nvSpPr>
        <p:spPr>
          <a:xfrm>
            <a:off x="8939910" y="3712616"/>
            <a:ext cx="276146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err="1">
                <a:solidFill>
                  <a:schemeClr val="bg1"/>
                </a:solidFill>
                <a:latin typeface="Microsoft YaHei"/>
                <a:ea typeface="Microsoft YaHei"/>
                <a:cs typeface="Microsoft YaHei"/>
              </a:rPr>
              <a:t>如果兩個模型得到類似結果，就會讓結論更有說服力</a:t>
            </a:r>
            <a:r>
              <a:rPr sz="1600">
                <a:solidFill>
                  <a:schemeClr val="bg1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3012830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B46A1A8A-2083-1F88-00E6-4370216EFF63}"/>
              </a:ext>
            </a:extLst>
          </p:cNvPr>
          <p:cNvSpPr>
            <a:spLocks noGrp="1"/>
          </p:cNvSpPr>
          <p:nvPr/>
        </p:nvSpPr>
        <p:spPr>
          <a:xfrm>
            <a:off x="86360" y="309001"/>
            <a:ext cx="120345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sz="2800" b="1" i="0">
                <a:solidFill>
                  <a:srgbClr val="2F3C72"/>
                </a:solidFill>
                <a:latin typeface="Microsoft YaHei"/>
                <a:ea typeface="Microsoft YaHei"/>
                <a:cs typeface="Microsoft YaHei"/>
              </a:rPr>
              <a:t>Method4 How we judge the long-term trend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92380CA8-4050-2A93-7CB4-B7419894BDD0}"/>
              </a:ext>
            </a:extLst>
          </p:cNvPr>
          <p:cNvSpPr>
            <a:spLocks noGrp="1"/>
          </p:cNvSpPr>
          <p:nvPr/>
        </p:nvSpPr>
        <p:spPr>
          <a:xfrm>
            <a:off x="737938" y="1115440"/>
            <a:ext cx="354530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sz="3200" b="1">
                <a:solidFill>
                  <a:schemeClr val="accent5">
                    <a:lumMod val="50000"/>
                  </a:schemeClr>
                </a:solidFill>
                <a:latin typeface="Microsoft YaHei"/>
                <a:ea typeface="Microsoft YaHei"/>
                <a:cs typeface="Microsoft YaHei"/>
              </a:rPr>
              <a:t>Mann–Kendall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E1644B81-CD8C-6500-6C73-2884082A740C}"/>
              </a:ext>
            </a:extLst>
          </p:cNvPr>
          <p:cNvSpPr>
            <a:spLocks noGrp="1"/>
          </p:cNvSpPr>
          <p:nvPr/>
        </p:nvSpPr>
        <p:spPr>
          <a:xfrm>
            <a:off x="1604211" y="1700215"/>
            <a:ext cx="9849852" cy="4285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spcAft>
                <a:spcPts val="1800"/>
              </a:spcAft>
              <a:buFont typeface="Wingdings"/>
              <a:buChar char="l"/>
            </a:pPr>
            <a:r>
              <a:rPr sz="2000">
                <a:solidFill>
                  <a:schemeClr val="bg2">
                    <a:lumMod val="10000"/>
                  </a:schemeClr>
                </a:solidFill>
                <a:latin typeface="Microsoft YaHei"/>
                <a:ea typeface="Microsoft YaHei"/>
                <a:cs typeface="Microsoft YaHei"/>
              </a:rPr>
              <a:t>把序列裡每一個點跟它之前的每一個點兩兩比較，只看「後面的比前面高還是低」:高 +1、低 −1、平手 0。</a:t>
            </a:r>
          </a:p>
          <a:p>
            <a:pPr marL="342900" indent="-342900">
              <a:lnSpc>
                <a:spcPct val="150000"/>
              </a:lnSpc>
              <a:buFont typeface="Wingdings"/>
              <a:buChar char="l"/>
            </a:pPr>
            <a:r>
              <a:rPr sz="2400" b="1" u="sng">
                <a:solidFill>
                  <a:schemeClr val="accent5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"/>
                <a:ea typeface="Microsoft YaHei"/>
                <a:cs typeface="Microsoft YaHei"/>
              </a:rPr>
              <a:t>把所有 + 和 − 加總</a:t>
            </a:r>
            <a:r>
              <a:rPr sz="2000" b="1">
                <a:solidFill>
                  <a:schemeClr val="bg2">
                    <a:lumMod val="10000"/>
                  </a:schemeClr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000">
                <a:solidFill>
                  <a:schemeClr val="bg2">
                    <a:lumMod val="10000"/>
                  </a:schemeClr>
                </a:solidFill>
                <a:latin typeface="Microsoft YaHei"/>
                <a:ea typeface="Microsoft YaHei"/>
                <a:cs typeface="Microsoft YaHei"/>
              </a:rPr>
              <a:t>→ S 統計量 :</a:t>
            </a:r>
          </a:p>
          <a:p>
            <a:pPr lvl="1">
              <a:lnSpc>
                <a:spcPct val="150000"/>
              </a:lnSpc>
              <a:buNone/>
            </a:pPr>
            <a:r>
              <a:rPr sz="2000">
                <a:solidFill>
                  <a:schemeClr val="bg2">
                    <a:lumMod val="10000"/>
                  </a:schemeClr>
                </a:solidFill>
                <a:latin typeface="Microsoft YaHei"/>
                <a:ea typeface="Microsoft YaHei"/>
                <a:cs typeface="Microsoft YaHei"/>
              </a:rPr>
              <a:t>S 很正 → 大多在上升 → 上升趨勢</a:t>
            </a:r>
          </a:p>
          <a:p>
            <a:pPr lvl="1">
              <a:lnSpc>
                <a:spcPct val="150000"/>
              </a:lnSpc>
              <a:buNone/>
            </a:pPr>
            <a:r>
              <a:rPr sz="2000">
                <a:solidFill>
                  <a:schemeClr val="bg2">
                    <a:lumMod val="10000"/>
                  </a:schemeClr>
                </a:solidFill>
                <a:latin typeface="Microsoft YaHei"/>
                <a:ea typeface="Microsoft YaHei"/>
                <a:cs typeface="Microsoft YaHei"/>
              </a:rPr>
              <a:t>S 很負 → 大多在下降 → 下降趨勢</a:t>
            </a:r>
          </a:p>
          <a:p>
            <a:pPr lvl="1">
              <a:lnSpc>
                <a:spcPct val="150000"/>
              </a:lnSpc>
              <a:spcAft>
                <a:spcPts val="1800"/>
              </a:spcAft>
              <a:buNone/>
            </a:pPr>
            <a:r>
              <a:rPr sz="2000">
                <a:solidFill>
                  <a:schemeClr val="bg2">
                    <a:lumMod val="10000"/>
                  </a:schemeClr>
                </a:solidFill>
                <a:latin typeface="Microsoft YaHei"/>
                <a:ea typeface="Microsoft YaHei"/>
                <a:cs typeface="Microsoft YaHei"/>
              </a:rPr>
              <a:t>S 接近 0 → 沒有一致方向</a:t>
            </a:r>
          </a:p>
          <a:p>
            <a:pPr marL="342900" indent="-342900">
              <a:lnSpc>
                <a:spcPct val="150000"/>
              </a:lnSpc>
              <a:buFont typeface="Wingdings"/>
              <a:buChar char="l"/>
            </a:pPr>
            <a:r>
              <a:rPr sz="2000">
                <a:solidFill>
                  <a:schemeClr val="bg2">
                    <a:lumMod val="10000"/>
                  </a:schemeClr>
                </a:solidFill>
                <a:latin typeface="Microsoft YaHei"/>
                <a:ea typeface="Microsoft YaHei"/>
                <a:cs typeface="Microsoft YaHei"/>
              </a:rPr>
              <a:t>再判斷這個 S「大到不像隨機」嗎 → 給出 p 值(顯不顯著) ; 另有 Kendall's τ(−1~+1)表示趨勢強度與方向</a:t>
            </a:r>
            <a:endParaRPr sz="1600">
              <a:solidFill>
                <a:schemeClr val="bg2">
                  <a:lumMod val="10000"/>
                </a:schemeClr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59E6F5A9-2340-806E-C9CB-93196A675A5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9F68E2-31C2-4D90-A536-67698CDE3376}" type="slidenum">
              <a:t>19</a:t>
            </a:fld>
            <a:endParaRPr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330B556D-3F25-4635-9F51-8EC0CFBAC95E}"/>
              </a:ext>
            </a:extLst>
          </p:cNvPr>
          <p:cNvSpPr>
            <a:spLocks noGrp="1"/>
          </p:cNvSpPr>
          <p:nvPr/>
        </p:nvSpPr>
        <p:spPr>
          <a:xfrm>
            <a:off x="411480" y="6272784"/>
            <a:ext cx="7863840" cy="5120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8900" tIns="38100" rIns="88900" bIns="38100" anchor="ctr">
            <a:normAutofit/>
          </a:bodyPr>
          <a:lstStyle/>
          <a:p>
            <a:pPr algn="l">
              <a:buNone/>
            </a:pPr>
            <a:r>
              <a:rPr sz="1100" b="1">
                <a:solidFill>
                  <a:srgbClr val="1F5C9E"/>
                </a:solidFill>
                <a:latin typeface="Microsoft JhengHei"/>
                <a:ea typeface="Microsoft JhengHei"/>
                <a:cs typeface="Microsoft JhengHei"/>
              </a:rPr>
              <a:t>【說明】</a:t>
            </a:r>
            <a:r>
              <a:rPr sz="1100">
                <a:solidFill>
                  <a:srgbClr val="222222"/>
                </a:solidFill>
                <a:latin typeface="Microsoft JhengHei"/>
                <a:ea typeface="Microsoft JhengHei"/>
                <a:cs typeface="Microsoft JhengHei"/>
              </a:rPr>
              <a:t>Mann-Kendall 為無母數趨勢檢定,依數值升降方向判斷是否單調升降,對極端值穩健,並以 p 值判斷顯著性。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58B766BE-BE2F-4A07-DD97-64ACFF7A8772}"/>
              </a:ext>
            </a:extLst>
          </p:cNvPr>
          <p:cNvSpPr>
            <a:spLocks noGrp="1"/>
          </p:cNvSpPr>
          <p:nvPr/>
        </p:nvSpPr>
        <p:spPr>
          <a:xfrm>
            <a:off x="3802122" y="1255334"/>
            <a:ext cx="1092041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sz="1600">
                <a:latin typeface="Microsoft YaHei"/>
                <a:ea typeface="Microsoft YaHei"/>
                <a:cs typeface="Microsoft YaHei"/>
              </a:rPr>
              <a:t>判斷有沒有趨勢</a:t>
            </a:r>
          </a:p>
        </p:txBody>
      </p:sp>
    </p:spTree>
    <p:extLst>
      <p:ext uri="{BB962C8B-B14F-4D97-AF65-F5344CB8AC3E}">
        <p14:creationId xmlns:p14="http://schemas.microsoft.com/office/powerpoint/2010/main" val="21544199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D4A3F7E1-67E9-BE50-51AB-29AFD8CDE870}"/>
              </a:ext>
            </a:extLst>
          </p:cNvPr>
          <p:cNvSpPr>
            <a:spLocks noGrp="1"/>
          </p:cNvSpPr>
          <p:nvPr/>
        </p:nvSpPr>
        <p:spPr>
          <a:xfrm>
            <a:off x="96192" y="309001"/>
            <a:ext cx="120345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sz="2800" b="1" i="0">
                <a:solidFill>
                  <a:srgbClr val="2F3C72"/>
                </a:solidFill>
                <a:latin typeface="Microsoft YaHei"/>
                <a:ea typeface="Microsoft YaHei"/>
                <a:cs typeface="Microsoft YaHei"/>
              </a:rPr>
              <a:t>Method4 How we judge the long-term trend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5117717E-31E4-4C5F-E55E-AFFA9F33DF18}"/>
              </a:ext>
            </a:extLst>
          </p:cNvPr>
          <p:cNvSpPr>
            <a:spLocks noGrp="1"/>
          </p:cNvSpPr>
          <p:nvPr/>
        </p:nvSpPr>
        <p:spPr>
          <a:xfrm>
            <a:off x="737938" y="1115440"/>
            <a:ext cx="354530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sz="3200" b="1">
                <a:solidFill>
                  <a:schemeClr val="accent5">
                    <a:lumMod val="50000"/>
                  </a:schemeClr>
                </a:solidFill>
                <a:latin typeface="Microsoft YaHei"/>
                <a:ea typeface="Microsoft YaHei"/>
                <a:cs typeface="Microsoft YaHei"/>
              </a:rPr>
              <a:t>Sen's slope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26A04D46-F85B-E983-4899-C13A42D66451}"/>
              </a:ext>
            </a:extLst>
          </p:cNvPr>
          <p:cNvSpPr>
            <a:spLocks noGrp="1"/>
          </p:cNvSpPr>
          <p:nvPr/>
        </p:nvSpPr>
        <p:spPr>
          <a:xfrm>
            <a:off x="1604211" y="2145293"/>
            <a:ext cx="9849852" cy="30541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spcAft>
                <a:spcPts val="2400"/>
              </a:spcAft>
              <a:buFont typeface="+mj-lt"/>
              <a:buAutoNum type="arabicPeriod"/>
            </a:pPr>
            <a:r>
              <a:rPr sz="2000" dirty="0" err="1">
                <a:solidFill>
                  <a:schemeClr val="bg2">
                    <a:lumMod val="10000"/>
                  </a:schemeClr>
                </a:solidFill>
                <a:latin typeface="Microsoft YaHei"/>
                <a:ea typeface="Microsoft YaHei"/>
                <a:cs typeface="Microsoft YaHei"/>
              </a:rPr>
              <a:t>把序列裡每一對點都拿出來,算它們之間的斜率</a:t>
            </a:r>
            <a:r>
              <a:rPr sz="2000" dirty="0">
                <a:solidFill>
                  <a:schemeClr val="bg2">
                    <a:lumMod val="10000"/>
                  </a:schemeClr>
                </a:solidFill>
                <a:latin typeface="Microsoft YaHei"/>
                <a:ea typeface="Microsoft YaHei"/>
                <a:cs typeface="Microsoft YaHei"/>
              </a:rPr>
              <a:t>:(</a:t>
            </a:r>
            <a:r>
              <a:rPr sz="2000" dirty="0" err="1">
                <a:solidFill>
                  <a:schemeClr val="bg2">
                    <a:lumMod val="10000"/>
                  </a:schemeClr>
                </a:solidFill>
                <a:latin typeface="Microsoft YaHei"/>
                <a:ea typeface="Microsoft YaHei"/>
                <a:cs typeface="Microsoft YaHei"/>
              </a:rPr>
              <a:t>後值</a:t>
            </a:r>
            <a:r>
              <a:rPr sz="2000" dirty="0">
                <a:solidFill>
                  <a:schemeClr val="bg2">
                    <a:lumMod val="10000"/>
                  </a:schemeClr>
                </a:solidFill>
                <a:latin typeface="Microsoft YaHei"/>
                <a:ea typeface="Microsoft YaHei"/>
                <a:cs typeface="Microsoft YaHei"/>
              </a:rPr>
              <a:t> − </a:t>
            </a:r>
            <a:r>
              <a:rPr sz="2000" dirty="0" err="1">
                <a:solidFill>
                  <a:schemeClr val="bg2">
                    <a:lumMod val="10000"/>
                  </a:schemeClr>
                </a:solidFill>
                <a:latin typeface="Microsoft YaHei"/>
                <a:ea typeface="Microsoft YaHei"/>
                <a:cs typeface="Microsoft YaHei"/>
              </a:rPr>
              <a:t>前值</a:t>
            </a:r>
            <a:r>
              <a:rPr sz="2000" dirty="0">
                <a:solidFill>
                  <a:schemeClr val="bg2">
                    <a:lumMod val="10000"/>
                  </a:schemeClr>
                </a:solidFill>
                <a:latin typeface="Microsoft YaHei"/>
                <a:ea typeface="Microsoft YaHei"/>
                <a:cs typeface="Microsoft YaHei"/>
              </a:rPr>
              <a:t>) ÷ (</a:t>
            </a:r>
            <a:r>
              <a:rPr sz="2000" dirty="0" err="1">
                <a:solidFill>
                  <a:schemeClr val="bg2">
                    <a:lumMod val="10000"/>
                  </a:schemeClr>
                </a:solidFill>
                <a:latin typeface="Microsoft YaHei"/>
                <a:ea typeface="Microsoft YaHei"/>
                <a:cs typeface="Microsoft YaHei"/>
              </a:rPr>
              <a:t>後時間</a:t>
            </a:r>
            <a:r>
              <a:rPr sz="2000" dirty="0">
                <a:solidFill>
                  <a:schemeClr val="bg2">
                    <a:lumMod val="10000"/>
                  </a:schemeClr>
                </a:solidFill>
                <a:latin typeface="Microsoft YaHei"/>
                <a:ea typeface="Microsoft YaHei"/>
                <a:cs typeface="Microsoft YaHei"/>
              </a:rPr>
              <a:t> − </a:t>
            </a:r>
            <a:r>
              <a:rPr sz="2000" dirty="0" err="1">
                <a:solidFill>
                  <a:schemeClr val="bg2">
                    <a:lumMod val="10000"/>
                  </a:schemeClr>
                </a:solidFill>
                <a:latin typeface="Microsoft YaHei"/>
                <a:ea typeface="Microsoft YaHei"/>
                <a:cs typeface="Microsoft YaHei"/>
              </a:rPr>
              <a:t>前時間</a:t>
            </a:r>
            <a:r>
              <a:rPr sz="2000" dirty="0">
                <a:solidFill>
                  <a:schemeClr val="bg2">
                    <a:lumMod val="10000"/>
                  </a:schemeClr>
                </a:solidFill>
                <a:latin typeface="Microsoft YaHei"/>
                <a:ea typeface="Microsoft YaHei"/>
                <a:cs typeface="Microsoft YaHei"/>
              </a:rPr>
              <a:t>),</a:t>
            </a:r>
            <a:r>
              <a:rPr sz="2000" dirty="0" err="1">
                <a:solidFill>
                  <a:schemeClr val="bg2">
                    <a:lumMod val="10000"/>
                  </a:schemeClr>
                </a:solidFill>
                <a:latin typeface="Microsoft YaHei"/>
                <a:ea typeface="Microsoft YaHei"/>
                <a:cs typeface="Microsoft YaHei"/>
              </a:rPr>
              <a:t>也就是「兩點連線的斜率</a:t>
            </a:r>
            <a:r>
              <a:rPr sz="2000" dirty="0">
                <a:solidFill>
                  <a:schemeClr val="bg2">
                    <a:lumMod val="10000"/>
                  </a:schemeClr>
                </a:solidFill>
                <a:latin typeface="Microsoft YaHei"/>
                <a:ea typeface="Microsoft YaHei"/>
                <a:cs typeface="Microsoft YaHei"/>
              </a:rPr>
              <a:t>」。</a:t>
            </a:r>
          </a:p>
          <a:p>
            <a:pPr marL="457200" indent="-457200">
              <a:lnSpc>
                <a:spcPct val="150000"/>
              </a:lnSpc>
              <a:spcAft>
                <a:spcPts val="2400"/>
              </a:spcAft>
              <a:buFont typeface="+mj-lt"/>
              <a:buAutoNum type="arabicPeriod"/>
            </a:pPr>
            <a:r>
              <a:rPr sz="2000" dirty="0">
                <a:solidFill>
                  <a:schemeClr val="bg2">
                    <a:lumMod val="10000"/>
                  </a:schemeClr>
                </a:solidFill>
                <a:latin typeface="Microsoft YaHei"/>
                <a:ea typeface="Microsoft YaHei"/>
                <a:cs typeface="Microsoft YaHei"/>
              </a:rPr>
              <a:t>n </a:t>
            </a:r>
            <a:r>
              <a:rPr sz="2000" dirty="0" err="1">
                <a:solidFill>
                  <a:schemeClr val="bg2">
                    <a:lumMod val="10000"/>
                  </a:schemeClr>
                </a:solidFill>
                <a:latin typeface="Microsoft YaHei"/>
                <a:ea typeface="Microsoft YaHei"/>
                <a:cs typeface="Microsoft YaHei"/>
              </a:rPr>
              <a:t>個點會得到一大堆</a:t>
            </a:r>
            <a:r>
              <a:rPr sz="2000" dirty="0">
                <a:solidFill>
                  <a:schemeClr val="bg2">
                    <a:lumMod val="10000"/>
                  </a:schemeClr>
                </a:solidFill>
                <a:latin typeface="Microsoft YaHei"/>
                <a:ea typeface="Microsoft YaHei"/>
                <a:cs typeface="Microsoft YaHei"/>
              </a:rPr>
              <a:t>(約 n(n−1)/2 條)</a:t>
            </a:r>
            <a:r>
              <a:rPr sz="2000" dirty="0" err="1">
                <a:solidFill>
                  <a:schemeClr val="bg2">
                    <a:lumMod val="10000"/>
                  </a:schemeClr>
                </a:solidFill>
                <a:latin typeface="Microsoft YaHei"/>
                <a:ea typeface="Microsoft YaHei"/>
                <a:cs typeface="Microsoft YaHei"/>
              </a:rPr>
              <a:t>斜率</a:t>
            </a:r>
            <a:r>
              <a:rPr sz="2000" dirty="0">
                <a:solidFill>
                  <a:schemeClr val="bg2">
                    <a:lumMod val="10000"/>
                  </a:schemeClr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sz="2000" dirty="0">
                <a:solidFill>
                  <a:schemeClr val="bg2">
                    <a:lumMod val="10000"/>
                  </a:schemeClr>
                </a:solidFill>
                <a:latin typeface="Microsoft YaHei"/>
                <a:ea typeface="Microsoft YaHei"/>
                <a:cs typeface="Microsoft YaHei"/>
              </a:rPr>
              <a:t>Sen's slope = </a:t>
            </a:r>
            <a:r>
              <a:rPr sz="2400" b="1" u="sng" dirty="0" err="1">
                <a:solidFill>
                  <a:schemeClr val="accent5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"/>
                <a:ea typeface="Microsoft YaHei"/>
                <a:cs typeface="Microsoft YaHei"/>
              </a:rPr>
              <a:t>這堆斜率的「中位數</a:t>
            </a:r>
            <a:r>
              <a:rPr sz="2400" b="1" u="sng" dirty="0">
                <a:solidFill>
                  <a:schemeClr val="accent5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"/>
                <a:ea typeface="Microsoft YaHei"/>
                <a:cs typeface="Microsoft YaHei"/>
              </a:rPr>
              <a:t>」</a:t>
            </a:r>
            <a:r>
              <a:rPr sz="2000" dirty="0">
                <a:solidFill>
                  <a:schemeClr val="bg2">
                    <a:lumMod val="10000"/>
                  </a:schemeClr>
                </a:solidFill>
                <a:latin typeface="Microsoft YaHei"/>
                <a:ea typeface="Microsoft YaHei"/>
                <a:cs typeface="Microsoft YaHei"/>
              </a:rPr>
              <a:t>。 </a:t>
            </a:r>
            <a:r>
              <a:rPr sz="2000" dirty="0" err="1">
                <a:solidFill>
                  <a:schemeClr val="bg2">
                    <a:lumMod val="10000"/>
                  </a:schemeClr>
                </a:solidFill>
                <a:latin typeface="Microsoft YaHei"/>
                <a:ea typeface="Microsoft YaHei"/>
                <a:cs typeface="Microsoft YaHei"/>
              </a:rPr>
              <a:t>關鍵就在取中位數</a:t>
            </a:r>
            <a:r>
              <a:rPr sz="2000" dirty="0">
                <a:solidFill>
                  <a:schemeClr val="bg2">
                    <a:lumMod val="10000"/>
                  </a:schemeClr>
                </a:solidFill>
                <a:latin typeface="Microsoft YaHei"/>
                <a:ea typeface="Microsoft YaHei"/>
                <a:cs typeface="Microsoft YaHei"/>
              </a:rPr>
              <a:t>——</a:t>
            </a:r>
            <a:r>
              <a:rPr sz="2000" dirty="0" err="1">
                <a:solidFill>
                  <a:schemeClr val="bg2">
                    <a:lumMod val="10000"/>
                  </a:schemeClr>
                </a:solidFill>
                <a:latin typeface="Microsoft YaHei"/>
                <a:ea typeface="Microsoft YaHei"/>
                <a:cs typeface="Microsoft YaHei"/>
              </a:rPr>
              <a:t>所以幾條極端的連線帶不動它</a:t>
            </a:r>
            <a:r>
              <a:rPr sz="2000" dirty="0">
                <a:solidFill>
                  <a:schemeClr val="bg2">
                    <a:lumMod val="10000"/>
                  </a:schemeClr>
                </a:solidFill>
                <a:latin typeface="Microsoft YaHei"/>
                <a:ea typeface="Microsoft YaHei"/>
                <a:cs typeface="Microsoft YaHei"/>
              </a:rPr>
              <a:t>。</a:t>
            </a:r>
            <a:endParaRPr sz="1600" dirty="0">
              <a:solidFill>
                <a:schemeClr val="bg2">
                  <a:lumMod val="10000"/>
                </a:schemeClr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30197B04-D6C9-E97C-0568-B9CEE25EBA2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9F68E2-31C2-4D90-A536-67698CDE3376}" type="slidenum">
              <a:rPr/>
              <a:t>20</a:t>
            </a:fld>
            <a:endParaRPr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BFA8D78C-08B4-4577-9787-C212635F5A81}"/>
              </a:ext>
            </a:extLst>
          </p:cNvPr>
          <p:cNvSpPr>
            <a:spLocks noGrp="1"/>
          </p:cNvSpPr>
          <p:nvPr/>
        </p:nvSpPr>
        <p:spPr>
          <a:xfrm>
            <a:off x="411480" y="6272784"/>
            <a:ext cx="7863840" cy="5120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8900" tIns="38100" rIns="88900" bIns="38100" anchor="ctr">
            <a:normAutofit/>
          </a:bodyPr>
          <a:lstStyle/>
          <a:p>
            <a:pPr algn="l">
              <a:buNone/>
            </a:pPr>
            <a:r>
              <a:rPr sz="1100" b="1">
                <a:solidFill>
                  <a:srgbClr val="1F5C9E"/>
                </a:solidFill>
                <a:latin typeface="Microsoft JhengHei"/>
                <a:ea typeface="Microsoft JhengHei"/>
                <a:cs typeface="Microsoft JhengHei"/>
              </a:rPr>
              <a:t>【說明】</a:t>
            </a:r>
            <a:r>
              <a:rPr sz="1100">
                <a:solidFill>
                  <a:srgbClr val="222222"/>
                </a:solidFill>
                <a:latin typeface="Microsoft JhengHei"/>
                <a:ea typeface="Microsoft JhengHei"/>
                <a:cs typeface="Microsoft JhengHei"/>
              </a:rPr>
              <a:t>Sen's slope 搭配 MK,取所有兩點斜率的中位數估計趨勢幅度(每年變化量),因取中位數而對極端值穩健。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F69EBDB4-F1CE-E274-3003-7208A0D86284}"/>
              </a:ext>
            </a:extLst>
          </p:cNvPr>
          <p:cNvSpPr>
            <a:spLocks noGrp="1"/>
          </p:cNvSpPr>
          <p:nvPr/>
        </p:nvSpPr>
        <p:spPr>
          <a:xfrm>
            <a:off x="3150394" y="1297866"/>
            <a:ext cx="1092041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sz="1600">
                <a:latin typeface="Microsoft YaHei"/>
                <a:ea typeface="Microsoft YaHei"/>
                <a:cs typeface="Microsoft YaHei"/>
              </a:rPr>
              <a:t>估計趨勢大小</a:t>
            </a:r>
          </a:p>
        </p:txBody>
      </p:sp>
    </p:spTree>
    <p:extLst>
      <p:ext uri="{BB962C8B-B14F-4D97-AF65-F5344CB8AC3E}">
        <p14:creationId xmlns:p14="http://schemas.microsoft.com/office/powerpoint/2010/main" val="4025185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98CC2D91-DC96-67A3-7A61-5A97F18114A1}"/>
              </a:ext>
            </a:extLst>
          </p:cNvPr>
          <p:cNvSpPr>
            <a:spLocks noGrp="1"/>
          </p:cNvSpPr>
          <p:nvPr/>
        </p:nvSpPr>
        <p:spPr>
          <a:xfrm>
            <a:off x="86360" y="299169"/>
            <a:ext cx="120345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sz="3200" b="1" i="0">
                <a:solidFill>
                  <a:srgbClr val="2F3C72"/>
                </a:solidFill>
                <a:latin typeface="Microsoft YaHei"/>
                <a:ea typeface="Microsoft YaHei"/>
                <a:cs typeface="Microsoft YaHei"/>
              </a:rPr>
              <a:t>04 How we judge the long-term trend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453EE428-6B98-2011-49B4-ED5178AFECB6}"/>
              </a:ext>
            </a:extLst>
          </p:cNvPr>
          <p:cNvSpPr>
            <a:spLocks noGrp="1"/>
          </p:cNvSpPr>
          <p:nvPr/>
        </p:nvSpPr>
        <p:spPr>
          <a:xfrm>
            <a:off x="737938" y="1115440"/>
            <a:ext cx="354530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sz="3200" b="1">
                <a:solidFill>
                  <a:schemeClr val="accent5">
                    <a:lumMod val="50000"/>
                  </a:schemeClr>
                </a:solidFill>
                <a:latin typeface="Microsoft YaHei"/>
                <a:ea typeface="Microsoft YaHei"/>
                <a:cs typeface="Microsoft YaHei"/>
              </a:rPr>
              <a:t>Sen's slope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FB39D4B1-4E06-7C0E-60AC-FA58F5F8B402}"/>
              </a:ext>
            </a:extLst>
          </p:cNvPr>
          <p:cNvSpPr>
            <a:spLocks noGrp="1"/>
          </p:cNvSpPr>
          <p:nvPr/>
        </p:nvSpPr>
        <p:spPr>
          <a:xfrm>
            <a:off x="1604211" y="2145293"/>
            <a:ext cx="9849852" cy="35972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spcAft>
                <a:spcPts val="2400"/>
              </a:spcAft>
              <a:buFont typeface="+mj-lt"/>
              <a:buAutoNum type="arabicPeriod"/>
            </a:pPr>
            <a:r>
              <a:rPr sz="2400" b="1">
                <a:solidFill>
                  <a:schemeClr val="bg2">
                    <a:lumMod val="10000"/>
                  </a:schemeClr>
                </a:solidFill>
                <a:latin typeface="Microsoft YaHei"/>
                <a:ea typeface="Microsoft YaHei"/>
                <a:cs typeface="Microsoft YaHei"/>
              </a:rPr>
              <a:t>把序列裡每一對點都拿出來,算它們之間的斜率:(後值 − 前值) ÷ (後時間 − 前時間),也就是「兩點連線的斜率」。</a:t>
            </a:r>
          </a:p>
          <a:p>
            <a:pPr marL="457200" indent="-457200">
              <a:lnSpc>
                <a:spcPct val="150000"/>
              </a:lnSpc>
              <a:spcAft>
                <a:spcPts val="2400"/>
              </a:spcAft>
              <a:buFont typeface="+mj-lt"/>
              <a:buAutoNum type="arabicPeriod"/>
            </a:pPr>
            <a:r>
              <a:rPr sz="2400" b="1">
                <a:solidFill>
                  <a:schemeClr val="bg2">
                    <a:lumMod val="10000"/>
                  </a:schemeClr>
                </a:solidFill>
                <a:latin typeface="Microsoft YaHei"/>
                <a:ea typeface="Microsoft YaHei"/>
                <a:cs typeface="Microsoft YaHei"/>
              </a:rPr>
              <a:t>n 個點會得到一大堆(約 n(n−1)/2 條)斜率。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sz="2400" b="1">
                <a:solidFill>
                  <a:schemeClr val="bg2">
                    <a:lumMod val="10000"/>
                  </a:schemeClr>
                </a:solidFill>
                <a:latin typeface="Microsoft YaHei"/>
                <a:ea typeface="Microsoft YaHei"/>
                <a:cs typeface="Microsoft YaHei"/>
              </a:rPr>
              <a:t>Sen's slope = </a:t>
            </a:r>
            <a:r>
              <a:rPr sz="2800" b="1" u="sng">
                <a:solidFill>
                  <a:schemeClr val="accent5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"/>
                <a:ea typeface="Microsoft YaHei"/>
                <a:cs typeface="Microsoft YaHei"/>
              </a:rPr>
              <a:t>這堆斜率的「中位數」</a:t>
            </a:r>
            <a:r>
              <a:rPr sz="2400" b="1">
                <a:solidFill>
                  <a:schemeClr val="bg2">
                    <a:lumMod val="10000"/>
                  </a:schemeClr>
                </a:solidFill>
                <a:latin typeface="Microsoft YaHei"/>
                <a:ea typeface="Microsoft YaHei"/>
                <a:cs typeface="Microsoft YaHei"/>
              </a:rPr>
              <a:t>。 關鍵就在取中位數——所以幾條極端的連線帶不動它。</a:t>
            </a:r>
            <a:endParaRPr>
              <a:solidFill>
                <a:schemeClr val="bg2">
                  <a:lumMod val="10000"/>
                </a:schemeClr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C19263D-062F-7A00-ED4F-FD03689F5A29}"/>
              </a:ext>
            </a:extLst>
          </p:cNvPr>
          <p:cNvSpPr>
            <a:spLocks noGrp="1"/>
          </p:cNvSpPr>
          <p:nvPr/>
        </p:nvSpPr>
        <p:spPr>
          <a:xfrm>
            <a:off x="0" y="-11886"/>
            <a:ext cx="12192000" cy="6858000"/>
          </a:xfrm>
          <a:prstGeom prst="rect">
            <a:avLst/>
          </a:prstGeom>
          <a:solidFill>
            <a:srgbClr val="000000">
              <a:alpha val="8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0ED77002-95C7-6083-9116-FFF4E608A349}"/>
              </a:ext>
            </a:extLst>
          </p:cNvPr>
          <p:cNvSpPr>
            <a:spLocks noGrp="1"/>
          </p:cNvSpPr>
          <p:nvPr/>
        </p:nvSpPr>
        <p:spPr>
          <a:xfrm>
            <a:off x="853366" y="1030141"/>
            <a:ext cx="10149914" cy="4149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sz="36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"/>
                <a:ea typeface="Microsoft YaHei"/>
                <a:cs typeface="Microsoft YaHei"/>
              </a:rPr>
              <a:t>Mann–Kendall = 靠「數上升比下降多多少」來判斷有沒有一致趨勢的穩健檢定</a:t>
            </a:r>
          </a:p>
          <a:p>
            <a:pPr>
              <a:lnSpc>
                <a:spcPct val="150000"/>
              </a:lnSpc>
              <a:buNone/>
            </a:pPr>
            <a:endParaRPr sz="3600" b="1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50000"/>
              </a:lnSpc>
              <a:buNone/>
            </a:pPr>
            <a:r>
              <a:rPr sz="36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"/>
                <a:ea typeface="Microsoft YaHei"/>
                <a:cs typeface="Microsoft YaHei"/>
              </a:rPr>
              <a:t>幅度交給 Sen‘s slope，季節性版本再把季節干擾扣掉。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4984CBCB-18BD-3842-B509-4907F4580D8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9F68E2-31C2-4D90-A536-67698CDE3376}" type="slidenum">
              <a:rPr/>
              <a:t>21</a:t>
            </a:fld>
            <a:endParaRPr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ECB84A61-5A83-456A-9F17-DE89ACCD4DDD}"/>
              </a:ext>
            </a:extLst>
          </p:cNvPr>
          <p:cNvSpPr>
            <a:spLocks noGrp="1"/>
          </p:cNvSpPr>
          <p:nvPr/>
        </p:nvSpPr>
        <p:spPr>
          <a:xfrm>
            <a:off x="411480" y="6272784"/>
            <a:ext cx="7863840" cy="5120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8900" tIns="38100" rIns="88900" bIns="38100" anchor="ctr">
            <a:normAutofit/>
          </a:bodyPr>
          <a:lstStyle/>
          <a:p>
            <a:pPr algn="l">
              <a:buNone/>
            </a:pPr>
            <a:r>
              <a:rPr sz="1100" b="1">
                <a:solidFill>
                  <a:srgbClr val="1F5C9E"/>
                </a:solidFill>
                <a:latin typeface="Microsoft JhengHei"/>
                <a:ea typeface="Microsoft JhengHei"/>
                <a:cs typeface="Microsoft JhengHei"/>
              </a:rPr>
              <a:t>【說明】</a:t>
            </a:r>
            <a:r>
              <a:rPr sz="1100">
                <a:solidFill>
                  <a:srgbClr val="222222"/>
                </a:solidFill>
                <a:latin typeface="Microsoft JhengHei"/>
                <a:ea typeface="Microsoft JhengHei"/>
                <a:cs typeface="Microsoft JhengHei"/>
              </a:rPr>
              <a:t>Mann-Kendall 判斷趨勢有無與是否顯著,Sen's slope 提供變化幅度;兩者搭配方能完整描述長期變化。</a:t>
            </a:r>
          </a:p>
        </p:txBody>
      </p:sp>
    </p:spTree>
    <p:extLst>
      <p:ext uri="{BB962C8B-B14F-4D97-AF65-F5344CB8AC3E}">
        <p14:creationId xmlns:p14="http://schemas.microsoft.com/office/powerpoint/2010/main" val="40437335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1C3966C1-8A5E-73E3-E498-1573E4B532F3}"/>
              </a:ext>
            </a:extLst>
          </p:cNvPr>
          <p:cNvSpPr>
            <a:spLocks noGrp="1"/>
          </p:cNvSpPr>
          <p:nvPr/>
        </p:nvSpPr>
        <p:spPr>
          <a:xfrm>
            <a:off x="0" y="3089802"/>
            <a:ext cx="12192000" cy="1414821"/>
          </a:xfrm>
          <a:prstGeom prst="rect">
            <a:avLst/>
          </a:prstGeom>
          <a:gradFill>
            <a:gsLst>
              <a:gs pos="0">
                <a:srgbClr val="2F3871">
                  <a:alpha val="0"/>
                </a:srgbClr>
              </a:gs>
              <a:gs pos="56000">
                <a:srgbClr val="2F3871">
                  <a:alpha val="76000"/>
                </a:srgb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EF3860E-40FC-8DD9-3109-CB8B273FA92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47782"/>
          </a:xfrm>
          <a:prstGeom prst="rect">
            <a:avLst/>
          </a:prstGeom>
          <a:solidFill>
            <a:srgbClr val="2F3D4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4" name="橢圓 23">
            <a:extLst>
              <a:ext uri="{FF2B5EF4-FFF2-40B4-BE49-F238E27FC236}">
                <a16:creationId xmlns:a16="http://schemas.microsoft.com/office/drawing/2014/main" id="{2FA4AFBE-F36E-C036-E9E3-006A83D2EA8F}"/>
              </a:ext>
            </a:extLst>
          </p:cNvPr>
          <p:cNvSpPr>
            <a:spLocks noGrp="1"/>
          </p:cNvSpPr>
          <p:nvPr/>
        </p:nvSpPr>
        <p:spPr>
          <a:xfrm>
            <a:off x="5048701" y="464033"/>
            <a:ext cx="3269389" cy="3269389"/>
          </a:xfrm>
          <a:prstGeom prst="ellipse">
            <a:avLst/>
          </a:prstGeom>
          <a:solidFill>
            <a:schemeClr val="accent5">
              <a:lumMod val="50000"/>
              <a:alpha val="3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5" name="橢圓 24">
            <a:extLst>
              <a:ext uri="{FF2B5EF4-FFF2-40B4-BE49-F238E27FC236}">
                <a16:creationId xmlns:a16="http://schemas.microsoft.com/office/drawing/2014/main" id="{D8A9BB10-CEAD-E807-383C-C33FFA0CC47B}"/>
              </a:ext>
            </a:extLst>
          </p:cNvPr>
          <p:cNvSpPr>
            <a:spLocks noGrp="1"/>
          </p:cNvSpPr>
          <p:nvPr/>
        </p:nvSpPr>
        <p:spPr>
          <a:xfrm>
            <a:off x="-1209367" y="1904999"/>
            <a:ext cx="3048000" cy="3048000"/>
          </a:xfrm>
          <a:prstGeom prst="ellipse">
            <a:avLst/>
          </a:prstGeom>
          <a:solidFill>
            <a:schemeClr val="accent5">
              <a:lumMod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6" name="橢圓 25">
            <a:extLst>
              <a:ext uri="{FF2B5EF4-FFF2-40B4-BE49-F238E27FC236}">
                <a16:creationId xmlns:a16="http://schemas.microsoft.com/office/drawing/2014/main" id="{3C7E1A5D-58B8-741F-F368-71029830EFCB}"/>
              </a:ext>
            </a:extLst>
          </p:cNvPr>
          <p:cNvSpPr>
            <a:spLocks noGrp="1"/>
          </p:cNvSpPr>
          <p:nvPr/>
        </p:nvSpPr>
        <p:spPr>
          <a:xfrm>
            <a:off x="9906000" y="1219775"/>
            <a:ext cx="3048000" cy="3048000"/>
          </a:xfrm>
          <a:prstGeom prst="ellipse">
            <a:avLst/>
          </a:prstGeom>
          <a:solidFill>
            <a:schemeClr val="accent5">
              <a:lumMod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CCD17C11-44C5-6716-D9EE-3F6C2F8FA147}"/>
              </a:ext>
            </a:extLst>
          </p:cNvPr>
          <p:cNvSpPr>
            <a:spLocks noGrp="1"/>
          </p:cNvSpPr>
          <p:nvPr/>
        </p:nvSpPr>
        <p:spPr>
          <a:xfrm>
            <a:off x="314633" y="3217338"/>
            <a:ext cx="708128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>
                <a:solidFill>
                  <a:schemeClr val="bg1"/>
                </a:solidFill>
              </a:rPr>
              <a:t>03 Result</a:t>
            </a:r>
          </a:p>
        </p:txBody>
      </p:sp>
    </p:spTree>
    <p:extLst>
      <p:ext uri="{BB962C8B-B14F-4D97-AF65-F5344CB8AC3E}">
        <p14:creationId xmlns:p14="http://schemas.microsoft.com/office/powerpoint/2010/main" val="5344563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09AA672-BB17-C569-5B16-38A2D3EDD50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9F68E2-31C2-4D90-A536-67698CDE3376}" type="slidenum">
              <a:rPr/>
              <a:t>23</a:t>
            </a:fld>
            <a:endParaRPr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DE616B3E-4900-BB31-1E8B-5FCA4CEBF90E}"/>
              </a:ext>
            </a:extLst>
          </p:cNvPr>
          <p:cNvSpPr>
            <a:spLocks noGrp="1"/>
          </p:cNvSpPr>
          <p:nvPr/>
        </p:nvSpPr>
        <p:spPr>
          <a:xfrm>
            <a:off x="96192" y="309001"/>
            <a:ext cx="522008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sz="2000" b="1" i="0">
                <a:solidFill>
                  <a:srgbClr val="2F3C72"/>
                </a:solidFill>
                <a:latin typeface="Microsoft YaHei"/>
                <a:ea typeface="Microsoft YaHei"/>
                <a:cs typeface="Microsoft YaHei"/>
              </a:rPr>
              <a:t>Results Overview: Five Main Findings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D82DC937-CAC7-DC1C-8CA5-496DB4DD145D}"/>
              </a:ext>
            </a:extLst>
          </p:cNvPr>
          <p:cNvSpPr>
            <a:spLocks noGrp="1"/>
          </p:cNvSpPr>
          <p:nvPr/>
        </p:nvSpPr>
        <p:spPr>
          <a:xfrm>
            <a:off x="379494" y="739296"/>
            <a:ext cx="558859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chemeClr val="accent5">
                    <a:lumMod val="50000"/>
                  </a:schemeClr>
                </a:solidFill>
                <a:latin typeface="Anthropic Sans"/>
                <a:ea typeface="Anthropic Sans"/>
                <a:cs typeface="Anthropic Sans"/>
              </a:rPr>
              <a:t>1. Temporal variation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0B13003D-2E82-D726-9968-454B1DD3E90B}"/>
              </a:ext>
            </a:extLst>
          </p:cNvPr>
          <p:cNvSpPr>
            <a:spLocks noGrp="1"/>
          </p:cNvSpPr>
          <p:nvPr/>
        </p:nvSpPr>
        <p:spPr>
          <a:xfrm>
            <a:off x="1271588" y="1200961"/>
            <a:ext cx="961615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algn="l">
              <a:buNone/>
            </a:pPr>
            <a:r>
              <a:rPr sz="2000" b="0" i="0">
                <a:solidFill>
                  <a:srgbClr val="0B0B0B"/>
                </a:solidFill>
                <a:latin typeface="Anthropic Sans"/>
                <a:ea typeface="Anthropic Sans"/>
                <a:cs typeface="Anthropic Sans"/>
              </a:rPr>
              <a:t>MDA8 O3 showed clear annual, seasonal, and diurnal patterns, with higher levels in spring and autumn and afternoon peaks.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25D2A0B2-BA2D-7784-5501-D80AB36F701F}"/>
              </a:ext>
            </a:extLst>
          </p:cNvPr>
          <p:cNvSpPr>
            <a:spLocks noGrp="1"/>
          </p:cNvSpPr>
          <p:nvPr/>
        </p:nvSpPr>
        <p:spPr>
          <a:xfrm>
            <a:off x="379494" y="1916209"/>
            <a:ext cx="558859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chemeClr val="accent5">
                    <a:lumMod val="50000"/>
                  </a:schemeClr>
                </a:solidFill>
                <a:latin typeface="Anthropic Sans"/>
                <a:ea typeface="Anthropic Sans"/>
                <a:cs typeface="Anthropic Sans"/>
              </a:rPr>
              <a:t>2. Meteorological drivers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E2BAA002-C5C8-56C3-B9B8-44A9BC0FFF87}"/>
              </a:ext>
            </a:extLst>
          </p:cNvPr>
          <p:cNvSpPr>
            <a:spLocks noGrp="1"/>
          </p:cNvSpPr>
          <p:nvPr/>
        </p:nvSpPr>
        <p:spPr>
          <a:xfrm>
            <a:off x="1271588" y="2377874"/>
            <a:ext cx="961615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algn="l">
              <a:buNone/>
            </a:pPr>
            <a:r>
              <a:rPr sz="2000" b="0" i="0">
                <a:solidFill>
                  <a:srgbClr val="0B0B0B"/>
                </a:solidFill>
                <a:latin typeface="Anthropic Sans"/>
                <a:ea typeface="Anthropic Sans"/>
                <a:cs typeface="Anthropic Sans"/>
              </a:rPr>
              <a:t>Random Forest identified temperature, seasonality, sunshine, wind field, humidity, and rainfall as key predictors of O3 variability.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DBE1078B-5669-80A2-653C-97D0235E3193}"/>
              </a:ext>
            </a:extLst>
          </p:cNvPr>
          <p:cNvSpPr>
            <a:spLocks noGrp="1"/>
          </p:cNvSpPr>
          <p:nvPr/>
        </p:nvSpPr>
        <p:spPr>
          <a:xfrm>
            <a:off x="379494" y="3085760"/>
            <a:ext cx="558859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chemeClr val="accent5">
                    <a:lumMod val="50000"/>
                  </a:schemeClr>
                </a:solidFill>
                <a:latin typeface="Anthropic Sans"/>
                <a:ea typeface="Anthropic Sans"/>
                <a:cs typeface="Anthropic Sans"/>
              </a:rPr>
              <a:t>3. Nonlinear responses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0D2EEC1F-1F85-B2C4-6EFC-A6FA80DC60CB}"/>
              </a:ext>
            </a:extLst>
          </p:cNvPr>
          <p:cNvSpPr>
            <a:spLocks noGrp="1"/>
          </p:cNvSpPr>
          <p:nvPr/>
        </p:nvSpPr>
        <p:spPr>
          <a:xfrm>
            <a:off x="1271588" y="3547425"/>
            <a:ext cx="961615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algn="l">
              <a:buNone/>
            </a:pPr>
            <a:r>
              <a:rPr sz="2000" b="0" i="0">
                <a:solidFill>
                  <a:srgbClr val="0B0B0B"/>
                </a:solidFill>
                <a:latin typeface="Anthropic Sans"/>
                <a:ea typeface="Anthropic Sans"/>
                <a:cs typeface="Anthropic Sans"/>
              </a:rPr>
              <a:t>GAM revealed nonlinear O3 responses to meteorological variables, showing that O3 favors warm, sunny, dry, and weak-wind conditions.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B1A8BD57-8094-3199-D546-192A3079504C}"/>
              </a:ext>
            </a:extLst>
          </p:cNvPr>
          <p:cNvSpPr>
            <a:spLocks noGrp="1"/>
          </p:cNvSpPr>
          <p:nvPr/>
        </p:nvSpPr>
        <p:spPr>
          <a:xfrm>
            <a:off x="379494" y="4255311"/>
            <a:ext cx="558859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chemeClr val="accent5">
                    <a:lumMod val="50000"/>
                  </a:schemeClr>
                </a:solidFill>
                <a:latin typeface="Anthropic Sans"/>
                <a:ea typeface="Anthropic Sans"/>
                <a:cs typeface="Anthropic Sans"/>
              </a:rPr>
              <a:t>4. High-O3 events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836A0F77-79CA-E2F2-1F74-0C10242CE072}"/>
              </a:ext>
            </a:extLst>
          </p:cNvPr>
          <p:cNvSpPr>
            <a:spLocks noGrp="1"/>
          </p:cNvSpPr>
          <p:nvPr/>
        </p:nvSpPr>
        <p:spPr>
          <a:xfrm>
            <a:off x="1271588" y="4716976"/>
            <a:ext cx="961615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algn="l">
              <a:buNone/>
            </a:pPr>
            <a:r>
              <a:rPr sz="2000" b="0" i="0">
                <a:solidFill>
                  <a:srgbClr val="0B0B0B"/>
                </a:solidFill>
                <a:latin typeface="Anthropic Sans"/>
                <a:ea typeface="Anthropic Sans"/>
                <a:cs typeface="Anthropic Sans"/>
              </a:rPr>
              <a:t>Extreme O3 events were concentrated in autumn and occurred under sunny, dry, low-rainfall, and stagnant meteorological conditions.</a:t>
            </a: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1B29FEE1-D88C-C72E-87B4-277625EC383B}"/>
              </a:ext>
            </a:extLst>
          </p:cNvPr>
          <p:cNvSpPr>
            <a:spLocks noGrp="1"/>
          </p:cNvSpPr>
          <p:nvPr/>
        </p:nvSpPr>
        <p:spPr>
          <a:xfrm>
            <a:off x="379494" y="5424266"/>
            <a:ext cx="558859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chemeClr val="accent5">
                    <a:lumMod val="50000"/>
                  </a:schemeClr>
                </a:solidFill>
                <a:latin typeface="Anthropic Sans"/>
                <a:ea typeface="Anthropic Sans"/>
                <a:cs typeface="Anthropic Sans"/>
              </a:rPr>
              <a:t>5. Long-term trend after normalization </a:t>
            </a: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D1188C13-E8F2-7F9A-41D4-6BBE7B69A320}"/>
              </a:ext>
            </a:extLst>
          </p:cNvPr>
          <p:cNvSpPr>
            <a:spLocks noGrp="1"/>
          </p:cNvSpPr>
          <p:nvPr/>
        </p:nvSpPr>
        <p:spPr>
          <a:xfrm>
            <a:off x="1271588" y="5885931"/>
            <a:ext cx="961615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algn="l">
              <a:buNone/>
            </a:pPr>
            <a:r>
              <a:rPr sz="2000" b="0" i="0">
                <a:solidFill>
                  <a:srgbClr val="0B0B0B"/>
                </a:solidFill>
                <a:latin typeface="Anthropic Sans"/>
                <a:ea typeface="Anthropic Sans"/>
                <a:cs typeface="Anthropic Sans"/>
              </a:rPr>
              <a:t>Meteorological normalization reduced weather-driven variability and revealed a clearer declining trend in MDA8 O3.</a:t>
            </a: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EA98E9E9-5C1F-FCF5-4585-03E904D18980}"/>
              </a:ext>
            </a:extLst>
          </p:cNvPr>
          <p:cNvSpPr>
            <a:spLocks noGrp="1"/>
          </p:cNvSpPr>
          <p:nvPr/>
        </p:nvSpPr>
        <p:spPr>
          <a:xfrm>
            <a:off x="3173792" y="861282"/>
            <a:ext cx="82263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latin typeface="Microsoft YaHei"/>
                <a:ea typeface="Microsoft YaHei"/>
                <a:cs typeface="Microsoft YaHei"/>
              </a:rPr>
              <a:t>O3 </a:t>
            </a:r>
            <a:r>
              <a:rPr sz="1400" b="1" err="1">
                <a:latin typeface="Microsoft YaHei"/>
                <a:ea typeface="Microsoft YaHei"/>
                <a:cs typeface="Microsoft YaHei"/>
              </a:rPr>
              <a:t>怎麼變</a:t>
            </a:r>
            <a:r>
              <a:rPr sz="1400" b="1">
                <a:latin typeface="Microsoft YaHei"/>
                <a:ea typeface="Microsoft YaHei"/>
                <a:cs typeface="Microsoft YaHei"/>
              </a:rPr>
              <a:t> ？</a:t>
            </a:r>
            <a:r>
              <a:rPr sz="1400" b="1" err="1">
                <a:latin typeface="Microsoft YaHei"/>
                <a:ea typeface="Microsoft YaHei"/>
                <a:cs typeface="Microsoft YaHei"/>
              </a:rPr>
              <a:t>什麼時候高</a:t>
            </a:r>
            <a:r>
              <a:rPr sz="1400" b="1">
                <a:latin typeface="Microsoft YaHei"/>
                <a:ea typeface="Microsoft YaHei"/>
                <a:cs typeface="Microsoft YaHei"/>
              </a:rPr>
              <a:t> ？</a:t>
            </a:r>
            <a:endParaRPr b="1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EF80F61C-FB64-A31E-A3E6-9B356F0212B7}"/>
              </a:ext>
            </a:extLst>
          </p:cNvPr>
          <p:cNvSpPr>
            <a:spLocks noGrp="1"/>
          </p:cNvSpPr>
          <p:nvPr/>
        </p:nvSpPr>
        <p:spPr>
          <a:xfrm>
            <a:off x="3726684" y="2026205"/>
            <a:ext cx="82263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latin typeface="Microsoft YaHei"/>
                <a:ea typeface="Microsoft YaHei"/>
                <a:cs typeface="Microsoft YaHei"/>
              </a:rPr>
              <a:t>哪些氣象因子重要 ？</a:t>
            </a:r>
            <a:endParaRPr b="1"/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829536A9-5A24-E8CF-197C-D5991017E1DE}"/>
              </a:ext>
            </a:extLst>
          </p:cNvPr>
          <p:cNvSpPr>
            <a:spLocks noGrp="1"/>
          </p:cNvSpPr>
          <p:nvPr/>
        </p:nvSpPr>
        <p:spPr>
          <a:xfrm>
            <a:off x="3397075" y="3216662"/>
            <a:ext cx="82263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latin typeface="Microsoft YaHei"/>
                <a:ea typeface="Microsoft YaHei"/>
                <a:cs typeface="Microsoft YaHei"/>
              </a:rPr>
              <a:t>這些因子怎麼影響 ？</a:t>
            </a:r>
            <a:endParaRPr b="1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0DCDD925-4E8D-73DC-2710-30FB3F4BE430}"/>
              </a:ext>
            </a:extLst>
          </p:cNvPr>
          <p:cNvSpPr>
            <a:spLocks noGrp="1"/>
          </p:cNvSpPr>
          <p:nvPr/>
        </p:nvSpPr>
        <p:spPr>
          <a:xfrm>
            <a:off x="2706235" y="4383921"/>
            <a:ext cx="82263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latin typeface="Microsoft YaHei"/>
                <a:ea typeface="Microsoft YaHei"/>
                <a:cs typeface="Microsoft YaHei"/>
              </a:rPr>
              <a:t>高 O3 事件發生在什麼條件 ？</a:t>
            </a:r>
            <a:endParaRPr b="1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71B1004C-F4F9-A899-2BDA-5637A5771935}"/>
              </a:ext>
            </a:extLst>
          </p:cNvPr>
          <p:cNvSpPr>
            <a:spLocks noGrp="1"/>
          </p:cNvSpPr>
          <p:nvPr/>
        </p:nvSpPr>
        <p:spPr>
          <a:xfrm>
            <a:off x="5417536" y="5537864"/>
            <a:ext cx="82263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latin typeface="Microsoft YaHei"/>
                <a:ea typeface="Microsoft YaHei"/>
                <a:cs typeface="Microsoft YaHei"/>
              </a:rPr>
              <a:t>校正氣象後長期趨勢如何 ?</a:t>
            </a:r>
            <a:endParaRPr b="1"/>
          </a:p>
        </p:txBody>
      </p:sp>
    </p:spTree>
    <p:extLst>
      <p:ext uri="{BB962C8B-B14F-4D97-AF65-F5344CB8AC3E}">
        <p14:creationId xmlns:p14="http://schemas.microsoft.com/office/powerpoint/2010/main" val="25862971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圖片 2"/>
          <p:cNvPicPr>
            <a:picLocks noChangeAspect="1"/>
          </p:cNvPicPr>
          <p:nvPr/>
        </p:nvPicPr>
        <p:blipFill>
          <a:blip r:embed="rId3"/>
          <a:srcRect t="-231" b="40891"/>
          <a:stretch>
            <a:fillRect/>
          </a:stretch>
        </p:blipFill>
        <p:spPr>
          <a:xfrm>
            <a:off x="467766" y="1278363"/>
            <a:ext cx="4057018" cy="3408744"/>
          </a:xfrm>
          <a:prstGeom prst="roundRect">
            <a:avLst>
              <a:gd name="adj" fmla="val 7564"/>
            </a:avLst>
          </a:prstGeo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655AFCEA-327E-55AF-31C1-0928BBB4E9FB}"/>
              </a:ext>
            </a:extLst>
          </p:cNvPr>
          <p:cNvSpPr>
            <a:spLocks noGrp="1"/>
          </p:cNvSpPr>
          <p:nvPr/>
        </p:nvSpPr>
        <p:spPr>
          <a:xfrm>
            <a:off x="96192" y="309001"/>
            <a:ext cx="120345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sz="2000" b="1" i="0">
                <a:solidFill>
                  <a:srgbClr val="2F3C72"/>
                </a:solidFill>
                <a:latin typeface="Microsoft YaHei"/>
                <a:ea typeface="Microsoft YaHei"/>
                <a:cs typeface="Microsoft YaHei"/>
              </a:rPr>
              <a:t> Result1 Spatiotemporal Distribution of Ozone: Higher in Autumn, Afternoon &amp; Downwind</a:t>
            </a:r>
          </a:p>
        </p:txBody>
      </p:sp>
      <p:sp>
        <p:nvSpPr>
          <p:cNvPr id="10" name="投影片編號版面配置區 9">
            <a:extLst>
              <a:ext uri="{FF2B5EF4-FFF2-40B4-BE49-F238E27FC236}">
                <a16:creationId xmlns:a16="http://schemas.microsoft.com/office/drawing/2014/main" id="{6D983CFF-E46D-44C0-2BD6-4E3D5E24BE8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9F68E2-31C2-4D90-A536-67698CDE3376}" type="slidenum">
              <a:rPr/>
              <a:t>24</a:t>
            </a:fld>
            <a:endParaRPr/>
          </a:p>
        </p:txBody>
      </p:sp>
      <p:pic>
        <p:nvPicPr>
          <p:cNvPr id="30" name="圖片 11"/>
          <p:cNvPicPr>
            <a:picLocks noChangeAspect="1"/>
          </p:cNvPicPr>
          <p:nvPr/>
        </p:nvPicPr>
        <p:blipFill>
          <a:blip r:embed="rId4"/>
          <a:srcRect b="4758"/>
          <a:stretch>
            <a:fillRect/>
          </a:stretch>
        </p:blipFill>
        <p:spPr>
          <a:xfrm>
            <a:off x="5532423" y="1278363"/>
            <a:ext cx="2625394" cy="1744376"/>
          </a:xfrm>
          <a:prstGeom prst="roundRect">
            <a:avLst>
              <a:gd name="adj" fmla="val 7338"/>
            </a:avLst>
          </a:prstGeo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</p:pic>
      <p:pic>
        <p:nvPicPr>
          <p:cNvPr id="31" name="圖片 1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1779" y="3755282"/>
            <a:ext cx="4197642" cy="2100618"/>
          </a:xfrm>
          <a:prstGeom prst="roundRect">
            <a:avLst>
              <a:gd name="adj" fmla="val 5217"/>
            </a:avLst>
          </a:prstGeo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</p:pic>
      <p:sp>
        <p:nvSpPr>
          <p:cNvPr id="15" name="文字方塊 14">
            <a:extLst>
              <a:ext uri="{FF2B5EF4-FFF2-40B4-BE49-F238E27FC236}">
                <a16:creationId xmlns:a16="http://schemas.microsoft.com/office/drawing/2014/main" id="{78FE6491-5207-AC14-17F3-FF7ABBEE5FEA}"/>
              </a:ext>
            </a:extLst>
          </p:cNvPr>
          <p:cNvSpPr>
            <a:spLocks noGrp="1"/>
          </p:cNvSpPr>
          <p:nvPr/>
        </p:nvSpPr>
        <p:spPr>
          <a:xfrm>
            <a:off x="1280594" y="722664"/>
            <a:ext cx="574895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sz="1400" b="1" i="0">
                <a:solidFill>
                  <a:schemeClr val="bg2">
                    <a:lumMod val="25000"/>
                  </a:schemeClr>
                </a:solidFill>
                <a:latin typeface="Microsoft YaHei"/>
                <a:ea typeface="Microsoft YaHei"/>
                <a:cs typeface="Microsoft YaHei"/>
              </a:rPr>
              <a:t>12 stations, Kaohsiung · 2018–2025 · Daily MDA8 O₃</a:t>
            </a:r>
          </a:p>
        </p:txBody>
      </p:sp>
      <p:pic>
        <p:nvPicPr>
          <p:cNvPr id="33" name="圖片 1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0477" y="1284054"/>
            <a:ext cx="3031327" cy="1738685"/>
          </a:xfrm>
          <a:prstGeom prst="roundRect">
            <a:avLst>
              <a:gd name="adj" fmla="val 7338"/>
            </a:avLst>
          </a:prstGeo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</p:pic>
      <p:sp>
        <p:nvSpPr>
          <p:cNvPr id="19" name="文字方塊 18">
            <a:extLst>
              <a:ext uri="{FF2B5EF4-FFF2-40B4-BE49-F238E27FC236}">
                <a16:creationId xmlns:a16="http://schemas.microsoft.com/office/drawing/2014/main" id="{78CEF5DB-390B-1F7D-F1D6-E639F723A18C}"/>
              </a:ext>
            </a:extLst>
          </p:cNvPr>
          <p:cNvSpPr>
            <a:spLocks noGrp="1"/>
          </p:cNvSpPr>
          <p:nvPr/>
        </p:nvSpPr>
        <p:spPr>
          <a:xfrm>
            <a:off x="6618066" y="6156602"/>
            <a:ext cx="3985068" cy="6177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marR="0" indent="-171450" algn="l">
              <a:lnSpc>
                <a:spcPct val="150000"/>
              </a:lnSpc>
              <a:buFont typeface="Arial"/>
              <a:buChar char="•"/>
            </a:pPr>
            <a:r>
              <a:rPr sz="1200" b="0" i="0">
                <a:solidFill>
                  <a:srgbClr val="0B0B0B"/>
                </a:solidFill>
                <a:latin typeface="Anthropic Sans"/>
                <a:ea typeface="Anthropic Sans"/>
                <a:cs typeface="Anthropic Sans"/>
              </a:rPr>
              <a:t>Afternoon peak (12:00–14:00), photochemical</a:t>
            </a:r>
          </a:p>
          <a:p>
            <a:pPr marL="171450" marR="0" indent="-171450" algn="l">
              <a:lnSpc>
                <a:spcPct val="150000"/>
              </a:lnSpc>
              <a:buFont typeface="Arial"/>
              <a:buChar char="•"/>
            </a:pPr>
            <a:r>
              <a:rPr sz="1200" b="0" i="0">
                <a:solidFill>
                  <a:srgbClr val="0B0B0B"/>
                </a:solidFill>
                <a:latin typeface="Anthropic Sans"/>
                <a:ea typeface="Anthropic Sans"/>
                <a:cs typeface="Anthropic Sans"/>
              </a:rPr>
              <a:t>Largest amplitude in autumn, smallest in summer</a:t>
            </a: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516865CD-BDDF-6C99-72F5-78A62D181819}"/>
              </a:ext>
            </a:extLst>
          </p:cNvPr>
          <p:cNvSpPr>
            <a:spLocks noGrp="1"/>
          </p:cNvSpPr>
          <p:nvPr/>
        </p:nvSpPr>
        <p:spPr>
          <a:xfrm>
            <a:off x="5532423" y="3165825"/>
            <a:ext cx="5776108" cy="49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marR="0" indent="-171450" algn="ctr">
              <a:lnSpc>
                <a:spcPct val="150000"/>
              </a:lnSpc>
              <a:buFont typeface="Arial"/>
              <a:buChar char="•"/>
            </a:pPr>
            <a:r>
              <a:rPr sz="1200" b="0" i="0" dirty="0">
                <a:solidFill>
                  <a:srgbClr val="0B0B0B"/>
                </a:solidFill>
                <a:latin typeface="Anthropic Sans"/>
                <a:ea typeface="Anthropic Sans"/>
                <a:cs typeface="Anthropic Sans"/>
              </a:rPr>
              <a:t>High in </a:t>
            </a:r>
            <a:r>
              <a:rPr sz="2000" b="1" i="0" dirty="0">
                <a:solidFill>
                  <a:srgbClr val="C00000"/>
                </a:solidFill>
                <a:latin typeface="Microsoft YaHei"/>
                <a:ea typeface="Microsoft YaHei"/>
                <a:cs typeface="Microsoft YaHei"/>
              </a:rPr>
              <a:t>autumn &amp; spring</a:t>
            </a:r>
            <a:r>
              <a:rPr sz="1200" b="0" i="0" dirty="0">
                <a:solidFill>
                  <a:srgbClr val="0B0B0B"/>
                </a:solidFill>
                <a:latin typeface="Anthropic Sans"/>
                <a:ea typeface="Anthropic Sans"/>
                <a:cs typeface="Anthropic Sans"/>
              </a:rPr>
              <a:t>; lowest in summer (SW monsoon)</a:t>
            </a: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8D759BE7-373E-2157-5680-B69F4725B627}"/>
              </a:ext>
            </a:extLst>
          </p:cNvPr>
          <p:cNvSpPr>
            <a:spLocks noGrp="1"/>
          </p:cNvSpPr>
          <p:nvPr/>
        </p:nvSpPr>
        <p:spPr>
          <a:xfrm>
            <a:off x="392464" y="4815221"/>
            <a:ext cx="7367900" cy="12958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marR="0" indent="-171450" algn="l">
              <a:lnSpc>
                <a:spcPct val="150000"/>
              </a:lnSpc>
              <a:buFont typeface="Arial"/>
              <a:buChar char="•"/>
            </a:pPr>
            <a:r>
              <a:rPr b="0" i="0">
                <a:solidFill>
                  <a:srgbClr val="0B0B0B"/>
                </a:solidFill>
                <a:latin typeface="Anthropic Sans"/>
                <a:ea typeface="Anthropic Sans"/>
                <a:cs typeface="Anthropic Sans"/>
              </a:rPr>
              <a:t>Highest: 林園, 美濃 (downwind / rural)</a:t>
            </a:r>
          </a:p>
          <a:p>
            <a:pPr marL="171450" marR="0" indent="-171450" algn="l">
              <a:lnSpc>
                <a:spcPct val="150000"/>
              </a:lnSpc>
              <a:buFont typeface="Arial"/>
              <a:buChar char="•"/>
            </a:pPr>
            <a:r>
              <a:rPr b="0" i="0">
                <a:solidFill>
                  <a:srgbClr val="0B0B0B"/>
                </a:solidFill>
                <a:latin typeface="Anthropic Sans"/>
                <a:ea typeface="Anthropic Sans"/>
                <a:cs typeface="Anthropic Sans"/>
              </a:rPr>
              <a:t>Lowest: </a:t>
            </a:r>
            <a:r>
              <a:rPr>
                <a:solidFill>
                  <a:srgbClr val="0B0B0B"/>
                </a:solidFill>
                <a:latin typeface="Anthropic Sans"/>
                <a:ea typeface="Anthropic Sans"/>
                <a:cs typeface="Anthropic Sans"/>
              </a:rPr>
              <a:t>前鎮</a:t>
            </a:r>
            <a:r>
              <a:rPr b="0" i="0">
                <a:solidFill>
                  <a:srgbClr val="0B0B0B"/>
                </a:solidFill>
                <a:latin typeface="Anthropic Sans"/>
                <a:ea typeface="Anthropic Sans"/>
                <a:cs typeface="Anthropic Sans"/>
              </a:rPr>
              <a:t> (industrial), </a:t>
            </a:r>
            <a:r>
              <a:rPr>
                <a:solidFill>
                  <a:srgbClr val="0B0B0B"/>
                </a:solidFill>
                <a:latin typeface="Anthropic Sans"/>
                <a:ea typeface="Anthropic Sans"/>
                <a:cs typeface="Anthropic Sans"/>
              </a:rPr>
              <a:t>鳳山</a:t>
            </a:r>
            <a:r>
              <a:rPr b="0" i="0">
                <a:solidFill>
                  <a:srgbClr val="0B0B0B"/>
                </a:solidFill>
                <a:latin typeface="Anthropic Sans"/>
                <a:ea typeface="Anthropic Sans"/>
                <a:cs typeface="Anthropic Sans"/>
              </a:rPr>
              <a:t> · 復興 (traffic), </a:t>
            </a:r>
            <a:r>
              <a:rPr>
                <a:solidFill>
                  <a:srgbClr val="0B0B0B"/>
                </a:solidFill>
                <a:latin typeface="Anthropic Sans"/>
                <a:ea typeface="Anthropic Sans"/>
                <a:cs typeface="Anthropic Sans"/>
              </a:rPr>
              <a:t>小港</a:t>
            </a:r>
            <a:endParaRPr b="0" i="0">
              <a:solidFill>
                <a:srgbClr val="0B0B0B"/>
              </a:solidFill>
              <a:latin typeface="Anthropic Sans"/>
              <a:ea typeface="Anthropic Sans"/>
              <a:cs typeface="Anthropic Sans"/>
            </a:endParaRPr>
          </a:p>
          <a:p>
            <a:pPr marL="171450" marR="0" indent="-171450" algn="l">
              <a:lnSpc>
                <a:spcPct val="150000"/>
              </a:lnSpc>
              <a:buFont typeface="Arial"/>
              <a:buChar char="•"/>
            </a:pPr>
            <a:r>
              <a:rPr b="0" i="0">
                <a:solidFill>
                  <a:srgbClr val="0B0B0B"/>
                </a:solidFill>
                <a:latin typeface="Anthropic Sans"/>
                <a:ea typeface="Anthropic Sans"/>
                <a:cs typeface="Anthropic Sans"/>
              </a:rPr>
              <a:t>Source areas are lower → NOx titration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DFF4CA2B-7F83-48B8-A86B-CFC18FBEC83E}"/>
              </a:ext>
            </a:extLst>
          </p:cNvPr>
          <p:cNvSpPr>
            <a:spLocks noGrp="1"/>
          </p:cNvSpPr>
          <p:nvPr/>
        </p:nvSpPr>
        <p:spPr>
          <a:xfrm>
            <a:off x="411480" y="6291072"/>
            <a:ext cx="5760720" cy="521207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8900" tIns="38100" rIns="88900" bIns="38100" anchor="ctr">
            <a:normAutofit/>
          </a:bodyPr>
          <a:lstStyle/>
          <a:p>
            <a:pPr algn="l">
              <a:buNone/>
            </a:pPr>
            <a:r>
              <a:rPr sz="1100" b="1">
                <a:solidFill>
                  <a:srgbClr val="1F5C9E"/>
                </a:solidFill>
                <a:latin typeface="Microsoft JhengHei"/>
                <a:ea typeface="Microsoft JhengHei"/>
                <a:cs typeface="Microsoft JhengHei"/>
              </a:rPr>
              <a:t>【說明】</a:t>
            </a:r>
            <a:r>
              <a:rPr sz="1100">
                <a:solidFill>
                  <a:srgbClr val="222222"/>
                </a:solidFill>
                <a:latin typeface="Microsoft JhengHei"/>
                <a:ea typeface="Microsoft JhengHei"/>
                <a:cs typeface="Microsoft JhengHei"/>
              </a:rPr>
              <a:t>臭氧於秋季、午後、下風處偏高;工業與交通測站因排放源附近 NOx 滴定反而較低,高值出現在下風的林園、美濃。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40AA68F9-38D8-4A47-C105-060FFA2AAD3B}"/>
              </a:ext>
            </a:extLst>
          </p:cNvPr>
          <p:cNvSpPr>
            <a:spLocks noGrp="1"/>
          </p:cNvSpPr>
          <p:nvPr/>
        </p:nvSpPr>
        <p:spPr>
          <a:xfrm>
            <a:off x="3796234" y="3028844"/>
            <a:ext cx="609777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200">
                <a:latin typeface="Microsoft YaHei"/>
                <a:ea typeface="Microsoft YaHei"/>
                <a:cs typeface="Microsoft YaHei"/>
              </a:rPr>
              <a:t>圖 (a)：2018–2025 年平均 MDA8 O3 變化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BB47941E-02FF-1945-F976-4B85FF8795EB}"/>
              </a:ext>
            </a:extLst>
          </p:cNvPr>
          <p:cNvSpPr>
            <a:spLocks noGrp="1"/>
          </p:cNvSpPr>
          <p:nvPr/>
        </p:nvSpPr>
        <p:spPr>
          <a:xfrm>
            <a:off x="6887254" y="3028844"/>
            <a:ext cx="609777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200">
                <a:latin typeface="Microsoft YaHei"/>
                <a:ea typeface="Microsoft YaHei"/>
                <a:cs typeface="Microsoft YaHei"/>
              </a:rPr>
              <a:t>圖 (b)：各月份 MDA8 O3 分布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3F8B07EA-FF01-EA13-5AB2-F82174E30811}"/>
              </a:ext>
            </a:extLst>
          </p:cNvPr>
          <p:cNvSpPr>
            <a:spLocks noGrp="1"/>
          </p:cNvSpPr>
          <p:nvPr/>
        </p:nvSpPr>
        <p:spPr>
          <a:xfrm>
            <a:off x="5561714" y="5857118"/>
            <a:ext cx="609777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200">
                <a:latin typeface="Microsoft YaHei"/>
                <a:ea typeface="Microsoft YaHei"/>
                <a:cs typeface="Microsoft YaHei"/>
              </a:rPr>
              <a:t>圖 (c)：季節日內 O3 變化</a:t>
            </a:r>
          </a:p>
        </p:txBody>
      </p:sp>
    </p:spTree>
    <p:extLst>
      <p:ext uri="{BB962C8B-B14F-4D97-AF65-F5344CB8AC3E}">
        <p14:creationId xmlns:p14="http://schemas.microsoft.com/office/powerpoint/2010/main" val="209223724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投影片編號版面配置區 9">
            <a:extLst>
              <a:ext uri="{FF2B5EF4-FFF2-40B4-BE49-F238E27FC236}">
                <a16:creationId xmlns:a16="http://schemas.microsoft.com/office/drawing/2014/main" id="{04D82227-8377-8F1C-AE45-87A8783A5B8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9F68E2-31C2-4D90-A536-67698CDE3376}" type="slidenum">
              <a:rPr/>
              <a:t>25</a:t>
            </a:fld>
            <a:endParaRPr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28CF1F20-0230-34E2-19A2-4B81F9227AC8}"/>
              </a:ext>
            </a:extLst>
          </p:cNvPr>
          <p:cNvSpPr>
            <a:spLocks noGrp="1"/>
          </p:cNvSpPr>
          <p:nvPr/>
        </p:nvSpPr>
        <p:spPr>
          <a:xfrm>
            <a:off x="96192" y="309001"/>
            <a:ext cx="120345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sz="2000" b="1" i="0">
                <a:solidFill>
                  <a:srgbClr val="2F3C72"/>
                </a:solidFill>
                <a:latin typeface="Microsoft YaHei"/>
                <a:ea typeface="Microsoft YaHei"/>
                <a:cs typeface="Microsoft YaHei"/>
              </a:rPr>
              <a:t>Result2 Meteorological Drivers: What Controls Ozone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EAED4663-3DFA-45BC-B910-3618D8FD1B18}"/>
              </a:ext>
            </a:extLst>
          </p:cNvPr>
          <p:cNvSpPr>
            <a:spLocks noGrp="1"/>
          </p:cNvSpPr>
          <p:nvPr/>
        </p:nvSpPr>
        <p:spPr>
          <a:xfrm>
            <a:off x="1276824" y="716379"/>
            <a:ext cx="7985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sz="1400" b="1" i="0">
                <a:solidFill>
                  <a:schemeClr val="bg2">
                    <a:lumMod val="25000"/>
                  </a:schemeClr>
                </a:solidFill>
                <a:latin typeface="Microsoft YaHei"/>
                <a:ea typeface="Microsoft YaHei"/>
                <a:cs typeface="Microsoft YaHei"/>
              </a:rPr>
              <a:t>Random Forest · city-day model · held-out 2024–2025 test · permutation importance</a:t>
            </a:r>
          </a:p>
        </p:txBody>
      </p:sp>
      <p:pic>
        <p:nvPicPr>
          <p:cNvPr id="28" name="圖片 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491" y="1520734"/>
            <a:ext cx="5381122" cy="2692864"/>
          </a:xfrm>
          <a:prstGeom prst="roundRect">
            <a:avLst>
              <a:gd name="adj" fmla="val 7564"/>
            </a:avLst>
          </a:prstGeo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</p:pic>
      <p:sp>
        <p:nvSpPr>
          <p:cNvPr id="20" name="文字方塊 19">
            <a:extLst>
              <a:ext uri="{FF2B5EF4-FFF2-40B4-BE49-F238E27FC236}">
                <a16:creationId xmlns:a16="http://schemas.microsoft.com/office/drawing/2014/main" id="{2D071AC6-E605-A2E5-C86C-B95B5D6A03F8}"/>
              </a:ext>
            </a:extLst>
          </p:cNvPr>
          <p:cNvSpPr>
            <a:spLocks noGrp="1"/>
          </p:cNvSpPr>
          <p:nvPr/>
        </p:nvSpPr>
        <p:spPr>
          <a:xfrm>
            <a:off x="6067913" y="3705766"/>
            <a:ext cx="5285887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chemeClr val="accent5">
                    <a:lumMod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Model performance</a:t>
            </a:r>
          </a:p>
          <a:p>
            <a:pPr marL="285750" indent="-285750">
              <a:buFont typeface="Arial"/>
              <a:buChar char="•"/>
            </a:pPr>
            <a:r>
              <a:rPr>
                <a:solidFill>
                  <a:srgbClr val="0B0B0B"/>
                </a:solidFill>
                <a:latin typeface="Anthropic Sans"/>
                <a:ea typeface="Anthropic Sans"/>
                <a:cs typeface="Anthropic Sans"/>
              </a:rPr>
              <a:t>Random Forest, tested on held-out 2024–2025</a:t>
            </a:r>
          </a:p>
          <a:p>
            <a:pPr marL="285750" indent="-285750">
              <a:buFont typeface="Arial"/>
              <a:buChar char="•"/>
            </a:pPr>
            <a:r>
              <a:rPr>
                <a:solidFill>
                  <a:srgbClr val="0B0B0B"/>
                </a:solidFill>
                <a:latin typeface="Anthropic Sans"/>
                <a:ea typeface="Anthropic Sans"/>
                <a:cs typeface="Anthropic Sans"/>
              </a:rPr>
              <a:t>Clearly beats a linear baseline</a:t>
            </a: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AE61DC60-2419-0A56-B038-1260041E7A90}"/>
              </a:ext>
            </a:extLst>
          </p:cNvPr>
          <p:cNvSpPr>
            <a:spLocks noGrp="1"/>
          </p:cNvSpPr>
          <p:nvPr/>
        </p:nvSpPr>
        <p:spPr>
          <a:xfrm>
            <a:off x="6067913" y="4775432"/>
            <a:ext cx="5285887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chemeClr val="accent5">
                    <a:lumMod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Interpretation</a:t>
            </a:r>
          </a:p>
          <a:p>
            <a:pPr marL="285750" indent="-285750">
              <a:buFont typeface="Arial"/>
              <a:buChar char="•"/>
            </a:pPr>
            <a:r>
              <a:rPr>
                <a:solidFill>
                  <a:srgbClr val="0B0B0B"/>
                </a:solidFill>
                <a:latin typeface="Anthropic Sans"/>
                <a:ea typeface="Anthropic Sans"/>
                <a:cs typeface="Anthropic Sans"/>
              </a:rPr>
              <a:t>Heat + sunlight + season → photochemistry</a:t>
            </a: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4DB6303B-6B2B-04EF-00CD-2839F374C2DB}"/>
              </a:ext>
            </a:extLst>
          </p:cNvPr>
          <p:cNvSpPr>
            <a:spLocks noGrp="1"/>
          </p:cNvSpPr>
          <p:nvPr/>
        </p:nvSpPr>
        <p:spPr>
          <a:xfrm>
            <a:off x="6067912" y="1787754"/>
            <a:ext cx="6202059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chemeClr val="accent5">
                    <a:lumMod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Top drivers (permutation importance)</a:t>
            </a:r>
          </a:p>
          <a:p>
            <a:pPr marL="285750" indent="-285750">
              <a:buFont typeface="Arial"/>
              <a:buChar char="•"/>
            </a:pPr>
            <a:r>
              <a:rPr b="1">
                <a:solidFill>
                  <a:srgbClr val="0B0B0B"/>
                </a:solidFill>
                <a:latin typeface="Anthropic Sans"/>
                <a:ea typeface="Anthropic Sans"/>
                <a:cs typeface="Anthropic Sans"/>
              </a:rPr>
              <a:t>Strongest</a:t>
            </a:r>
            <a:r>
              <a:rPr>
                <a:solidFill>
                  <a:srgbClr val="0B0B0B"/>
                </a:solidFill>
                <a:latin typeface="Anthropic Sans"/>
                <a:ea typeface="Anthropic Sans"/>
                <a:cs typeface="Anthropic Sans"/>
              </a:rPr>
              <a:t>: Max </a:t>
            </a:r>
            <a:r>
              <a:rPr sz="2000" b="1">
                <a:solidFill>
                  <a:srgbClr val="C00000"/>
                </a:solidFill>
                <a:latin typeface="Microsoft YaHei"/>
                <a:ea typeface="Microsoft YaHei"/>
                <a:cs typeface="Microsoft YaHei"/>
              </a:rPr>
              <a:t>temperature ≈ Seasonality</a:t>
            </a:r>
            <a:r>
              <a:rPr sz="2000">
                <a:solidFill>
                  <a:srgbClr val="0B0B0B"/>
                </a:solidFill>
                <a:latin typeface="Anthropic Sans"/>
                <a:ea typeface="Anthropic Sans"/>
                <a:cs typeface="Anthropic Sans"/>
              </a:rPr>
              <a:t> </a:t>
            </a:r>
          </a:p>
          <a:p>
            <a:r>
              <a:rPr>
                <a:solidFill>
                  <a:srgbClr val="0B0B0B"/>
                </a:solidFill>
                <a:latin typeface="Anthropic Sans"/>
                <a:ea typeface="Anthropic Sans"/>
                <a:cs typeface="Anthropic Sans"/>
              </a:rPr>
              <a:t>(day-of-year)</a:t>
            </a:r>
          </a:p>
          <a:p>
            <a:pPr marL="285750" indent="-285750">
              <a:buFont typeface="Arial"/>
              <a:buChar char="•"/>
            </a:pPr>
            <a:r>
              <a:rPr b="1">
                <a:solidFill>
                  <a:srgbClr val="0B0B0B"/>
                </a:solidFill>
                <a:latin typeface="Anthropic Sans"/>
                <a:ea typeface="Anthropic Sans"/>
                <a:cs typeface="Anthropic Sans"/>
              </a:rPr>
              <a:t>Then</a:t>
            </a:r>
            <a:r>
              <a:rPr>
                <a:solidFill>
                  <a:srgbClr val="0B0B0B"/>
                </a:solidFill>
                <a:latin typeface="Anthropic Sans"/>
                <a:ea typeface="Anthropic Sans"/>
                <a:cs typeface="Anthropic Sans"/>
              </a:rPr>
              <a:t>: Sunshine · Wind direction</a:t>
            </a:r>
          </a:p>
          <a:p>
            <a:pPr marL="285750" indent="-285750">
              <a:buFont typeface="Arial"/>
              <a:buChar char="•"/>
            </a:pPr>
            <a:r>
              <a:rPr b="1">
                <a:solidFill>
                  <a:srgbClr val="0B0B0B"/>
                </a:solidFill>
                <a:latin typeface="Anthropic Sans"/>
                <a:ea typeface="Anthropic Sans"/>
                <a:cs typeface="Anthropic Sans"/>
              </a:rPr>
              <a:t>Then</a:t>
            </a:r>
            <a:r>
              <a:rPr>
                <a:solidFill>
                  <a:srgbClr val="0B0B0B"/>
                </a:solidFill>
                <a:latin typeface="Anthropic Sans"/>
                <a:ea typeface="Anthropic Sans"/>
                <a:cs typeface="Anthropic Sans"/>
              </a:rPr>
              <a:t>: Humidity · Rainfall</a:t>
            </a:r>
          </a:p>
          <a:p>
            <a:pPr marL="285750" indent="-285750">
              <a:buFont typeface="Arial"/>
              <a:buChar char="•"/>
            </a:pPr>
            <a:r>
              <a:rPr b="1">
                <a:solidFill>
                  <a:srgbClr val="0B0B0B"/>
                </a:solidFill>
                <a:latin typeface="Anthropic Sans"/>
                <a:ea typeface="Anthropic Sans"/>
                <a:cs typeface="Anthropic Sans"/>
              </a:rPr>
              <a:t>Station/location effects</a:t>
            </a:r>
            <a:r>
              <a:rPr>
                <a:solidFill>
                  <a:srgbClr val="0B0B0B"/>
                </a:solidFill>
                <a:latin typeface="Anthropic Sans"/>
                <a:ea typeface="Anthropic Sans"/>
                <a:cs typeface="Anthropic Sans"/>
              </a:rPr>
              <a:t>: minor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144704FC-50E7-46D3-8BE1-2B6AF66167C4}"/>
              </a:ext>
            </a:extLst>
          </p:cNvPr>
          <p:cNvSpPr>
            <a:spLocks noGrp="1"/>
          </p:cNvSpPr>
          <p:nvPr/>
        </p:nvSpPr>
        <p:spPr>
          <a:xfrm>
            <a:off x="411480" y="6272784"/>
            <a:ext cx="7863840" cy="5120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8900" tIns="38100" rIns="88900" bIns="38100" anchor="ctr">
            <a:normAutofit/>
          </a:bodyPr>
          <a:lstStyle/>
          <a:p>
            <a:pPr algn="l">
              <a:buNone/>
            </a:pPr>
            <a:r>
              <a:rPr sz="1100" b="1">
                <a:solidFill>
                  <a:srgbClr val="1F5C9E"/>
                </a:solidFill>
                <a:latin typeface="Microsoft JhengHei"/>
                <a:ea typeface="Microsoft JhengHei"/>
                <a:cs typeface="Microsoft JhengHei"/>
              </a:rPr>
              <a:t>【說明】</a:t>
            </a:r>
            <a:r>
              <a:rPr sz="1100">
                <a:solidFill>
                  <a:srgbClr val="222222"/>
                </a:solidFill>
                <a:latin typeface="Microsoft JhengHei"/>
                <a:ea typeface="Microsoft JhengHei"/>
                <a:cs typeface="Microsoft JhengHei"/>
              </a:rPr>
              <a:t>隨機森林顯示最高溫、季節與日照為最主要驅動因子,其次為風向、濕度、雨量,整體反映光化學生成特性。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D313736F-F96D-BDA1-5345-5B1F0CE884A1}"/>
              </a:ext>
            </a:extLst>
          </p:cNvPr>
          <p:cNvSpPr>
            <a:spLocks noGrp="1"/>
          </p:cNvSpPr>
          <p:nvPr/>
        </p:nvSpPr>
        <p:spPr>
          <a:xfrm>
            <a:off x="6106633" y="5499207"/>
            <a:ext cx="425490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chemeClr val="bg2">
                    <a:lumMod val="50000"/>
                  </a:schemeClr>
                </a:solidFill>
                <a:latin typeface="Microsoft YaHei"/>
                <a:ea typeface="Microsoft YaHei"/>
                <a:cs typeface="Microsoft YaHei"/>
              </a:rPr>
              <a:t>高溫、日照和季節條件共同反映臭氧的光化學生成功能。</a:t>
            </a:r>
            <a:endParaRPr sz="160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4C4F24F8-25A7-B72F-B412-57807483B496}"/>
              </a:ext>
            </a:extLst>
          </p:cNvPr>
          <p:cNvSpPr>
            <a:spLocks noGrp="1"/>
          </p:cNvSpPr>
          <p:nvPr/>
        </p:nvSpPr>
        <p:spPr>
          <a:xfrm>
            <a:off x="583108" y="4387010"/>
            <a:ext cx="528588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Permutation importance = 原始模型分數 - 打亂該變數後的模型分數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50D4826B-FE27-14A1-BAAD-E24E2112F2CD}"/>
              </a:ext>
            </a:extLst>
          </p:cNvPr>
          <p:cNvSpPr>
            <a:spLocks noGrp="1"/>
          </p:cNvSpPr>
          <p:nvPr/>
        </p:nvSpPr>
        <p:spPr>
          <a:xfrm>
            <a:off x="583108" y="5206753"/>
            <a:ext cx="52858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Importance_j = R²_original - R²_permuted_j</a:t>
            </a:r>
          </a:p>
        </p:txBody>
      </p:sp>
    </p:spTree>
    <p:extLst>
      <p:ext uri="{BB962C8B-B14F-4D97-AF65-F5344CB8AC3E}">
        <p14:creationId xmlns:p14="http://schemas.microsoft.com/office/powerpoint/2010/main" val="130631698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717217AD-56CE-291A-3CF3-7768353E479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9F68E2-31C2-4D90-A536-67698CDE3376}" type="slidenum">
              <a:rPr/>
              <a:t>26</a:t>
            </a:fld>
            <a:endParaRPr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BEB8D8D8-0978-DB3F-FCA1-FDBF26F613F2}"/>
              </a:ext>
            </a:extLst>
          </p:cNvPr>
          <p:cNvSpPr>
            <a:spLocks noGrp="1"/>
          </p:cNvSpPr>
          <p:nvPr/>
        </p:nvSpPr>
        <p:spPr>
          <a:xfrm>
            <a:off x="96192" y="309001"/>
            <a:ext cx="120345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sz="2000" b="1" i="0">
                <a:solidFill>
                  <a:srgbClr val="2F3C72"/>
                </a:solidFill>
                <a:latin typeface="Microsoft YaHei"/>
                <a:ea typeface="Microsoft YaHei"/>
                <a:cs typeface="Microsoft YaHei"/>
              </a:rPr>
              <a:t>Result3 The Shape of Each Driver: GAM Confirmation &amp; Nonlinearity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4170F15E-FD25-30A8-5FE3-7C2D14EC12E8}"/>
              </a:ext>
            </a:extLst>
          </p:cNvPr>
          <p:cNvSpPr>
            <a:spLocks noGrp="1"/>
          </p:cNvSpPr>
          <p:nvPr/>
        </p:nvSpPr>
        <p:spPr>
          <a:xfrm>
            <a:off x="1271588" y="726211"/>
            <a:ext cx="927075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sz="1400" b="1" i="0">
                <a:solidFill>
                  <a:schemeClr val="bg2">
                    <a:lumMod val="25000"/>
                  </a:schemeClr>
                </a:solidFill>
                <a:latin typeface="Microsoft YaHei"/>
                <a:ea typeface="Microsoft YaHei"/>
                <a:cs typeface="Microsoft YaHei"/>
              </a:rPr>
              <a:t>Generalized Additive Model (GAM) · partial-effect curves · cross-checks the Random Forest</a:t>
            </a:r>
          </a:p>
        </p:txBody>
      </p:sp>
      <p:pic>
        <p:nvPicPr>
          <p:cNvPr id="23" name="圖片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8840" y="1096141"/>
            <a:ext cx="3122320" cy="5462690"/>
          </a:xfrm>
          <a:prstGeom prst="roundRect">
            <a:avLst>
              <a:gd name="adj" fmla="val 754"/>
            </a:avLst>
          </a:prstGeo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</p:pic>
      <p:sp>
        <p:nvSpPr>
          <p:cNvPr id="13" name="文字方塊 12">
            <a:extLst>
              <a:ext uri="{FF2B5EF4-FFF2-40B4-BE49-F238E27FC236}">
                <a16:creationId xmlns:a16="http://schemas.microsoft.com/office/drawing/2014/main" id="{3FE2699F-16D6-85CE-7CC3-40B0B5248C01}"/>
              </a:ext>
            </a:extLst>
          </p:cNvPr>
          <p:cNvSpPr>
            <a:spLocks noGrp="1"/>
          </p:cNvSpPr>
          <p:nvPr/>
        </p:nvSpPr>
        <p:spPr>
          <a:xfrm>
            <a:off x="4608857" y="1177119"/>
            <a:ext cx="7250634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sz="2000" b="1">
                <a:solidFill>
                  <a:schemeClr val="accent5">
                    <a:lumMod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Shape of each relationship (GAM partial effects)</a:t>
            </a:r>
          </a:p>
          <a:p>
            <a:pPr marL="285750" marR="0" indent="-285750">
              <a:buFont typeface="Arial"/>
              <a:buChar char="•"/>
            </a:pPr>
            <a:r>
              <a:rPr b="1">
                <a:solidFill>
                  <a:srgbClr val="0B0B0B"/>
                </a:solidFill>
                <a:latin typeface="Anthropic Sans"/>
                <a:ea typeface="Anthropic Sans"/>
                <a:cs typeface="Anthropic Sans"/>
              </a:rPr>
              <a:t>Max temperature</a:t>
            </a:r>
            <a:r>
              <a:rPr>
                <a:solidFill>
                  <a:srgbClr val="0B0B0B"/>
                </a:solidFill>
                <a:latin typeface="Anthropic Sans"/>
                <a:ea typeface="Anthropic Sans"/>
                <a:cs typeface="Anthropic Sans"/>
              </a:rPr>
              <a:t>: hump-shaped — strongest around 26–27°C, declines above (not "hotter = higher")</a:t>
            </a:r>
          </a:p>
          <a:p>
            <a:pPr marL="285750" marR="0" indent="-285750">
              <a:buFont typeface="Arial"/>
              <a:buChar char="•"/>
            </a:pPr>
            <a:r>
              <a:rPr b="1">
                <a:solidFill>
                  <a:srgbClr val="0B0B0B"/>
                </a:solidFill>
                <a:latin typeface="Anthropic Sans"/>
                <a:ea typeface="Anthropic Sans"/>
                <a:cs typeface="Anthropic Sans"/>
              </a:rPr>
              <a:t>Sunshine</a:t>
            </a:r>
            <a:r>
              <a:rPr>
                <a:solidFill>
                  <a:srgbClr val="0B0B0B"/>
                </a:solidFill>
                <a:latin typeface="Anthropic Sans"/>
                <a:ea typeface="Anthropic Sans"/>
                <a:cs typeface="Anthropic Sans"/>
              </a:rPr>
              <a:t>: positive — more sun → more ozone (peaks ~9 h)</a:t>
            </a:r>
          </a:p>
          <a:p>
            <a:pPr marL="285750" marR="0" indent="-285750">
              <a:buFont typeface="Arial"/>
              <a:buChar char="•"/>
            </a:pPr>
            <a:r>
              <a:rPr b="1">
                <a:solidFill>
                  <a:srgbClr val="0B0B0B"/>
                </a:solidFill>
                <a:latin typeface="Anthropic Sans"/>
                <a:ea typeface="Anthropic Sans"/>
                <a:cs typeface="Anthropic Sans"/>
              </a:rPr>
              <a:t>Humidity, wind speed</a:t>
            </a:r>
            <a:r>
              <a:rPr>
                <a:solidFill>
                  <a:srgbClr val="0B0B0B"/>
                </a:solidFill>
                <a:latin typeface="Anthropic Sans"/>
                <a:ea typeface="Anthropic Sans"/>
                <a:cs typeface="Anthropic Sans"/>
              </a:rPr>
              <a:t>: negative — more humid / windier → less ozone</a:t>
            </a:r>
          </a:p>
          <a:p>
            <a:pPr marL="285750" marR="0" indent="-285750">
              <a:buFont typeface="Arial"/>
              <a:buChar char="•"/>
            </a:pPr>
            <a:r>
              <a:rPr b="1">
                <a:solidFill>
                  <a:srgbClr val="0B0B0B"/>
                </a:solidFill>
                <a:latin typeface="Anthropic Sans"/>
                <a:ea typeface="Anthropic Sans"/>
                <a:cs typeface="Anthropic Sans"/>
              </a:rPr>
              <a:t>Season</a:t>
            </a:r>
            <a:r>
              <a:rPr>
                <a:solidFill>
                  <a:srgbClr val="0B0B0B"/>
                </a:solidFill>
                <a:latin typeface="Anthropic Sans"/>
                <a:ea typeface="Anthropic Sans"/>
                <a:cs typeface="Anthropic Sans"/>
              </a:rPr>
              <a:t> (day-of-year): two peaks — spring secondary, autumn highest, summer trough</a:t>
            </a: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2D9ED630-FFED-F045-7118-02C3EB2AE319}"/>
              </a:ext>
            </a:extLst>
          </p:cNvPr>
          <p:cNvSpPr>
            <a:spLocks noGrp="1"/>
          </p:cNvSpPr>
          <p:nvPr/>
        </p:nvSpPr>
        <p:spPr>
          <a:xfrm>
            <a:off x="4608857" y="3697091"/>
            <a:ext cx="6097508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chemeClr val="accent5">
                    <a:lumMod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Cross-check with RF</a:t>
            </a:r>
          </a:p>
          <a:p>
            <a:pPr marL="285750" indent="-285750">
              <a:buFont typeface="Arial"/>
              <a:buChar char="•"/>
            </a:pPr>
            <a:r>
              <a:rPr>
                <a:solidFill>
                  <a:srgbClr val="0B0B0B"/>
                </a:solidFill>
                <a:latin typeface="Anthropic Sans"/>
                <a:ea typeface="Anthropic Sans"/>
                <a:cs typeface="Anthropic Sans"/>
              </a:rPr>
              <a:t>RF says which is important; GAM says what shape</a:t>
            </a:r>
          </a:p>
          <a:p>
            <a:pPr marL="285750" indent="-285750">
              <a:buFont typeface="Arial"/>
              <a:buChar char="•"/>
            </a:pPr>
            <a:r>
              <a:rPr>
                <a:solidFill>
                  <a:srgbClr val="0B0B0B"/>
                </a:solidFill>
                <a:latin typeface="Anthropic Sans"/>
                <a:ea typeface="Anthropic Sans"/>
                <a:cs typeface="Anthropic Sans"/>
              </a:rPr>
              <a:t>Consistent → credible; reveals nonlinearity</a:t>
            </a: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038455D2-CB35-8EF4-1754-02564953B884}"/>
              </a:ext>
            </a:extLst>
          </p:cNvPr>
          <p:cNvSpPr>
            <a:spLocks noGrp="1"/>
          </p:cNvSpPr>
          <p:nvPr/>
        </p:nvSpPr>
        <p:spPr>
          <a:xfrm>
            <a:off x="4608856" y="5109067"/>
            <a:ext cx="7512024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indent="0">
              <a:buNone/>
            </a:pPr>
            <a:r>
              <a:rPr sz="2000" b="1">
                <a:solidFill>
                  <a:schemeClr val="accent5">
                    <a:lumMod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Key insight</a:t>
            </a:r>
          </a:p>
          <a:p>
            <a:pPr marL="285750" marR="0" indent="-285750">
              <a:buFont typeface="Arial"/>
              <a:buChar char="•"/>
            </a:pPr>
            <a:r>
              <a:rPr>
                <a:solidFill>
                  <a:srgbClr val="0B0B0B"/>
                </a:solidFill>
                <a:latin typeface="Anthropic Sans"/>
                <a:ea typeface="Anthropic Sans"/>
                <a:cs typeface="Anthropic Sans"/>
              </a:rPr>
              <a:t>Ozone favors "warm (not extreme heat) + sunny + dry + weak wind"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E780CA11-3E8F-4B82-B7BC-4BFD91EFBEE8}"/>
              </a:ext>
            </a:extLst>
          </p:cNvPr>
          <p:cNvSpPr>
            <a:spLocks noGrp="1"/>
          </p:cNvSpPr>
          <p:nvPr/>
        </p:nvSpPr>
        <p:spPr>
          <a:xfrm>
            <a:off x="4480560" y="5989320"/>
            <a:ext cx="3703320" cy="777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8900" tIns="38100" rIns="88900" bIns="38100" anchor="ctr">
            <a:normAutofit/>
          </a:bodyPr>
          <a:lstStyle/>
          <a:p>
            <a:pPr algn="l">
              <a:buNone/>
            </a:pPr>
            <a:r>
              <a:rPr sz="1100" b="1">
                <a:solidFill>
                  <a:srgbClr val="1F5C9E"/>
                </a:solidFill>
                <a:latin typeface="Microsoft JhengHei"/>
                <a:ea typeface="Microsoft JhengHei"/>
                <a:cs typeface="Microsoft JhengHei"/>
              </a:rPr>
              <a:t>【說明】</a:t>
            </a:r>
            <a:r>
              <a:rPr sz="1100">
                <a:solidFill>
                  <a:srgbClr val="222222"/>
                </a:solidFill>
                <a:latin typeface="Microsoft JhengHei"/>
                <a:ea typeface="Microsoft JhengHei"/>
                <a:cs typeface="Microsoft JhengHei"/>
              </a:rPr>
              <a:t>GAM 顯示溫度與臭氧呈駝峰(約 26–27°C 最強、更熱反而下降)、日照為正向、濕度與風速為負向,與隨機森林一致。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8775B84D-873B-AE08-0068-3EBC4DF65D36}"/>
              </a:ext>
            </a:extLst>
          </p:cNvPr>
          <p:cNvSpPr>
            <a:spLocks noGrp="1"/>
          </p:cNvSpPr>
          <p:nvPr/>
        </p:nvSpPr>
        <p:spPr>
          <a:xfrm>
            <a:off x="9718158" y="3160909"/>
            <a:ext cx="2473842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sz="1200">
                <a:solidFill>
                  <a:schemeClr val="bg2">
                    <a:lumMod val="50000"/>
                  </a:schemeClr>
                </a:solidFill>
                <a:latin typeface="Microsoft YaHei"/>
                <a:ea typeface="Microsoft YaHei"/>
                <a:cs typeface="Microsoft YaHei"/>
              </a:rPr>
              <a:t>這一頁用 GAM partial-effect curves 補充 Random Forest 的結果。Random Forest 告訴我們哪些氣象因子重要，但 GAM 可以進一步顯示每個因子的反應形狀。結果顯示，最高溫和 O3 呈現非線性駝峰關係，日照為正向影響，濕度與風速多為負向影響，而季節性呈現春季次峰與秋季主峰。整體來看，高雄 O3 較容易出現在溫暖、晴朗、乾燥且弱風的條件下。</a:t>
            </a:r>
            <a:endParaRPr sz="1600"/>
          </a:p>
        </p:txBody>
      </p:sp>
    </p:spTree>
    <p:extLst>
      <p:ext uri="{BB962C8B-B14F-4D97-AF65-F5344CB8AC3E}">
        <p14:creationId xmlns:p14="http://schemas.microsoft.com/office/powerpoint/2010/main" val="382814365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EC5DA84-CB4E-0006-D6E4-A27A93D17AA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9F68E2-31C2-4D90-A536-67698CDE3376}" type="slidenum">
              <a:rPr/>
              <a:t>27</a:t>
            </a:fld>
            <a:endParaRPr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D1BAA9A4-C1E1-FF91-42D5-583097A5EC8B}"/>
              </a:ext>
            </a:extLst>
          </p:cNvPr>
          <p:cNvSpPr>
            <a:spLocks noGrp="1"/>
          </p:cNvSpPr>
          <p:nvPr/>
        </p:nvSpPr>
        <p:spPr>
          <a:xfrm>
            <a:off x="86360" y="309001"/>
            <a:ext cx="120345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sz="2000" b="1" i="0">
                <a:solidFill>
                  <a:srgbClr val="2F3C72"/>
                </a:solidFill>
                <a:latin typeface="Microsoft YaHei"/>
                <a:ea typeface="Microsoft YaHei"/>
                <a:cs typeface="Microsoft YaHei"/>
              </a:rPr>
              <a:t>Result4 High-Ozone Events: Sunny, Dry &amp; Stagnant Autumn Days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23857823-3D32-330A-D78F-F58722B486E1}"/>
              </a:ext>
            </a:extLst>
          </p:cNvPr>
          <p:cNvSpPr>
            <a:spLocks noGrp="1"/>
          </p:cNvSpPr>
          <p:nvPr/>
        </p:nvSpPr>
        <p:spPr>
          <a:xfrm>
            <a:off x="1266991" y="716379"/>
            <a:ext cx="946992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sz="1400" b="1" i="0">
                <a:solidFill>
                  <a:schemeClr val="bg2">
                    <a:lumMod val="25000"/>
                  </a:schemeClr>
                </a:solidFill>
                <a:latin typeface="Microsoft YaHei"/>
                <a:ea typeface="Microsoft YaHei"/>
                <a:cs typeface="Microsoft YaHei"/>
              </a:rPr>
              <a:t>City-day events (MDA8 ≥ P90 = 80.34 ppb; 293 days) · month-adjusted anomalies · event vs non-event</a:t>
            </a:r>
          </a:p>
        </p:txBody>
      </p:sp>
      <p:pic>
        <p:nvPicPr>
          <p:cNvPr id="20" name="圖片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735" y="1614951"/>
            <a:ext cx="6081784" cy="4164280"/>
          </a:xfrm>
          <a:prstGeom prst="roundRect">
            <a:avLst>
              <a:gd name="adj" fmla="val 1613"/>
            </a:avLst>
          </a:prstGeo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1E54A826-02BA-903B-94CC-046E0840A780}"/>
              </a:ext>
            </a:extLst>
          </p:cNvPr>
          <p:cNvSpPr>
            <a:spLocks noGrp="1"/>
          </p:cNvSpPr>
          <p:nvPr/>
        </p:nvSpPr>
        <p:spPr>
          <a:xfrm>
            <a:off x="6446713" y="1379404"/>
            <a:ext cx="567286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chemeClr val="accent5">
                    <a:lumMod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nthropic Sans"/>
              </a:rPr>
              <a:t>Event definition (2018~2025)</a:t>
            </a:r>
          </a:p>
          <a:p>
            <a:pPr marL="285750" indent="-285750">
              <a:buFont typeface="Arial"/>
              <a:buChar char="•"/>
            </a:pPr>
            <a:r>
              <a:t>City-day max MDA8 ≥ P90 = 80.34 ppb → 293 days</a:t>
            </a:r>
          </a:p>
          <a:p>
            <a:pPr marL="285750" indent="-285750">
              <a:buFont typeface="Arial"/>
              <a:buChar char="•"/>
            </a:pPr>
            <a:r>
              <a:t>Event days 73 ppb vs normal 44 ppb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DE218D73-0D09-F991-213C-DE7512B311FF}"/>
              </a:ext>
            </a:extLst>
          </p:cNvPr>
          <p:cNvSpPr>
            <a:spLocks noGrp="1"/>
          </p:cNvSpPr>
          <p:nvPr/>
        </p:nvSpPr>
        <p:spPr>
          <a:xfrm>
            <a:off x="6446713" y="2681428"/>
            <a:ext cx="567286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chemeClr val="accent5">
                    <a:lumMod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nthropic Sans"/>
              </a:rPr>
              <a:t>Seasonality (strongly concentrated)</a:t>
            </a:r>
          </a:p>
          <a:p>
            <a:pPr marL="285750" indent="-285750">
              <a:buFont typeface="Arial"/>
              <a:buChar char="•"/>
            </a:pPr>
            <a:r>
              <a:t>Autumn 148 ≫ Spring 101 &gt; Winter 38 ≫ Summer 6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2510C22D-7981-ACE2-6C5B-5C624217D072}"/>
              </a:ext>
            </a:extLst>
          </p:cNvPr>
          <p:cNvSpPr>
            <a:spLocks noGrp="1"/>
          </p:cNvSpPr>
          <p:nvPr/>
        </p:nvSpPr>
        <p:spPr>
          <a:xfrm>
            <a:off x="6446712" y="3706453"/>
            <a:ext cx="5672864" cy="1661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chemeClr val="accent5">
                    <a:lumMod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nthropic Sans"/>
              </a:rPr>
              <a:t>Weather on event days (month-adjusted anomalies)</a:t>
            </a:r>
          </a:p>
          <a:p>
            <a:pPr marL="285750" indent="-285750">
              <a:buFont typeface="Arial"/>
              <a:buChar char="•"/>
            </a:pPr>
            <a:r>
              <a:t>Sunshine↑ · Humidity↓ · Rainfall≈0</a:t>
            </a:r>
          </a:p>
          <a:p>
            <a:pPr marL="285750" indent="-285750">
              <a:buFont typeface="Arial"/>
              <a:buChar char="•"/>
            </a:pPr>
            <a:r>
              <a:t>Temperature ~ normal → not the hottest</a:t>
            </a:r>
          </a:p>
          <a:p>
            <a:pPr marL="285750" indent="-285750">
              <a:buFont typeface="Arial"/>
              <a:buChar char="•"/>
            </a:pPr>
            <a:r>
              <a:t>= sunny, dry, stagnant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DCD7BB09-462F-4F87-9229-55F362E52216}"/>
              </a:ext>
            </a:extLst>
          </p:cNvPr>
          <p:cNvSpPr>
            <a:spLocks noGrp="1"/>
          </p:cNvSpPr>
          <p:nvPr/>
        </p:nvSpPr>
        <p:spPr>
          <a:xfrm>
            <a:off x="411480" y="6272784"/>
            <a:ext cx="8009506" cy="5120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8900" tIns="38100" rIns="88900" bIns="38100" anchor="ctr">
            <a:normAutofit/>
          </a:bodyPr>
          <a:lstStyle/>
          <a:p>
            <a:pPr algn="l">
              <a:buNone/>
            </a:pPr>
            <a:r>
              <a:rPr sz="1100" b="1">
                <a:solidFill>
                  <a:srgbClr val="1F5C9E"/>
                </a:solidFill>
                <a:latin typeface="Microsoft JhengHei"/>
                <a:ea typeface="Microsoft JhengHei"/>
                <a:cs typeface="Microsoft JhengHei"/>
              </a:rPr>
              <a:t>【說明】</a:t>
            </a:r>
            <a:r>
              <a:rPr sz="1100">
                <a:solidFill>
                  <a:srgbClr val="222222"/>
                </a:solidFill>
                <a:latin typeface="Microsoft JhengHei"/>
                <a:ea typeface="Microsoft JhengHei"/>
                <a:cs typeface="Microsoft JhengHei"/>
              </a:rPr>
              <a:t>高臭氧事件定義為城市當日最高站 ≥ P90(80.34 ppb),共 293 日、集中於秋季;事件日天氣為晴、乾、停滯,而非最熱。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D8932848-4A81-C2C9-F940-318A01513F32}"/>
              </a:ext>
            </a:extLst>
          </p:cNvPr>
          <p:cNvSpPr>
            <a:spLocks noGrp="1"/>
          </p:cNvSpPr>
          <p:nvPr/>
        </p:nvSpPr>
        <p:spPr>
          <a:xfrm>
            <a:off x="627320" y="1928540"/>
            <a:ext cx="247384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sz="1200">
                <a:solidFill>
                  <a:schemeClr val="bg2">
                    <a:lumMod val="50000"/>
                  </a:schemeClr>
                </a:solidFill>
                <a:latin typeface="Microsoft YaHei"/>
                <a:ea typeface="Microsoft YaHei"/>
                <a:cs typeface="Microsoft YaHei"/>
              </a:rPr>
              <a:t>10 月最多，秋季高度集中</a:t>
            </a:r>
            <a:endParaRPr sz="160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4E0C0D74-72B7-7DD7-17AA-F65C8529B41D}"/>
              </a:ext>
            </a:extLst>
          </p:cNvPr>
          <p:cNvSpPr>
            <a:spLocks noGrp="1"/>
          </p:cNvSpPr>
          <p:nvPr/>
        </p:nvSpPr>
        <p:spPr>
          <a:xfrm>
            <a:off x="3629778" y="1928540"/>
            <a:ext cx="247384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sz="1200">
                <a:solidFill>
                  <a:schemeClr val="bg2">
                    <a:lumMod val="50000"/>
                  </a:schemeClr>
                </a:solidFill>
                <a:latin typeface="Microsoft YaHei"/>
                <a:ea typeface="Microsoft YaHei"/>
                <a:cs typeface="Microsoft YaHei"/>
              </a:rPr>
              <a:t>通常RH偏低</a:t>
            </a:r>
            <a:endParaRPr sz="160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9125F396-8B19-0C75-EF83-2E7DF9197F4B}"/>
              </a:ext>
            </a:extLst>
          </p:cNvPr>
          <p:cNvSpPr>
            <a:spLocks noGrp="1"/>
          </p:cNvSpPr>
          <p:nvPr/>
        </p:nvSpPr>
        <p:spPr>
          <a:xfrm>
            <a:off x="525072" y="3950596"/>
            <a:ext cx="247384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sz="1200">
                <a:solidFill>
                  <a:schemeClr val="bg2">
                    <a:lumMod val="50000"/>
                  </a:schemeClr>
                </a:solidFill>
                <a:latin typeface="Microsoft YaHei"/>
                <a:ea typeface="Microsoft YaHei"/>
                <a:cs typeface="Microsoft YaHei"/>
              </a:rPr>
              <a:t>日照偏多</a:t>
            </a:r>
            <a:endParaRPr sz="160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31C74886-F07C-647F-F09E-95E9D522ECA3}"/>
              </a:ext>
            </a:extLst>
          </p:cNvPr>
          <p:cNvSpPr>
            <a:spLocks noGrp="1"/>
          </p:cNvSpPr>
          <p:nvPr/>
        </p:nvSpPr>
        <p:spPr>
          <a:xfrm>
            <a:off x="3629778" y="3950596"/>
            <a:ext cx="247384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sz="1200">
                <a:solidFill>
                  <a:schemeClr val="bg2">
                    <a:lumMod val="50000"/>
                  </a:schemeClr>
                </a:solidFill>
                <a:latin typeface="Microsoft YaHei"/>
                <a:ea typeface="Microsoft YaHei"/>
                <a:cs typeface="Microsoft YaHei"/>
              </a:rPr>
              <a:t>降雨偏少接近無雨</a:t>
            </a:r>
            <a:endParaRPr sz="1600"/>
          </a:p>
        </p:txBody>
      </p:sp>
    </p:spTree>
    <p:extLst>
      <p:ext uri="{BB962C8B-B14F-4D97-AF65-F5344CB8AC3E}">
        <p14:creationId xmlns:p14="http://schemas.microsoft.com/office/powerpoint/2010/main" val="332275482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CC2008E9-931C-4303-F610-3ACA8B994B4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9F68E2-31C2-4D90-A536-67698CDE3376}" type="slidenum">
              <a:rPr/>
              <a:t>28</a:t>
            </a:fld>
            <a:endParaRPr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57B91EEE-71ED-39A8-940B-9E0069317D80}"/>
              </a:ext>
            </a:extLst>
          </p:cNvPr>
          <p:cNvSpPr>
            <a:spLocks noGrp="1"/>
          </p:cNvSpPr>
          <p:nvPr/>
        </p:nvSpPr>
        <p:spPr>
          <a:xfrm>
            <a:off x="-2128" y="309001"/>
            <a:ext cx="1229245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sz="2000" b="1" i="0">
                <a:solidFill>
                  <a:srgbClr val="2F3C72"/>
                </a:solidFill>
                <a:latin typeface="Microsoft YaHei"/>
                <a:ea typeface="Microsoft YaHei"/>
                <a:cs typeface="Microsoft YaHei"/>
              </a:rPr>
              <a:t>Result5 Long-Term Trend: Meteorological Normalization Reveals a Decline Hidden by Weather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0BE935EC-AF13-CEA6-A570-00845A1E005D}"/>
              </a:ext>
            </a:extLst>
          </p:cNvPr>
          <p:cNvSpPr>
            <a:spLocks noGrp="1"/>
          </p:cNvSpPr>
          <p:nvPr/>
        </p:nvSpPr>
        <p:spPr>
          <a:xfrm>
            <a:off x="1281420" y="730283"/>
            <a:ext cx="103028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sz="1400" b="1" i="0">
                <a:solidFill>
                  <a:schemeClr val="bg2">
                    <a:lumMod val="25000"/>
                  </a:schemeClr>
                </a:solidFill>
                <a:latin typeface="Microsoft YaHei"/>
                <a:ea typeface="Microsoft YaHei"/>
                <a:cs typeface="Microsoft YaHei"/>
              </a:rPr>
              <a:t>City-day monthly MDA8 · 2018–2025 · Seasonal Mann–Kendall + Sen's slope · 300-iteration RF normalization</a:t>
            </a:r>
          </a:p>
        </p:txBody>
      </p:sp>
      <p:pic>
        <p:nvPicPr>
          <p:cNvPr id="18" name="圖片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505" y="2395067"/>
            <a:ext cx="6614491" cy="2798137"/>
          </a:xfrm>
          <a:prstGeom prst="roundRect">
            <a:avLst>
              <a:gd name="adj" fmla="val 4524"/>
            </a:avLst>
          </a:prstGeo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04297A71-B1E4-6F25-EA62-A6B84510EF3C}"/>
              </a:ext>
            </a:extLst>
          </p:cNvPr>
          <p:cNvSpPr>
            <a:spLocks noGrp="1"/>
          </p:cNvSpPr>
          <p:nvPr/>
        </p:nvSpPr>
        <p:spPr>
          <a:xfrm>
            <a:off x="6881275" y="1379404"/>
            <a:ext cx="567286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chemeClr val="accent5">
                    <a:lumMod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nthropic Sans"/>
              </a:rPr>
              <a:t>Observed trend</a:t>
            </a:r>
          </a:p>
          <a:p>
            <a:pPr marL="285750" indent="-285750">
              <a:buFont typeface="Arial"/>
              <a:buChar char="•"/>
            </a:pPr>
            <a:r>
              <a:t>Sen ≈ −0.6 ppb/yr </a:t>
            </a:r>
            <a:r>
              <a:rPr sz="1600" err="1">
                <a:latin typeface="Microsoft YaHei"/>
                <a:ea typeface="Microsoft YaHei"/>
                <a:cs typeface="Microsoft YaHei"/>
              </a:rPr>
              <a:t>每年下降約</a:t>
            </a:r>
            <a:r>
              <a:rPr sz="1600">
                <a:latin typeface="Microsoft YaHei"/>
                <a:ea typeface="Microsoft YaHei"/>
                <a:cs typeface="Microsoft YaHei"/>
              </a:rPr>
              <a:t> 0.6ppb</a:t>
            </a:r>
            <a:endParaRPr>
              <a:latin typeface="Microsoft YaHei"/>
              <a:ea typeface="Microsoft YaHei"/>
              <a:cs typeface="Microsoft YaHei"/>
            </a:endParaRPr>
          </a:p>
          <a:p>
            <a:pPr marL="285750" indent="-285750">
              <a:buFont typeface="Arial"/>
              <a:buChar char="•"/>
            </a:pPr>
            <a:r>
              <a:t>Seasonal MK p ≈ 0.11 → not significant 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CA754EFA-1E64-D89F-264C-0BDEFD8E3AD0}"/>
              </a:ext>
            </a:extLst>
          </p:cNvPr>
          <p:cNvSpPr>
            <a:spLocks noGrp="1"/>
          </p:cNvSpPr>
          <p:nvPr/>
        </p:nvSpPr>
        <p:spPr>
          <a:xfrm>
            <a:off x="6881275" y="2828971"/>
            <a:ext cx="5672863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chemeClr val="accent5">
                    <a:lumMod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nthropic Sans"/>
              </a:rPr>
              <a:t>After normalization (300-iteration RF)</a:t>
            </a:r>
          </a:p>
          <a:p>
            <a:pPr marL="285750" indent="-285750">
              <a:buFont typeface="Arial"/>
              <a:buChar char="•"/>
            </a:pPr>
            <a:r>
              <a:t>Removes year-to-year weather variability</a:t>
            </a:r>
          </a:p>
          <a:p>
            <a:pPr marL="285750" indent="-285750">
              <a:buFont typeface="Arial"/>
              <a:buChar char="•"/>
            </a:pPr>
            <a:r>
              <a:t>→ becomes a significant decline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4DA4A518-0136-3548-B4BB-D81FFC3DF5E4}"/>
              </a:ext>
            </a:extLst>
          </p:cNvPr>
          <p:cNvSpPr>
            <a:spLocks noGrp="1"/>
          </p:cNvSpPr>
          <p:nvPr/>
        </p:nvSpPr>
        <p:spPr>
          <a:xfrm>
            <a:off x="6881275" y="4278538"/>
            <a:ext cx="5672863" cy="12926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chemeClr val="accent5">
                    <a:lumMod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nthropic Sans"/>
              </a:rPr>
              <a:t>Interpretation</a:t>
            </a:r>
          </a:p>
          <a:p>
            <a:pPr marL="285750" indent="-285750">
              <a:buFont typeface="Arial"/>
              <a:buChar char="•"/>
            </a:pPr>
            <a:r>
              <a:t>Emission controls are working — weather was masking it</a:t>
            </a:r>
          </a:p>
          <a:p>
            <a:pPr marL="285750" indent="-285750">
              <a:buFont typeface="Arial"/>
              <a:buChar char="•"/>
            </a:pPr>
            <a:r>
              <a:t>→ policy implication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2E045FD1-EC3D-43D4-A0E5-3C5D0AF78450}"/>
              </a:ext>
            </a:extLst>
          </p:cNvPr>
          <p:cNvSpPr>
            <a:spLocks noGrp="1"/>
          </p:cNvSpPr>
          <p:nvPr/>
        </p:nvSpPr>
        <p:spPr>
          <a:xfrm>
            <a:off x="411480" y="6272784"/>
            <a:ext cx="7913813" cy="5120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8900" tIns="38100" rIns="88900" bIns="38100" anchor="ctr">
            <a:normAutofit/>
          </a:bodyPr>
          <a:lstStyle/>
          <a:p>
            <a:pPr algn="l">
              <a:buNone/>
            </a:pPr>
            <a:r>
              <a:rPr sz="1100" b="1">
                <a:solidFill>
                  <a:srgbClr val="1F5C9E"/>
                </a:solidFill>
                <a:latin typeface="Microsoft JhengHei"/>
                <a:ea typeface="Microsoft JhengHei"/>
                <a:cs typeface="Microsoft JhengHei"/>
              </a:rPr>
              <a:t>【說明】</a:t>
            </a:r>
            <a:r>
              <a:rPr sz="1100">
                <a:solidFill>
                  <a:srgbClr val="222222"/>
                </a:solidFill>
                <a:latin typeface="Microsoft JhengHei"/>
                <a:ea typeface="Microsoft JhengHei"/>
                <a:cs typeface="Microsoft JhengHei"/>
              </a:rPr>
              <a:t>觀測趨勢僅微幅下降且未達顯著;經 300 次隨機森林氣象標準化後臭氧呈顯著下降,顯示減量有效但被天氣變異掩蓋。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268E234-2E6D-7536-BFE6-8B2E3EE9E5F1}"/>
              </a:ext>
            </a:extLst>
          </p:cNvPr>
          <p:cNvSpPr>
            <a:spLocks noGrp="1"/>
          </p:cNvSpPr>
          <p:nvPr/>
        </p:nvSpPr>
        <p:spPr>
          <a:xfrm>
            <a:off x="233916" y="5340687"/>
            <a:ext cx="646166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sz="1200">
                <a:solidFill>
                  <a:schemeClr val="bg2">
                    <a:lumMod val="50000"/>
                  </a:schemeClr>
                </a:solidFill>
                <a:latin typeface="Microsoft YaHei"/>
                <a:ea typeface="Microsoft YaHei"/>
                <a:cs typeface="Microsoft YaHei"/>
              </a:rPr>
              <a:t>灰色虛線：Observed，實際觀測到的月平均 MDA8 O3</a:t>
            </a:r>
          </a:p>
          <a:p>
            <a:pPr algn="just">
              <a:buNone/>
            </a:pPr>
            <a:r>
              <a:rPr sz="1200">
                <a:solidFill>
                  <a:schemeClr val="bg2">
                    <a:lumMod val="50000"/>
                  </a:schemeClr>
                </a:solidFill>
                <a:latin typeface="Microsoft YaHei"/>
                <a:ea typeface="Microsoft YaHei"/>
                <a:cs typeface="Microsoft YaHei"/>
              </a:rPr>
              <a:t>紅色實線：Meteorologically normalized，氣象標準化後的 MDA8 O3</a:t>
            </a:r>
            <a:endParaRPr sz="1600"/>
          </a:p>
        </p:txBody>
      </p:sp>
    </p:spTree>
    <p:extLst>
      <p:ext uri="{BB962C8B-B14F-4D97-AF65-F5344CB8AC3E}">
        <p14:creationId xmlns:p14="http://schemas.microsoft.com/office/powerpoint/2010/main" val="145786151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E514AB74-1B29-8B24-C47A-37F7BCAC036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9F68E2-31C2-4D90-A536-67698CDE3376}" type="slidenum">
              <a:rPr/>
              <a:t>29</a:t>
            </a:fld>
            <a:endParaRPr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7C355FC3-7AE2-6507-8F9F-EBB513E587E8}"/>
              </a:ext>
            </a:extLst>
          </p:cNvPr>
          <p:cNvSpPr>
            <a:spLocks noGrp="1"/>
          </p:cNvSpPr>
          <p:nvPr/>
        </p:nvSpPr>
        <p:spPr>
          <a:xfrm>
            <a:off x="96192" y="309001"/>
            <a:ext cx="120345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sz="2000" b="1" i="0">
                <a:solidFill>
                  <a:srgbClr val="2F3C72"/>
                </a:solidFill>
                <a:latin typeface="Microsoft YaHei"/>
                <a:ea typeface="Microsoft YaHei"/>
                <a:cs typeface="Microsoft YaHei"/>
              </a:rPr>
              <a:t>Conclusions &amp; Future Work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BE32FCF4-2854-3DF9-6AD2-BFDA4E32D3AE}"/>
              </a:ext>
            </a:extLst>
          </p:cNvPr>
          <p:cNvSpPr>
            <a:spLocks noGrp="1"/>
          </p:cNvSpPr>
          <p:nvPr/>
        </p:nvSpPr>
        <p:spPr>
          <a:xfrm>
            <a:off x="815452" y="1125907"/>
            <a:ext cx="567286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chemeClr val="accent5">
                    <a:lumMod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nthropic Sans"/>
              </a:rPr>
              <a:t>Key findings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4CD819CA-5CF1-031A-E4AF-8BE97E24A0B2}"/>
              </a:ext>
            </a:extLst>
          </p:cNvPr>
          <p:cNvSpPr>
            <a:spLocks noGrp="1"/>
          </p:cNvSpPr>
          <p:nvPr/>
        </p:nvSpPr>
        <p:spPr>
          <a:xfrm>
            <a:off x="815452" y="1509372"/>
            <a:ext cx="9976279" cy="17143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t>Ozone driven by temperature (hump), season, sunshine → photochemistry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t>High-ozone days = sunny/dry/stagnant autumn (not hottest); spatial peak downwind (NOx titration), not at sources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t>Ozone significantly declining after normalization → controls working, weather was masking it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037FC275-1CD3-B427-45D5-EF23ECC70B4D}"/>
              </a:ext>
            </a:extLst>
          </p:cNvPr>
          <p:cNvSpPr>
            <a:spLocks noGrp="1"/>
          </p:cNvSpPr>
          <p:nvPr/>
        </p:nvSpPr>
        <p:spPr>
          <a:xfrm>
            <a:off x="815452" y="3550932"/>
            <a:ext cx="567286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chemeClr val="accent5">
                    <a:lumMod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nthropic Sans"/>
              </a:rPr>
              <a:t>Future work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F7801D90-74F4-A82E-E58F-2053CE8535AA}"/>
              </a:ext>
            </a:extLst>
          </p:cNvPr>
          <p:cNvSpPr>
            <a:spLocks noGrp="1"/>
          </p:cNvSpPr>
          <p:nvPr/>
        </p:nvSpPr>
        <p:spPr>
          <a:xfrm>
            <a:off x="815452" y="3934397"/>
            <a:ext cx="9976279" cy="17143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t>Add precursors (NOx/VOC)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t>Back-trajectories / source-transport analysis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t>Forecasting model for high-ozone events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t>Journal submission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4F36052B-6F97-4710-91CB-EAB901E57164}"/>
              </a:ext>
            </a:extLst>
          </p:cNvPr>
          <p:cNvSpPr>
            <a:spLocks noGrp="1"/>
          </p:cNvSpPr>
          <p:nvPr/>
        </p:nvSpPr>
        <p:spPr>
          <a:xfrm>
            <a:off x="411480" y="6272784"/>
            <a:ext cx="7863840" cy="5120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8900" tIns="38100" rIns="88900" bIns="38100" anchor="ctr">
            <a:normAutofit/>
          </a:bodyPr>
          <a:lstStyle/>
          <a:p>
            <a:pPr algn="l">
              <a:buNone/>
            </a:pPr>
            <a:r>
              <a:rPr sz="1100" b="1">
                <a:solidFill>
                  <a:srgbClr val="1F5C9E"/>
                </a:solidFill>
                <a:latin typeface="Microsoft JhengHei"/>
                <a:ea typeface="Microsoft JhengHei"/>
                <a:cs typeface="Microsoft JhengHei"/>
              </a:rPr>
              <a:t>【說明】</a:t>
            </a:r>
            <a:r>
              <a:rPr sz="1100">
                <a:solidFill>
                  <a:srgbClr val="222222"/>
                </a:solidFill>
                <a:latin typeface="Microsoft JhengHei"/>
                <a:ea typeface="Microsoft JhengHei"/>
                <a:cs typeface="Microsoft JhengHei"/>
              </a:rPr>
              <a:t>結論:臭氧由溫度、季節與日照主導;高臭氧日為秋季晴乾停滯;標準化後臭氧顯著下降,代表減量有效。未來將納入前驅物、後向軌跡與預報。</a:t>
            </a:r>
          </a:p>
        </p:txBody>
      </p:sp>
    </p:spTree>
    <p:extLst>
      <p:ext uri="{BB962C8B-B14F-4D97-AF65-F5344CB8AC3E}">
        <p14:creationId xmlns:p14="http://schemas.microsoft.com/office/powerpoint/2010/main" val="159581676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B99209BB-39FC-B23A-6E59-27762144BE3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9F68E2-31C2-4D90-A536-67698CDE3376}" type="slidenum">
              <a:rPr/>
              <a:t>30</a:t>
            </a:fld>
            <a:endParaRPr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9C24D1C0-D5C2-06A4-8D59-3FB865C64049}"/>
              </a:ext>
            </a:extLst>
          </p:cNvPr>
          <p:cNvSpPr>
            <a:spLocks noGrp="1"/>
          </p:cNvSpPr>
          <p:nvPr/>
        </p:nvSpPr>
        <p:spPr>
          <a:xfrm>
            <a:off x="96192" y="309001"/>
            <a:ext cx="1209580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sz="2000" b="1" i="0">
                <a:solidFill>
                  <a:srgbClr val="2F3C72"/>
                </a:solidFill>
                <a:latin typeface="Microsoft YaHei"/>
                <a:ea typeface="Microsoft YaHei"/>
                <a:cs typeface="Microsoft YaHei"/>
              </a:rPr>
              <a:t>One Converging Story: Weather-Modulated, Autumn-Peaking, Improvement Masked by Weather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466783C7-6EB3-190D-098C-AD95EFD03F7E}"/>
              </a:ext>
            </a:extLst>
          </p:cNvPr>
          <p:cNvSpPr>
            <a:spLocks noGrp="1"/>
          </p:cNvSpPr>
          <p:nvPr/>
        </p:nvSpPr>
        <p:spPr>
          <a:xfrm>
            <a:off x="815452" y="1125907"/>
            <a:ext cx="567286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chemeClr val="accent5">
                    <a:lumMod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nthropic Sans"/>
              </a:rPr>
              <a:t>Four threads → one conclusion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A261F9F-004D-DBEF-B240-6E55CFDFF898}"/>
              </a:ext>
            </a:extLst>
          </p:cNvPr>
          <p:cNvSpPr>
            <a:spLocks noGrp="1"/>
          </p:cNvSpPr>
          <p:nvPr/>
        </p:nvSpPr>
        <p:spPr>
          <a:xfrm>
            <a:off x="815452" y="1509372"/>
            <a:ext cx="9976279" cy="21278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t>Spatial: NOx titration → low at sources, high downwind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t>Drivers: temperature hump + sunshine + season → photochemistry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t>Events: sunny, dry, stagnant autumn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t>Trend: significant decline after normalization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t>→ Kaohsiung ozone = weather-modulated × autumn-peaking × improving (weather-masked)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F1D834A5-C60B-172B-692B-42452737D77B}"/>
              </a:ext>
            </a:extLst>
          </p:cNvPr>
          <p:cNvSpPr>
            <a:spLocks noGrp="1"/>
          </p:cNvSpPr>
          <p:nvPr/>
        </p:nvSpPr>
        <p:spPr>
          <a:xfrm>
            <a:off x="815452" y="4020727"/>
            <a:ext cx="567286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chemeClr val="accent5">
                    <a:lumMod val="50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nthropic Sans"/>
              </a:rPr>
              <a:t>Policy / practical implications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E8427E9A-053C-5137-881B-5C3D40114705}"/>
              </a:ext>
            </a:extLst>
          </p:cNvPr>
          <p:cNvSpPr>
            <a:spLocks noGrp="1"/>
          </p:cNvSpPr>
          <p:nvPr/>
        </p:nvSpPr>
        <p:spPr>
          <a:xfrm>
            <a:off x="815452" y="4404192"/>
            <a:ext cx="9976279" cy="883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t>Emission controls are working → continue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t>Sunny/dry/stagnant autumn = high-risk window → early warning / control timing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6032DC4E-1E32-4090-8D56-DBA5F2EFC549}"/>
              </a:ext>
            </a:extLst>
          </p:cNvPr>
          <p:cNvSpPr>
            <a:spLocks noGrp="1"/>
          </p:cNvSpPr>
          <p:nvPr/>
        </p:nvSpPr>
        <p:spPr>
          <a:xfrm>
            <a:off x="411480" y="6272784"/>
            <a:ext cx="7863840" cy="5120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8900" tIns="38100" rIns="88900" bIns="38100" anchor="ctr">
            <a:normAutofit/>
          </a:bodyPr>
          <a:lstStyle/>
          <a:p>
            <a:pPr algn="l">
              <a:buNone/>
            </a:pPr>
            <a:r>
              <a:rPr sz="1100" b="1">
                <a:solidFill>
                  <a:srgbClr val="1F5C9E"/>
                </a:solidFill>
                <a:latin typeface="Microsoft JhengHei"/>
                <a:ea typeface="Microsoft JhengHei"/>
                <a:cs typeface="Microsoft JhengHei"/>
              </a:rPr>
              <a:t>【說明】</a:t>
            </a:r>
            <a:r>
              <a:rPr sz="1100">
                <a:solidFill>
                  <a:srgbClr val="222222"/>
                </a:solidFill>
                <a:latin typeface="Microsoft JhengHei"/>
                <a:ea typeface="Microsoft JhengHei"/>
                <a:cs typeface="Microsoft JhengHei"/>
              </a:rPr>
              <a:t>空間 NOx 滴定、驅動的溫度與日照、事件的晴乾停滯、標準化後的顯著下降,四線一致指向:高雄臭氧受氣象調控、秋季高峰、排放改善但被天氣掩蓋。</a:t>
            </a:r>
          </a:p>
        </p:txBody>
      </p:sp>
    </p:spTree>
    <p:extLst>
      <p:ext uri="{BB962C8B-B14F-4D97-AF65-F5344CB8AC3E}">
        <p14:creationId xmlns:p14="http://schemas.microsoft.com/office/powerpoint/2010/main" val="133844729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0569BCB-B4D6-6E35-1EC5-7C4E2FC3FD9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9F68E2-31C2-4D90-A536-67698CDE3376}" type="slidenum">
              <a:rPr/>
              <a:t>31</a:t>
            </a:fld>
            <a:endParaRPr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D7370977-3851-82A6-8A0B-EB3FE686B3AC}"/>
              </a:ext>
            </a:extLst>
          </p:cNvPr>
          <p:cNvSpPr>
            <a:spLocks noGrp="1"/>
          </p:cNvSpPr>
          <p:nvPr/>
        </p:nvSpPr>
        <p:spPr>
          <a:xfrm>
            <a:off x="86360" y="299169"/>
            <a:ext cx="120345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sz="1600" b="1" i="0">
                <a:solidFill>
                  <a:srgbClr val="2F3C72"/>
                </a:solidFill>
                <a:latin typeface="Microsoft YaHei"/>
                <a:ea typeface="Microsoft YaHei"/>
                <a:cs typeface="Microsoft YaHei"/>
              </a:rPr>
              <a:t>One Converging Story: Weather-Modulated, Autumn-Peaking, Improvement Masked by Weather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9E453A2C-4549-B7BC-926F-3176156A3387}"/>
              </a:ext>
            </a:extLst>
          </p:cNvPr>
          <p:cNvSpPr>
            <a:spLocks noGrp="1"/>
          </p:cNvSpPr>
          <p:nvPr/>
        </p:nvSpPr>
        <p:spPr>
          <a:xfrm>
            <a:off x="815452" y="1125907"/>
            <a:ext cx="567286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chemeClr val="accent5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nthropic Sans"/>
                <a:ea typeface="Anthropic Sans"/>
                <a:cs typeface="Anthropic Sans"/>
              </a:rPr>
              <a:t>Four threads → one conclusion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DDFF6B6-436A-A852-3DFD-54CF449A2BEB}"/>
              </a:ext>
            </a:extLst>
          </p:cNvPr>
          <p:cNvSpPr>
            <a:spLocks noGrp="1"/>
          </p:cNvSpPr>
          <p:nvPr/>
        </p:nvSpPr>
        <p:spPr>
          <a:xfrm>
            <a:off x="815452" y="1509372"/>
            <a:ext cx="9976279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/>
              <a:buChar char="•"/>
            </a:pPr>
            <a:r>
              <a:t>Spatial: NOx titration → low at sources, high downwind</a:t>
            </a:r>
          </a:p>
          <a:p>
            <a:pPr marL="285750" indent="-285750">
              <a:buFont typeface="Arial"/>
              <a:buChar char="•"/>
            </a:pPr>
            <a:r>
              <a:t>Drivers: temperature hump + sunshine + season → photochemistry</a:t>
            </a:r>
          </a:p>
          <a:p>
            <a:pPr marL="285750" indent="-285750">
              <a:buFont typeface="Arial"/>
              <a:buChar char="•"/>
            </a:pPr>
            <a:r>
              <a:t>Events: sunny, dry, stagnant autumn</a:t>
            </a:r>
          </a:p>
          <a:p>
            <a:pPr marL="285750" indent="-285750">
              <a:buFont typeface="Arial"/>
              <a:buChar char="•"/>
            </a:pPr>
            <a:r>
              <a:t>Trend: significant decline after normalization</a:t>
            </a:r>
          </a:p>
          <a:p>
            <a:pPr marL="285750" indent="-285750">
              <a:buFont typeface="Arial"/>
              <a:buChar char="•"/>
            </a:pPr>
            <a:r>
              <a:t>→ Kaohsiung ozone = weather-modulated × autumn-peaking × improving (weather-masked)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BD1FDA74-6291-3B59-5489-C1654414A038}"/>
              </a:ext>
            </a:extLst>
          </p:cNvPr>
          <p:cNvSpPr>
            <a:spLocks noGrp="1"/>
          </p:cNvSpPr>
          <p:nvPr/>
        </p:nvSpPr>
        <p:spPr>
          <a:xfrm>
            <a:off x="815452" y="3329600"/>
            <a:ext cx="567286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chemeClr val="accent5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nthropic Sans"/>
                <a:ea typeface="Anthropic Sans"/>
                <a:cs typeface="Anthropic Sans"/>
              </a:rPr>
              <a:t>Policy / practical implications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580B33BD-B059-42DC-46D4-C18F4052885D}"/>
              </a:ext>
            </a:extLst>
          </p:cNvPr>
          <p:cNvSpPr>
            <a:spLocks noGrp="1"/>
          </p:cNvSpPr>
          <p:nvPr/>
        </p:nvSpPr>
        <p:spPr>
          <a:xfrm>
            <a:off x="815452" y="3713065"/>
            <a:ext cx="997627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/>
              <a:buChar char="•"/>
            </a:pPr>
            <a:r>
              <a:t>Emission controls are working → continue</a:t>
            </a:r>
          </a:p>
          <a:p>
            <a:pPr marL="285750" indent="-285750">
              <a:buFont typeface="Arial"/>
              <a:buChar char="•"/>
            </a:pPr>
            <a:r>
              <a:t>Sunny/dry/stagnant autumn = high-risk window → early warning / control timing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EE5CB93-B6B6-661F-F993-6048F6EB04B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>
              <a:alpha val="8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D5701C23-EC8E-38AF-DB0A-D51EE9A94D4C}"/>
              </a:ext>
            </a:extLst>
          </p:cNvPr>
          <p:cNvSpPr>
            <a:spLocks noGrp="1"/>
          </p:cNvSpPr>
          <p:nvPr/>
        </p:nvSpPr>
        <p:spPr>
          <a:xfrm>
            <a:off x="1946495" y="1837832"/>
            <a:ext cx="7963656" cy="2487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buNone/>
            </a:pPr>
            <a:r>
              <a:rPr sz="36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YaHei"/>
                <a:ea typeface="Microsoft YaHei"/>
                <a:cs typeface="Microsoft YaHei"/>
              </a:rPr>
              <a:t>Consistent with the literature: southern-Taiwan ozone regime; met-normalization method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FCEED99E-7639-4B69-B6BB-AA3B8CF694C4}"/>
              </a:ext>
            </a:extLst>
          </p:cNvPr>
          <p:cNvSpPr>
            <a:spLocks noGrp="1"/>
          </p:cNvSpPr>
          <p:nvPr/>
        </p:nvSpPr>
        <p:spPr>
          <a:xfrm>
            <a:off x="411480" y="6272784"/>
            <a:ext cx="7863840" cy="5120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8900" tIns="38100" rIns="88900" bIns="38100" anchor="ctr">
            <a:normAutofit/>
          </a:bodyPr>
          <a:lstStyle/>
          <a:p>
            <a:pPr algn="l">
              <a:buNone/>
            </a:pPr>
            <a:r>
              <a:rPr sz="1100" b="1">
                <a:solidFill>
                  <a:srgbClr val="1F5C9E"/>
                </a:solidFill>
                <a:latin typeface="Microsoft JhengHei"/>
                <a:ea typeface="Microsoft JhengHei"/>
                <a:cs typeface="Microsoft JhengHei"/>
              </a:rPr>
              <a:t>【說明】</a:t>
            </a:r>
            <a:r>
              <a:rPr sz="1100">
                <a:solidFill>
                  <a:srgbClr val="222222"/>
                </a:solidFill>
                <a:latin typeface="Microsoft JhengHei"/>
                <a:ea typeface="Microsoft JhengHei"/>
                <a:cs typeface="Microsoft JhengHei"/>
              </a:rPr>
              <a:t>空間 NOx 滴定、驅動的溫度與日照、事件的晴乾停滯、標準化後的顯著下降,四線一致指向:高雄臭氧受氣象調控、秋季高峰、排放改善但被天氣掩蓋。</a:t>
            </a:r>
          </a:p>
        </p:txBody>
      </p:sp>
    </p:spTree>
    <p:extLst>
      <p:ext uri="{BB962C8B-B14F-4D97-AF65-F5344CB8AC3E}">
        <p14:creationId xmlns:p14="http://schemas.microsoft.com/office/powerpoint/2010/main" val="17572739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4252</Words>
  <Application>Microsoft Office PowerPoint</Application>
  <PresentationFormat>寬螢幕</PresentationFormat>
  <Paragraphs>434</Paragraphs>
  <Slides>31</Slides>
  <Notes>31</Notes>
  <HiddenSlides>0</HiddenSlides>
  <MMClips>0</MMClips>
  <ScaleCrop>false</ScaleCrop>
  <HeadingPairs>
    <vt:vector size="6" baseType="variant">
      <vt:variant>
        <vt:lpstr>使用字型</vt:lpstr>
      </vt:variant>
      <vt:variant>
        <vt:i4>11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31</vt:i4>
      </vt:variant>
    </vt:vector>
  </HeadingPairs>
  <TitlesOfParts>
    <vt:vector size="43" baseType="lpstr">
      <vt:lpstr>Anthropic Sans</vt:lpstr>
      <vt:lpstr>-apple-system-body</vt:lpstr>
      <vt:lpstr>Microsoft YaHei</vt:lpstr>
      <vt:lpstr>ui-monospace</vt:lpstr>
      <vt:lpstr>Microsoft JhengHei</vt:lpstr>
      <vt:lpstr>PMingLiU</vt:lpstr>
      <vt:lpstr>Aptos</vt:lpstr>
      <vt:lpstr>Aptos Display</vt:lpstr>
      <vt:lpstr>Arial</vt:lpstr>
      <vt:lpstr>Cascadia Code</vt:lpstr>
      <vt:lpstr>Wingdings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奕綸 洪</cp:lastModifiedBy>
  <cp:revision>1</cp:revision>
  <dcterms:created xsi:type="dcterms:W3CDTF">2026-08-12T10:13:28Z</dcterms:created>
  <dcterms:modified xsi:type="dcterms:W3CDTF">2026-09-18T16:15:42Z</dcterms:modified>
</cp:coreProperties>
</file>